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a8dfb8-4d68-87ce-cd76-7bf0015593b5}">
          <p14:sldIdLst>
            <p14:sldId id="256"/>
            <p14:sldId id="257"/>
            <p14:sldId id="258"/>
            <p14:sldId id="259"/>
          </p14:sldIdLst>
        </p14:section>
        <p14:section name="Design" id="{4704fb23-b98c-3286-a95f-73af16be2d0e}">
          <p14:sldIdLst>
            <p14:sldId id="260"/>
            <p14:sldId id="261"/>
            <p14:sldId id="262"/>
            <p14:sldId id="263"/>
            <p14:sldId id="264"/>
          </p14:sldIdLst>
        </p14:section>
        <p14:section name="Implementation" id="{3a54d512-fe23-d524-f6fe-6a492543cf8a}">
          <p14:sldIdLst>
            <p14:sldId id="265"/>
            <p14:sldId id="266"/>
            <p14:sldId id="267"/>
            <p14:sldId id="268"/>
            <p14:sldId id="269"/>
            <p14:sldId id="270"/>
            <p14:sldId id="271"/>
            <p14:sldId id="272"/>
          </p14:sldIdLst>
        </p14:section>
        <p14:section name="Outcomes" id="{cf816dd9-9f72-54b7-f112-663f67ceca5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CargoVerse: a logistics operations system whose backbone is an Oracle database. Everything you will see in the 3D city, ships, trucks, pallets and store shelves, is stored and checked in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small and mid-sized logistics operations each party keeps its own records. Nobody can say with confidence where a container is, how much stock is really on the shelf, or who changed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in four points. The screenshot is the live terminal: every crane lift you see is a new row in CONTAINER_MOVES, and the panel on the right reads straight from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guided every design decision: the data model, where the rules live, how changes are traced, who may do what, and how the data is reported and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The browser shows the data, the Node.js server handles sign-in and roles and runs the simulation, and Oracle stores everything and enforces the rules. SQL Developer can connect to the same database and see the data change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Oracle Database 23ai Free runs in Docker. The server is Node.js with the official node-oracledb driver. The interface is React with Three.js for 3D, and updates are pushed to the browser with Server-Sent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size of the database. 64 tables in third normal form, 27 views, 10 PL/SQL packages, 26 triggers, 136 check constraints and 26 analytical reports, plus a property graph, a blockchain table and an event queue. In total about 30,700 lines of SQL, PL/SQL and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44 core tables group into nine areas; four more belong to the Database Lab and sixteen to the Smart Warehouse. Security and people; the three warehouse sites and their stock; transport; work and audit; the logistics park with its gates; the container port; and the retail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Each physical step writes a row in a specific table. Because the rows are linked, we can trace any container from the ship to the shelf with a single SQL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PL/SQL packages hold the business rules, so the web app, SQL Developer or any other program must follow them. On the right is a real trigger: when a crane discharges a container, the yard table is updated automatically, and when the box leaves, it is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role-based with 14 permissions. Passwords are hashed, sessions are signed and recorded, and before each change the server tells Oracle who the user is, so triggers can write that user into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from the running system. Each panel reads live data from Oracle. Clicking a ship, a truck, a store or a building opens its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26 reports in 05_reports.sql exercise a wide range of SQL. They can be run in SQL Developer while the app is running, and the numbers change as the city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Lab answers the question: why does this need a database at all? One: an UPDATE typed in SQL Developer changes the live 3D city, because triggers queue changes that did not come from the server. Two: Oracle Flashback Query rewinds the whole city up to ten minutes using undo data, with no history tables. Three: a Virtual Private Database policy gives each operator a database account that only sees their own sites, enforced by Oracle itself. Four: a concurrency lab runs two real sessions to show a double booking being prevented, a lost update, the FOR UPDATE fix and a deadlock detected by Oracle. npm run db:selftest checks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Smart Warehouse adds sixteen tables for bins, lots, pallets, sensors and events, and uses ten Oracle features that a plain file or spreadsheet cannot. Analytic functions rank products so fast movers are stored next to the docks. Every pick takes the lot that expires first. A recursive query traces a lot from the ship to every store that received it. MATCH_RECOGNIZE finds three warm readings in a row and a scheduler job holds the stock on its own. Stock movements are kept in a blockchain table that even the owner cannot change. The MODEL clause forecasts demand. Pallet labels are GS1 barcodes whose check digit is enforced by a CHECK constraint. Events travel through a transactional queue, pick routes are computed with Dijkstra in PL/SQL and a property graph, and damage reports are searched by meaning with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features at work. On the left, a cold-room door is left open; within a minute the scheduler job detects the breach with MATCH_RECOGNIZE, puts the insulin lots on hold and raises an urgent task, without the application. In the middle, the ledger: an UPDATE is refused by Oracle and the hash chain verifies. On the right, the demand forecast and the replenishment table with reorder points and economic order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built step by step, each part on a working base. Every SQL statement was checked automatically, the code was type-checked, and the screens were checked with automated browser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achieved. A complete system with the rules in the database, full traceability, and data that any tool can read. The project is about 30,700 lines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project can go next: real devices in place of the simulation, billing and customs, machine-learning models trained inside the database, a mobile app, a cloud database and high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 well-designed relational database can be the backbone of a real logistics operation. Thank you; we are happy to take questions or show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5669280" cy="11887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291840"/>
            <a:ext cx="548640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4652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CargoVerse · DBMS project</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4415"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56692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CargoVerse</a:t>
            </a:r>
            <a:endParaRPr lang="en-US" sz="5400" dirty="0"/>
          </a:p>
        </p:txBody>
      </p:sp>
      <p:sp>
        <p:nvSpPr>
          <p:cNvPr id="3" name="Text 0"/>
          <p:cNvSpPr/>
          <p:nvPr>
            <p:ph idx="101" type="body" hasCustomPrompt="1"/>
          </p:nvPr>
        </p:nvSpPr>
        <p:spPr>
          <a:xfrm>
            <a:off x="548640" y="3291840"/>
            <a:ext cx="5486400" cy="1463040"/>
          </a:xfrm>
          <a:prstGeom prst="rect">
            <a:avLst/>
          </a:prstGeom>
          <a:noFill/>
          <a:ln/>
        </p:spPr>
        <p:txBody>
          <a:bodyPr wrap="square" lIns="0" tIns="0" rIns="0" bIns="0" rtlCol="0" anchor="t"/>
          <a:lstStyle/>
          <a:p>
            <a:pPr indent="0" marL="0">
              <a:buNone/>
            </a:pPr>
            <a:r>
              <a:rPr lang="en-US" sz="2000" dirty="0">
                <a:solidFill>
                  <a:schemeClr val="bg2"/>
                </a:solidFill>
              </a:rPr>
              <a:t>3D logistics operations on Oracle Database</a:t>
            </a:r>
            <a:endParaRPr lang="en-US" sz="2000" dirty="0"/>
          </a:p>
          <a:p>
            <a:pPr indent="0" marL="0">
              <a:buNone/>
            </a:pPr>
            <a:r>
              <a:rPr lang="en-US" sz="1800" i="1" dirty="0">
                <a:solidFill>
                  <a:schemeClr val="accent1"/>
                </a:solidFill>
              </a:rPr>
              <a:t>From ship to shelf, every movement is a row</a:t>
            </a:r>
            <a:endParaRPr lang="en-US" sz="2000" dirty="0"/>
          </a:p>
        </p:txBody>
      </p:sp>
      <p:sp>
        <p:nvSpPr>
          <p:cNvPr id="4" name="Text 2"/>
          <p:cNvSpPr txBox="1"/>
          <p:nvPr/>
        </p:nvSpPr>
        <p:spPr>
          <a:xfrm>
            <a:off x="548640" y="1280160"/>
            <a:ext cx="36576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DBMS Project</a:t>
            </a:r>
            <a:endParaRPr lang="en-US" sz="1400" dirty="0"/>
          </a:p>
        </p:txBody>
      </p:sp>
      <p:pic>
        <p:nvPicPr>
          <p:cNvPr id="5" name="City screenshot" descr="preencoded.png">    </p:cNvPr>
          <p:cNvPicPr>
            <a:picLocks noChangeAspect="1"/>
          </p:cNvPicPr>
          <p:nvPr/>
        </p:nvPicPr>
        <p:blipFill>
          <a:blip r:embed="rId1"/>
          <a:stretch>
            <a:fillRect/>
          </a:stretch>
        </p:blipFill>
        <p:spPr>
          <a:xfrm>
            <a:off x="6492240" y="1051560"/>
            <a:ext cx="5212080" cy="3474720"/>
          </a:xfrm>
          <a:prstGeom prst="rect">
            <a:avLst/>
          </a:prstGeom>
          <a:effectLst>
            <a:outerShdw sx="100000" sy="100000" kx="0" ky="0" algn="bl" rotWithShape="0" blurRad="152400" dist="50800" dir="5400000">
              <a:srgbClr val="000000">
                <a:alpha val="35000"/>
              </a:srgbClr>
            </a:outerShdw>
          </a:effectLst>
        </p:spPr>
      </p:pic>
      <p:sp>
        <p:nvSpPr>
          <p:cNvPr id="6" name="Text 3"/>
          <p:cNvSpPr txBox="1"/>
          <p:nvPr/>
        </p:nvSpPr>
        <p:spPr>
          <a:xfrm>
            <a:off x="6492240" y="4663440"/>
            <a:ext cx="5212080" cy="320040"/>
          </a:xfrm>
          <a:prstGeom prst="rect">
            <a:avLst/>
          </a:prstGeom>
          <a:noFill/>
          <a:ln/>
        </p:spPr>
        <p:txBody>
          <a:bodyPr wrap="square" lIns="0" tIns="0" rIns="0" bIns="0" rtlCol="0" anchor="t"/>
          <a:lstStyle/>
          <a:p>
            <a:pPr indent="0" marL="0">
              <a:buNone/>
            </a:pPr>
            <a:r>
              <a:rPr lang="en-US" sz="1200" i="1" dirty="0">
                <a:solidFill>
                  <a:schemeClr val="bg2"/>
                </a:solidFill>
              </a:rPr>
              <a:t>Live 3D city: port, park, warehouses, stores and houses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One product passes through five record systems</a:t>
            </a:r>
            <a:endParaRPr lang="en-US" sz="3400" dirty="0"/>
          </a:p>
        </p:txBody>
      </p:sp>
      <p:sp>
        <p:nvSpPr>
          <p:cNvPr id="3" name="Text 1"/>
          <p:cNvSpPr txBox="1"/>
          <p:nvPr/>
        </p:nvSpPr>
        <p:spPr>
          <a:xfrm>
            <a:off x="548640" y="1234440"/>
            <a:ext cx="10515600" cy="457200"/>
          </a:xfrm>
          <a:prstGeom prst="rect">
            <a:avLst/>
          </a:prstGeom>
          <a:noFill/>
          <a:ln/>
        </p:spPr>
        <p:txBody>
          <a:bodyPr wrap="square" lIns="0" tIns="0" rIns="0" bIns="0" rtlCol="0" anchor="t"/>
          <a:lstStyle/>
          <a:p>
            <a:pPr indent="0" marL="0">
              <a:buNone/>
            </a:pPr>
            <a:r>
              <a:rPr lang="en-US" sz="1800" dirty="0">
                <a:solidFill>
                  <a:schemeClr val="accent5"/>
                </a:solidFill>
              </a:rPr>
              <a:t>A box travels from a ship to a store shelf, and each step is usually tracked somewhere else.</a:t>
            </a:r>
            <a:endParaRPr lang="en-US" sz="1800" dirty="0"/>
          </a:p>
        </p:txBody>
      </p:sp>
      <p:sp>
        <p:nvSpPr>
          <p:cNvPr id="4" name="Problem 1 card"/>
          <p:cNvSpPr/>
          <p:nvPr/>
        </p:nvSpPr>
        <p:spPr>
          <a:xfrm>
            <a:off x="548640" y="1965960"/>
            <a:ext cx="5303520" cy="1920240"/>
          </a:xfrm>
          <a:prstGeom prst="roundRect">
            <a:avLst>
              <a:gd name="adj" fmla="val 5714"/>
            </a:avLst>
          </a:prstGeom>
          <a:solidFill>
            <a:schemeClr val="bg2"/>
          </a:solidFill>
          <a:ln w="12700">
            <a:solidFill>
              <a:schemeClr val="bg2"/>
            </a:solidFill>
            <a:prstDash val="solid"/>
          </a:ln>
        </p:spPr>
      </p:sp>
      <p:sp>
        <p:nvSpPr>
          <p:cNvPr id="5" name="Problem 1 circle"/>
          <p:cNvSpPr/>
          <p:nvPr/>
        </p:nvSpPr>
        <p:spPr>
          <a:xfrm>
            <a:off x="868680" y="2331720"/>
            <a:ext cx="731520" cy="731520"/>
          </a:xfrm>
          <a:prstGeom prst="ellipse">
            <a:avLst/>
          </a:prstGeom>
          <a:solidFill>
            <a:schemeClr val="accent1"/>
          </a:solidFill>
          <a:ln w="12700">
            <a:solidFill>
              <a:schemeClr val="accent1"/>
            </a:solidFill>
            <a:prstDash val="solid"/>
          </a:ln>
        </p:spPr>
      </p:sp>
      <p:pic>
        <p:nvPicPr>
          <p:cNvPr id="6" name="Problem 1 icon" descr="preencoded.png">    </p:cNvPr>
          <p:cNvPicPr>
            <a:picLocks noChangeAspect="1"/>
          </p:cNvPicPr>
          <p:nvPr/>
        </p:nvPicPr>
        <p:blipFill>
          <a:blip r:embed="rId1"/>
          <a:stretch>
            <a:fillRect/>
          </a:stretch>
        </p:blipFill>
        <p:spPr>
          <a:xfrm>
            <a:off x="1051560" y="2514600"/>
            <a:ext cx="365760" cy="365760"/>
          </a:xfrm>
          <a:prstGeom prst="rect">
            <a:avLst/>
          </a:prstGeom>
        </p:spPr>
      </p:pic>
      <p:sp>
        <p:nvSpPr>
          <p:cNvPr id="7" name="Text 4"/>
          <p:cNvSpPr txBox="1"/>
          <p:nvPr/>
        </p:nvSpPr>
        <p:spPr>
          <a:xfrm>
            <a:off x="1874520" y="2313432"/>
            <a:ext cx="3703320" cy="457200"/>
          </a:xfrm>
          <a:prstGeom prst="rect">
            <a:avLst/>
          </a:prstGeom>
          <a:noFill/>
          <a:ln/>
        </p:spPr>
        <p:txBody>
          <a:bodyPr wrap="square" lIns="0" tIns="0" rIns="0" bIns="0" rtlCol="0" anchor="t"/>
          <a:lstStyle/>
          <a:p>
            <a:pPr indent="0" marL="0">
              <a:buNone/>
            </a:pPr>
            <a:r>
              <a:rPr lang="en-US" sz="2000" b="1" dirty="0">
                <a:solidFill>
                  <a:schemeClr val="tx2"/>
                </a:solidFill>
              </a:rPr>
              <a:t>Scattered data</a:t>
            </a:r>
            <a:endParaRPr lang="en-US" sz="2000" dirty="0"/>
          </a:p>
        </p:txBody>
      </p:sp>
      <p:sp>
        <p:nvSpPr>
          <p:cNvPr id="8" name="Text 5"/>
          <p:cNvSpPr txBox="1"/>
          <p:nvPr/>
        </p:nvSpPr>
        <p:spPr>
          <a:xfrm>
            <a:off x="1874520" y="2834640"/>
            <a:ext cx="3703320" cy="868680"/>
          </a:xfrm>
          <a:prstGeom prst="rect">
            <a:avLst/>
          </a:prstGeom>
          <a:noFill/>
          <a:ln/>
        </p:spPr>
        <p:txBody>
          <a:bodyPr wrap="square" lIns="0" tIns="0" rIns="0" bIns="0" rtlCol="0" anchor="t"/>
          <a:lstStyle/>
          <a:p>
            <a:pPr indent="0" marL="0">
              <a:buNone/>
            </a:pPr>
            <a:r>
              <a:rPr lang="en-US" sz="1600" dirty="0">
                <a:solidFill>
                  <a:schemeClr val="tx1"/>
                </a:solidFill>
              </a:rPr>
              <a:t>Port, yard, warehouse and store records sit in separate systems and drift apart.</a:t>
            </a:r>
            <a:endParaRPr lang="en-US" sz="1600" dirty="0"/>
          </a:p>
        </p:txBody>
      </p:sp>
      <p:sp>
        <p:nvSpPr>
          <p:cNvPr id="9" name="Problem 2 card"/>
          <p:cNvSpPr/>
          <p:nvPr/>
        </p:nvSpPr>
        <p:spPr>
          <a:xfrm>
            <a:off x="6336792" y="1965960"/>
            <a:ext cx="5303520" cy="1920240"/>
          </a:xfrm>
          <a:prstGeom prst="roundRect">
            <a:avLst>
              <a:gd name="adj" fmla="val 5714"/>
            </a:avLst>
          </a:prstGeom>
          <a:solidFill>
            <a:schemeClr val="bg2"/>
          </a:solidFill>
          <a:ln w="12700">
            <a:solidFill>
              <a:schemeClr val="bg2"/>
            </a:solidFill>
            <a:prstDash val="solid"/>
          </a:ln>
        </p:spPr>
      </p:sp>
      <p:sp>
        <p:nvSpPr>
          <p:cNvPr id="10" name="Problem 2 circle"/>
          <p:cNvSpPr/>
          <p:nvPr/>
        </p:nvSpPr>
        <p:spPr>
          <a:xfrm>
            <a:off x="6656832" y="2331720"/>
            <a:ext cx="731520" cy="731520"/>
          </a:xfrm>
          <a:prstGeom prst="ellipse">
            <a:avLst/>
          </a:prstGeom>
          <a:solidFill>
            <a:schemeClr val="accent4"/>
          </a:solidFill>
          <a:ln w="12700">
            <a:solidFill>
              <a:schemeClr val="accent4"/>
            </a:solidFill>
            <a:prstDash val="solid"/>
          </a:ln>
        </p:spPr>
      </p:sp>
      <p:pic>
        <p:nvPicPr>
          <p:cNvPr id="11" name="Problem 2 icon" descr="preencoded.png">    </p:cNvPr>
          <p:cNvPicPr>
            <a:picLocks noChangeAspect="1"/>
          </p:cNvPicPr>
          <p:nvPr/>
        </p:nvPicPr>
        <p:blipFill>
          <a:blip r:embed="rId2"/>
          <a:stretch>
            <a:fillRect/>
          </a:stretch>
        </p:blipFill>
        <p:spPr>
          <a:xfrm>
            <a:off x="6839712" y="2514600"/>
            <a:ext cx="365760" cy="365760"/>
          </a:xfrm>
          <a:prstGeom prst="rect">
            <a:avLst/>
          </a:prstGeom>
        </p:spPr>
      </p:pic>
      <p:sp>
        <p:nvSpPr>
          <p:cNvPr id="12" name="Text 8"/>
          <p:cNvSpPr txBox="1"/>
          <p:nvPr/>
        </p:nvSpPr>
        <p:spPr>
          <a:xfrm>
            <a:off x="7662672" y="2313432"/>
            <a:ext cx="3703320" cy="457200"/>
          </a:xfrm>
          <a:prstGeom prst="rect">
            <a:avLst/>
          </a:prstGeom>
          <a:noFill/>
          <a:ln/>
        </p:spPr>
        <p:txBody>
          <a:bodyPr wrap="square" lIns="0" tIns="0" rIns="0" bIns="0" rtlCol="0" anchor="t"/>
          <a:lstStyle/>
          <a:p>
            <a:pPr indent="0" marL="0">
              <a:buNone/>
            </a:pPr>
            <a:r>
              <a:rPr lang="en-US" sz="2000" b="1" dirty="0">
                <a:solidFill>
                  <a:schemeClr val="tx2"/>
                </a:solidFill>
              </a:rPr>
              <a:t>No single source of truth</a:t>
            </a:r>
            <a:endParaRPr lang="en-US" sz="2000" dirty="0"/>
          </a:p>
        </p:txBody>
      </p:sp>
      <p:sp>
        <p:nvSpPr>
          <p:cNvPr id="13" name="Text 9"/>
          <p:cNvSpPr txBox="1"/>
          <p:nvPr/>
        </p:nvSpPr>
        <p:spPr>
          <a:xfrm>
            <a:off x="7662672" y="2834640"/>
            <a:ext cx="3703320" cy="868680"/>
          </a:xfrm>
          <a:prstGeom prst="rect">
            <a:avLst/>
          </a:prstGeom>
          <a:noFill/>
          <a:ln/>
        </p:spPr>
        <p:txBody>
          <a:bodyPr wrap="square" lIns="0" tIns="0" rIns="0" bIns="0" rtlCol="0" anchor="t"/>
          <a:lstStyle/>
          <a:p>
            <a:pPr indent="0" marL="0">
              <a:buNone/>
            </a:pPr>
            <a:r>
              <a:rPr lang="en-US" sz="1600" dirty="0">
                <a:solidFill>
                  <a:schemeClr val="tx1"/>
                </a:solidFill>
              </a:rPr>
              <a:t>Stock counts disagree between the warehouse and the shop.</a:t>
            </a:r>
            <a:endParaRPr lang="en-US" sz="1600" dirty="0"/>
          </a:p>
        </p:txBody>
      </p:sp>
      <p:sp>
        <p:nvSpPr>
          <p:cNvPr id="14" name="Problem 3 card"/>
          <p:cNvSpPr/>
          <p:nvPr/>
        </p:nvSpPr>
        <p:spPr>
          <a:xfrm>
            <a:off x="548640" y="4206240"/>
            <a:ext cx="5303520" cy="1920240"/>
          </a:xfrm>
          <a:prstGeom prst="roundRect">
            <a:avLst>
              <a:gd name="adj" fmla="val 5714"/>
            </a:avLst>
          </a:prstGeom>
          <a:solidFill>
            <a:schemeClr val="bg2"/>
          </a:solidFill>
          <a:ln w="12700">
            <a:solidFill>
              <a:schemeClr val="bg2"/>
            </a:solidFill>
            <a:prstDash val="solid"/>
          </a:ln>
        </p:spPr>
      </p:sp>
      <p:sp>
        <p:nvSpPr>
          <p:cNvPr id="15" name="Problem 3 circle"/>
          <p:cNvSpPr/>
          <p:nvPr/>
        </p:nvSpPr>
        <p:spPr>
          <a:xfrm>
            <a:off x="868680" y="4572000"/>
            <a:ext cx="731520" cy="731520"/>
          </a:xfrm>
          <a:prstGeom prst="ellipse">
            <a:avLst/>
          </a:prstGeom>
          <a:solidFill>
            <a:schemeClr val="accent1"/>
          </a:solidFill>
          <a:ln w="12700">
            <a:solidFill>
              <a:schemeClr val="accent1"/>
            </a:solidFill>
            <a:prstDash val="solid"/>
          </a:ln>
        </p:spPr>
      </p:sp>
      <p:pic>
        <p:nvPicPr>
          <p:cNvPr id="16" name="Problem 3 icon" descr="preencoded.png">    </p:cNvPr>
          <p:cNvPicPr>
            <a:picLocks noChangeAspect="1"/>
          </p:cNvPicPr>
          <p:nvPr/>
        </p:nvPicPr>
        <p:blipFill>
          <a:blip r:embed="rId3"/>
          <a:stretch>
            <a:fillRect/>
          </a:stretch>
        </p:blipFill>
        <p:spPr>
          <a:xfrm>
            <a:off x="1051560" y="4754880"/>
            <a:ext cx="365760" cy="365760"/>
          </a:xfrm>
          <a:prstGeom prst="rect">
            <a:avLst/>
          </a:prstGeom>
        </p:spPr>
      </p:pic>
      <p:sp>
        <p:nvSpPr>
          <p:cNvPr id="17" name="Text 12"/>
          <p:cNvSpPr txBox="1"/>
          <p:nvPr/>
        </p:nvSpPr>
        <p:spPr>
          <a:xfrm>
            <a:off x="1874520" y="4553712"/>
            <a:ext cx="3703320" cy="457200"/>
          </a:xfrm>
          <a:prstGeom prst="rect">
            <a:avLst/>
          </a:prstGeom>
          <a:noFill/>
          <a:ln/>
        </p:spPr>
        <p:txBody>
          <a:bodyPr wrap="square" lIns="0" tIns="0" rIns="0" bIns="0" rtlCol="0" anchor="t"/>
          <a:lstStyle/>
          <a:p>
            <a:pPr indent="0" marL="0">
              <a:buNone/>
            </a:pPr>
            <a:r>
              <a:rPr lang="en-US" sz="2000" b="1" dirty="0">
                <a:solidFill>
                  <a:schemeClr val="tx2"/>
                </a:solidFill>
              </a:rPr>
              <a:t>Weak accountability</a:t>
            </a:r>
            <a:endParaRPr lang="en-US" sz="2000" dirty="0"/>
          </a:p>
        </p:txBody>
      </p:sp>
      <p:sp>
        <p:nvSpPr>
          <p:cNvPr id="18" name="Text 13"/>
          <p:cNvSpPr txBox="1"/>
          <p:nvPr/>
        </p:nvSpPr>
        <p:spPr>
          <a:xfrm>
            <a:off x="1874520" y="5074920"/>
            <a:ext cx="3703320" cy="868680"/>
          </a:xfrm>
          <a:prstGeom prst="rect">
            <a:avLst/>
          </a:prstGeom>
          <a:noFill/>
          <a:ln/>
        </p:spPr>
        <p:txBody>
          <a:bodyPr wrap="square" lIns="0" tIns="0" rIns="0" bIns="0" rtlCol="0" anchor="t"/>
          <a:lstStyle/>
          <a:p>
            <a:pPr indent="0" marL="0">
              <a:buNone/>
            </a:pPr>
            <a:r>
              <a:rPr lang="en-US" sz="1600" dirty="0">
                <a:solidFill>
                  <a:schemeClr val="tx1"/>
                </a:solidFill>
              </a:rPr>
              <a:t>Changes are not traced to a person and a time.</a:t>
            </a:r>
            <a:endParaRPr lang="en-US" sz="1600" dirty="0"/>
          </a:p>
        </p:txBody>
      </p:sp>
      <p:sp>
        <p:nvSpPr>
          <p:cNvPr id="19" name="Problem 4 card"/>
          <p:cNvSpPr/>
          <p:nvPr/>
        </p:nvSpPr>
        <p:spPr>
          <a:xfrm>
            <a:off x="6336792" y="4206240"/>
            <a:ext cx="5303520" cy="1920240"/>
          </a:xfrm>
          <a:prstGeom prst="roundRect">
            <a:avLst>
              <a:gd name="adj" fmla="val 5714"/>
            </a:avLst>
          </a:prstGeom>
          <a:solidFill>
            <a:schemeClr val="bg2"/>
          </a:solidFill>
          <a:ln w="12700">
            <a:solidFill>
              <a:schemeClr val="bg2"/>
            </a:solidFill>
            <a:prstDash val="solid"/>
          </a:ln>
        </p:spPr>
      </p:sp>
      <p:sp>
        <p:nvSpPr>
          <p:cNvPr id="20" name="Problem 4 circle"/>
          <p:cNvSpPr/>
          <p:nvPr/>
        </p:nvSpPr>
        <p:spPr>
          <a:xfrm>
            <a:off x="6656832" y="4572000"/>
            <a:ext cx="731520" cy="731520"/>
          </a:xfrm>
          <a:prstGeom prst="ellipse">
            <a:avLst/>
          </a:prstGeom>
          <a:solidFill>
            <a:schemeClr val="accent4"/>
          </a:solidFill>
          <a:ln w="12700">
            <a:solidFill>
              <a:schemeClr val="accent4"/>
            </a:solidFill>
            <a:prstDash val="solid"/>
          </a:ln>
        </p:spPr>
      </p:sp>
      <p:pic>
        <p:nvPicPr>
          <p:cNvPr id="21" name="Problem 4 icon" descr="preencoded.png">    </p:cNvPr>
          <p:cNvPicPr>
            <a:picLocks noChangeAspect="1"/>
          </p:cNvPicPr>
          <p:nvPr/>
        </p:nvPicPr>
        <p:blipFill>
          <a:blip r:embed="rId4"/>
          <a:stretch>
            <a:fillRect/>
          </a:stretch>
        </p:blipFill>
        <p:spPr>
          <a:xfrm>
            <a:off x="6839712" y="4754880"/>
            <a:ext cx="365760" cy="365760"/>
          </a:xfrm>
          <a:prstGeom prst="rect">
            <a:avLst/>
          </a:prstGeom>
        </p:spPr>
      </p:pic>
      <p:sp>
        <p:nvSpPr>
          <p:cNvPr id="22" name="Text 16"/>
          <p:cNvSpPr txBox="1"/>
          <p:nvPr/>
        </p:nvSpPr>
        <p:spPr>
          <a:xfrm>
            <a:off x="7662672" y="4553712"/>
            <a:ext cx="3703320" cy="457200"/>
          </a:xfrm>
          <a:prstGeom prst="rect">
            <a:avLst/>
          </a:prstGeom>
          <a:noFill/>
          <a:ln/>
        </p:spPr>
        <p:txBody>
          <a:bodyPr wrap="square" lIns="0" tIns="0" rIns="0" bIns="0" rtlCol="0" anchor="t"/>
          <a:lstStyle/>
          <a:p>
            <a:pPr indent="0" marL="0">
              <a:buNone/>
            </a:pPr>
            <a:r>
              <a:rPr lang="en-US" sz="2000" b="1" dirty="0">
                <a:solidFill>
                  <a:schemeClr val="tx2"/>
                </a:solidFill>
              </a:rPr>
              <a:t>Hard to see</a:t>
            </a:r>
            <a:endParaRPr lang="en-US" sz="2000" dirty="0"/>
          </a:p>
        </p:txBody>
      </p:sp>
      <p:sp>
        <p:nvSpPr>
          <p:cNvPr id="23" name="Text 17"/>
          <p:cNvSpPr txBox="1"/>
          <p:nvPr/>
        </p:nvSpPr>
        <p:spPr>
          <a:xfrm>
            <a:off x="7662672" y="5074920"/>
            <a:ext cx="3703320" cy="868680"/>
          </a:xfrm>
          <a:prstGeom prst="rect">
            <a:avLst/>
          </a:prstGeom>
          <a:noFill/>
          <a:ln/>
        </p:spPr>
        <p:txBody>
          <a:bodyPr wrap="square" lIns="0" tIns="0" rIns="0" bIns="0" rtlCol="0" anchor="t"/>
          <a:lstStyle/>
          <a:p>
            <a:pPr indent="0" marL="0">
              <a:buNone/>
            </a:pPr>
            <a:r>
              <a:rPr lang="en-US" sz="1600" dirty="0">
                <a:solidFill>
                  <a:schemeClr val="tx1"/>
                </a:solidFill>
              </a:rPr>
              <a:t>Tables of numbers do not show where ships, trucks and pallets are.</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CargoVerse keeps the whole chain in one database</a:t>
            </a:r>
            <a:endParaRPr lang="en-US" sz="3400" dirty="0"/>
          </a:p>
        </p:txBody>
      </p:sp>
      <p:sp>
        <p:nvSpPr>
          <p:cNvPr id="3" name="Point 1 marker"/>
          <p:cNvSpPr/>
          <p:nvPr/>
        </p:nvSpPr>
        <p:spPr>
          <a:xfrm>
            <a:off x="548640" y="146304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43000" y="1417320"/>
            <a:ext cx="4023360" cy="411480"/>
          </a:xfrm>
          <a:prstGeom prst="rect">
            <a:avLst/>
          </a:prstGeom>
          <a:noFill/>
          <a:ln/>
        </p:spPr>
        <p:txBody>
          <a:bodyPr wrap="square" lIns="0" tIns="0" rIns="0" bIns="0" rtlCol="0" anchor="t"/>
          <a:lstStyle/>
          <a:p>
            <a:pPr indent="0" marL="0">
              <a:buNone/>
            </a:pPr>
            <a:r>
              <a:rPr lang="en-US" sz="1900" b="1" dirty="0">
                <a:solidFill>
                  <a:schemeClr val="tx2"/>
                </a:solidFill>
              </a:rPr>
              <a:t>One Oracle schema</a:t>
            </a:r>
            <a:endParaRPr lang="en-US" sz="1900" dirty="0"/>
          </a:p>
        </p:txBody>
      </p:sp>
      <p:sp>
        <p:nvSpPr>
          <p:cNvPr id="6" name="Text 4"/>
          <p:cNvSpPr txBox="1"/>
          <p:nvPr/>
        </p:nvSpPr>
        <p:spPr>
          <a:xfrm>
            <a:off x="1143000" y="1828800"/>
            <a:ext cx="4023360" cy="685800"/>
          </a:xfrm>
          <a:prstGeom prst="rect">
            <a:avLst/>
          </a:prstGeom>
          <a:noFill/>
          <a:ln/>
        </p:spPr>
        <p:txBody>
          <a:bodyPr wrap="square" lIns="0" tIns="0" rIns="0" bIns="0" rtlCol="0" anchor="t"/>
          <a:lstStyle/>
          <a:p>
            <a:pPr indent="0" marL="0">
              <a:buNone/>
            </a:pPr>
            <a:r>
              <a:rPr lang="en-US" sz="1500" dirty="0">
                <a:solidFill>
                  <a:schemeClr val="tx1"/>
                </a:solidFill>
              </a:rPr>
              <a:t>Port, gates, warehouses, transport and stores share 44 related tables.</a:t>
            </a:r>
            <a:endParaRPr lang="en-US" sz="1500" dirty="0"/>
          </a:p>
        </p:txBody>
      </p:sp>
      <p:sp>
        <p:nvSpPr>
          <p:cNvPr id="7" name="Point 2 marker"/>
          <p:cNvSpPr/>
          <p:nvPr/>
        </p:nvSpPr>
        <p:spPr>
          <a:xfrm>
            <a:off x="548640" y="2633472"/>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548640" y="263347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43000" y="2587752"/>
            <a:ext cx="4023360" cy="411480"/>
          </a:xfrm>
          <a:prstGeom prst="rect">
            <a:avLst/>
          </a:prstGeom>
          <a:noFill/>
          <a:ln/>
        </p:spPr>
        <p:txBody>
          <a:bodyPr wrap="square" lIns="0" tIns="0" rIns="0" bIns="0" rtlCol="0" anchor="t"/>
          <a:lstStyle/>
          <a:p>
            <a:pPr indent="0" marL="0">
              <a:buNone/>
            </a:pPr>
            <a:r>
              <a:rPr lang="en-US" sz="1900" b="1" dirty="0">
                <a:solidFill>
                  <a:schemeClr val="tx2"/>
                </a:solidFill>
              </a:rPr>
              <a:t>Rules inside the database</a:t>
            </a:r>
            <a:endParaRPr lang="en-US" sz="1900" dirty="0"/>
          </a:p>
        </p:txBody>
      </p:sp>
      <p:sp>
        <p:nvSpPr>
          <p:cNvPr id="10" name="Text 8"/>
          <p:cNvSpPr txBox="1"/>
          <p:nvPr/>
        </p:nvSpPr>
        <p:spPr>
          <a:xfrm>
            <a:off x="1143000" y="2999232"/>
            <a:ext cx="4023360" cy="685800"/>
          </a:xfrm>
          <a:prstGeom prst="rect">
            <a:avLst/>
          </a:prstGeom>
          <a:noFill/>
          <a:ln/>
        </p:spPr>
        <p:txBody>
          <a:bodyPr wrap="square" lIns="0" tIns="0" rIns="0" bIns="0" rtlCol="0" anchor="t"/>
          <a:lstStyle/>
          <a:p>
            <a:pPr indent="0" marL="0">
              <a:buNone/>
            </a:pPr>
            <a:r>
              <a:rPr lang="en-US" sz="1500" dirty="0">
                <a:solidFill>
                  <a:schemeClr val="tx1"/>
                </a:solidFill>
              </a:rPr>
              <a:t>Constraints, PL/SQL and triggers refuse invalid data from any program.</a:t>
            </a:r>
            <a:endParaRPr lang="en-US" sz="1500" dirty="0"/>
          </a:p>
        </p:txBody>
      </p:sp>
      <p:sp>
        <p:nvSpPr>
          <p:cNvPr id="11" name="Point 3 marker"/>
          <p:cNvSpPr/>
          <p:nvPr/>
        </p:nvSpPr>
        <p:spPr>
          <a:xfrm>
            <a:off x="548640" y="3803904"/>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548640" y="380390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43000" y="3758184"/>
            <a:ext cx="4023360" cy="411480"/>
          </a:xfrm>
          <a:prstGeom prst="rect">
            <a:avLst/>
          </a:prstGeom>
          <a:noFill/>
          <a:ln/>
        </p:spPr>
        <p:txBody>
          <a:bodyPr wrap="square" lIns="0" tIns="0" rIns="0" bIns="0" rtlCol="0" anchor="t"/>
          <a:lstStyle/>
          <a:p>
            <a:pPr indent="0" marL="0">
              <a:buNone/>
            </a:pPr>
            <a:r>
              <a:rPr lang="en-US" sz="1900" b="1" dirty="0">
                <a:solidFill>
                  <a:schemeClr val="tx2"/>
                </a:solidFill>
              </a:rPr>
              <a:t>Every change is traceable</a:t>
            </a:r>
            <a:endParaRPr lang="en-US" sz="1900" dirty="0"/>
          </a:p>
        </p:txBody>
      </p:sp>
      <p:sp>
        <p:nvSpPr>
          <p:cNvPr id="14" name="Text 12"/>
          <p:cNvSpPr txBox="1"/>
          <p:nvPr/>
        </p:nvSpPr>
        <p:spPr>
          <a:xfrm>
            <a:off x="1143000" y="4169664"/>
            <a:ext cx="4023360" cy="685800"/>
          </a:xfrm>
          <a:prstGeom prst="rect">
            <a:avLst/>
          </a:prstGeom>
          <a:noFill/>
          <a:ln/>
        </p:spPr>
        <p:txBody>
          <a:bodyPr wrap="square" lIns="0" tIns="0" rIns="0" bIns="0" rtlCol="0" anchor="t"/>
          <a:lstStyle/>
          <a:p>
            <a:pPr indent="0" marL="0">
              <a:buNone/>
            </a:pPr>
            <a:r>
              <a:rPr lang="en-US" sz="1500" dirty="0">
                <a:solidFill>
                  <a:schemeClr val="tx1"/>
                </a:solidFill>
              </a:rPr>
              <a:t>An audit trail records who changed what, and when.</a:t>
            </a:r>
            <a:endParaRPr lang="en-US" sz="1500" dirty="0"/>
          </a:p>
        </p:txBody>
      </p:sp>
      <p:sp>
        <p:nvSpPr>
          <p:cNvPr id="15" name="Point 4 marker"/>
          <p:cNvSpPr/>
          <p:nvPr/>
        </p:nvSpPr>
        <p:spPr>
          <a:xfrm>
            <a:off x="548640" y="4974336"/>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548640" y="497433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143000" y="4928616"/>
            <a:ext cx="4023360" cy="411480"/>
          </a:xfrm>
          <a:prstGeom prst="rect">
            <a:avLst/>
          </a:prstGeom>
          <a:noFill/>
          <a:ln/>
        </p:spPr>
        <p:txBody>
          <a:bodyPr wrap="square" lIns="0" tIns="0" rIns="0" bIns="0" rtlCol="0" anchor="t"/>
          <a:lstStyle/>
          <a:p>
            <a:pPr indent="0" marL="0">
              <a:buNone/>
            </a:pPr>
            <a:r>
              <a:rPr lang="en-US" sz="1900" b="1" dirty="0">
                <a:solidFill>
                  <a:schemeClr val="tx2"/>
                </a:solidFill>
              </a:rPr>
              <a:t>Data you can see</a:t>
            </a:r>
            <a:endParaRPr lang="en-US" sz="1900" dirty="0"/>
          </a:p>
        </p:txBody>
      </p:sp>
      <p:sp>
        <p:nvSpPr>
          <p:cNvPr id="18" name="Text 16"/>
          <p:cNvSpPr txBox="1"/>
          <p:nvPr/>
        </p:nvSpPr>
        <p:spPr>
          <a:xfrm>
            <a:off x="1143000" y="5340096"/>
            <a:ext cx="4023360" cy="685800"/>
          </a:xfrm>
          <a:prstGeom prst="rect">
            <a:avLst/>
          </a:prstGeom>
          <a:noFill/>
          <a:ln/>
        </p:spPr>
        <p:txBody>
          <a:bodyPr wrap="square" lIns="0" tIns="0" rIns="0" bIns="0" rtlCol="0" anchor="t"/>
          <a:lstStyle/>
          <a:p>
            <a:pPr indent="0" marL="0">
              <a:buNone/>
            </a:pPr>
            <a:r>
              <a:rPr lang="en-US" sz="1500" dirty="0">
                <a:solidFill>
                  <a:schemeClr val="tx1"/>
                </a:solidFill>
              </a:rPr>
              <a:t>A live 3D city draws the database as it changes.</a:t>
            </a:r>
            <a:endParaRPr lang="en-US" sz="1500" dirty="0"/>
          </a:p>
        </p:txBody>
      </p:sp>
      <p:pic>
        <p:nvPicPr>
          <p:cNvPr id="19" name="Port screenshot" descr="/home/claude/pv/deck/port.png">    </p:cNvPr>
          <p:cNvPicPr>
            <a:picLocks noChangeAspect="1"/>
          </p:cNvPicPr>
          <p:nvPr/>
        </p:nvPicPr>
        <p:blipFill>
          <a:blip r:embed="rId1"/>
          <a:stretch>
            <a:fillRect/>
          </a:stretch>
        </p:blipFill>
        <p:spPr>
          <a:xfrm>
            <a:off x="5440680" y="1371600"/>
            <a:ext cx="6199632" cy="3483864"/>
          </a:xfrm>
          <a:prstGeom prst="rect">
            <a:avLst/>
          </a:prstGeom>
          <a:effectLst>
            <a:outerShdw sx="100000" sy="100000" kx="0" ky="0" algn="bl" rotWithShape="0" blurRad="101600" dist="25400" dir="5400000">
              <a:srgbClr val="0B1F3A">
                <a:alpha val="12000"/>
              </a:srgbClr>
            </a:outerShdw>
          </a:effectLst>
        </p:spPr>
      </p:pic>
      <p:sp>
        <p:nvSpPr>
          <p:cNvPr id="20" name="Text 17"/>
          <p:cNvSpPr txBox="1"/>
          <p:nvPr/>
        </p:nvSpPr>
        <p:spPr>
          <a:xfrm>
            <a:off x="5440680" y="4983480"/>
            <a:ext cx="6199632" cy="548640"/>
          </a:xfrm>
          <a:prstGeom prst="rect">
            <a:avLst/>
          </a:prstGeom>
          <a:noFill/>
          <a:ln/>
        </p:spPr>
        <p:txBody>
          <a:bodyPr wrap="square" lIns="0" tIns="0" rIns="0" bIns="0" rtlCol="0" anchor="t"/>
          <a:lstStyle/>
          <a:p>
            <a:pPr indent="0" marL="0">
              <a:buNone/>
            </a:pPr>
            <a:r>
              <a:rPr lang="en-US" sz="1200" i="1" dirty="0">
                <a:solidFill>
                  <a:schemeClr val="accent5"/>
                </a:solidFill>
              </a:rPr>
              <a:t>The container terminal: ships, cranes and stacks, with live figures read from Oracle</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Six objectives shaped the design</a:t>
            </a:r>
            <a:endParaRPr lang="en-US" sz="3400" dirty="0"/>
          </a:p>
        </p:txBody>
      </p:sp>
      <p:sp>
        <p:nvSpPr>
          <p:cNvPr id="3" name="Objective 1 card"/>
          <p:cNvSpPr/>
          <p:nvPr/>
        </p:nvSpPr>
        <p:spPr>
          <a:xfrm>
            <a:off x="548640" y="1417320"/>
            <a:ext cx="3520440" cy="2148840"/>
          </a:xfrm>
          <a:prstGeom prst="roundRect">
            <a:avLst>
              <a:gd name="adj" fmla="val 5106"/>
            </a:avLst>
          </a:prstGeom>
          <a:solidFill>
            <a:schemeClr val="bg2"/>
          </a:solidFill>
          <a:ln w="12700">
            <a:solidFill>
              <a:schemeClr val="bg2"/>
            </a:solidFill>
            <a:prstDash val="solid"/>
          </a:ln>
        </p:spPr>
      </p:sp>
      <p:sp>
        <p:nvSpPr>
          <p:cNvPr id="4" name="Text 2"/>
          <p:cNvSpPr txBox="1"/>
          <p:nvPr/>
        </p:nvSpPr>
        <p:spPr>
          <a:xfrm>
            <a:off x="822960" y="1645920"/>
            <a:ext cx="10972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01</a:t>
            </a:r>
            <a:endParaRPr lang="en-US" sz="3600" dirty="0"/>
          </a:p>
        </p:txBody>
      </p:sp>
      <p:sp>
        <p:nvSpPr>
          <p:cNvPr id="5" name="Text 3"/>
          <p:cNvSpPr txBox="1"/>
          <p:nvPr/>
        </p:nvSpPr>
        <p:spPr>
          <a:xfrm>
            <a:off x="822960" y="2331720"/>
            <a:ext cx="2971800" cy="411480"/>
          </a:xfrm>
          <a:prstGeom prst="rect">
            <a:avLst/>
          </a:prstGeom>
          <a:noFill/>
          <a:ln/>
        </p:spPr>
        <p:txBody>
          <a:bodyPr wrap="square" lIns="0" tIns="0" rIns="0" bIns="0" rtlCol="0" anchor="t"/>
          <a:lstStyle/>
          <a:p>
            <a:pPr indent="0" marL="0">
              <a:buNone/>
            </a:pPr>
            <a:r>
              <a:rPr lang="en-US" sz="1800" b="1" dirty="0">
                <a:solidFill>
                  <a:schemeClr val="tx2"/>
                </a:solidFill>
              </a:rPr>
              <a:t>Normalised schema</a:t>
            </a:r>
            <a:endParaRPr lang="en-US" sz="1800" dirty="0"/>
          </a:p>
        </p:txBody>
      </p:sp>
      <p:sp>
        <p:nvSpPr>
          <p:cNvPr id="6" name="Text 4"/>
          <p:cNvSpPr txBox="1"/>
          <p:nvPr/>
        </p:nvSpPr>
        <p:spPr>
          <a:xfrm>
            <a:off x="822960" y="2743200"/>
            <a:ext cx="2971800" cy="731520"/>
          </a:xfrm>
          <a:prstGeom prst="rect">
            <a:avLst/>
          </a:prstGeom>
          <a:noFill/>
          <a:ln/>
        </p:spPr>
        <p:txBody>
          <a:bodyPr wrap="square" lIns="0" tIns="0" rIns="0" bIns="0" rtlCol="0" anchor="t"/>
          <a:lstStyle/>
          <a:p>
            <a:pPr indent="0" marL="0">
              <a:buNone/>
            </a:pPr>
            <a:r>
              <a:rPr lang="en-US" sz="1400" dirty="0">
                <a:solidFill>
                  <a:schemeClr val="tx1"/>
                </a:solidFill>
              </a:rPr>
              <a:t>One 3NF Oracle schema for port, yard, gates, sites, transport and stores</a:t>
            </a:r>
            <a:endParaRPr lang="en-US" sz="1400" dirty="0"/>
          </a:p>
        </p:txBody>
      </p:sp>
      <p:sp>
        <p:nvSpPr>
          <p:cNvPr id="7" name="Objective 2 card"/>
          <p:cNvSpPr/>
          <p:nvPr/>
        </p:nvSpPr>
        <p:spPr>
          <a:xfrm>
            <a:off x="4425696" y="1417320"/>
            <a:ext cx="3520440" cy="2148840"/>
          </a:xfrm>
          <a:prstGeom prst="roundRect">
            <a:avLst>
              <a:gd name="adj" fmla="val 5106"/>
            </a:avLst>
          </a:prstGeom>
          <a:solidFill>
            <a:schemeClr val="bg2"/>
          </a:solidFill>
          <a:ln w="12700">
            <a:solidFill>
              <a:schemeClr val="bg2"/>
            </a:solidFill>
            <a:prstDash val="solid"/>
          </a:ln>
        </p:spPr>
      </p:sp>
      <p:sp>
        <p:nvSpPr>
          <p:cNvPr id="8" name="Text 6"/>
          <p:cNvSpPr txBox="1"/>
          <p:nvPr/>
        </p:nvSpPr>
        <p:spPr>
          <a:xfrm>
            <a:off x="4700016" y="1645920"/>
            <a:ext cx="10972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02</a:t>
            </a:r>
            <a:endParaRPr lang="en-US" sz="3600" dirty="0"/>
          </a:p>
        </p:txBody>
      </p:sp>
      <p:sp>
        <p:nvSpPr>
          <p:cNvPr id="9" name="Text 7"/>
          <p:cNvSpPr txBox="1"/>
          <p:nvPr/>
        </p:nvSpPr>
        <p:spPr>
          <a:xfrm>
            <a:off x="4700016" y="2331720"/>
            <a:ext cx="2971800" cy="411480"/>
          </a:xfrm>
          <a:prstGeom prst="rect">
            <a:avLst/>
          </a:prstGeom>
          <a:noFill/>
          <a:ln/>
        </p:spPr>
        <p:txBody>
          <a:bodyPr wrap="square" lIns="0" tIns="0" rIns="0" bIns="0" rtlCol="0" anchor="t"/>
          <a:lstStyle/>
          <a:p>
            <a:pPr indent="0" marL="0">
              <a:buNone/>
            </a:pPr>
            <a:r>
              <a:rPr lang="en-US" sz="1800" b="1" dirty="0">
                <a:solidFill>
                  <a:schemeClr val="tx2"/>
                </a:solidFill>
              </a:rPr>
              <a:t>Integrity in the DB</a:t>
            </a:r>
            <a:endParaRPr lang="en-US" sz="1800" dirty="0"/>
          </a:p>
        </p:txBody>
      </p:sp>
      <p:sp>
        <p:nvSpPr>
          <p:cNvPr id="10" name="Text 8"/>
          <p:cNvSpPr txBox="1"/>
          <p:nvPr/>
        </p:nvSpPr>
        <p:spPr>
          <a:xfrm>
            <a:off x="4700016" y="2743200"/>
            <a:ext cx="2971800" cy="731520"/>
          </a:xfrm>
          <a:prstGeom prst="rect">
            <a:avLst/>
          </a:prstGeom>
          <a:noFill/>
          <a:ln/>
        </p:spPr>
        <p:txBody>
          <a:bodyPr wrap="square" lIns="0" tIns="0" rIns="0" bIns="0" rtlCol="0" anchor="t"/>
          <a:lstStyle/>
          <a:p>
            <a:pPr indent="0" marL="0">
              <a:buNone/>
            </a:pPr>
            <a:r>
              <a:rPr lang="en-US" sz="1400" dirty="0">
                <a:solidFill>
                  <a:schemeClr val="tx1"/>
                </a:solidFill>
              </a:rPr>
              <a:t>Keys, check and unique constraints, virtual columns</a:t>
            </a:r>
            <a:endParaRPr lang="en-US" sz="1400" dirty="0"/>
          </a:p>
        </p:txBody>
      </p:sp>
      <p:sp>
        <p:nvSpPr>
          <p:cNvPr id="11" name="Objective 3 card"/>
          <p:cNvSpPr/>
          <p:nvPr/>
        </p:nvSpPr>
        <p:spPr>
          <a:xfrm>
            <a:off x="8302752" y="1417320"/>
            <a:ext cx="3520440" cy="2148840"/>
          </a:xfrm>
          <a:prstGeom prst="roundRect">
            <a:avLst>
              <a:gd name="adj" fmla="val 5106"/>
            </a:avLst>
          </a:prstGeom>
          <a:solidFill>
            <a:schemeClr val="bg2"/>
          </a:solidFill>
          <a:ln w="12700">
            <a:solidFill>
              <a:schemeClr val="bg2"/>
            </a:solidFill>
            <a:prstDash val="solid"/>
          </a:ln>
        </p:spPr>
      </p:sp>
      <p:sp>
        <p:nvSpPr>
          <p:cNvPr id="12" name="Text 10"/>
          <p:cNvSpPr txBox="1"/>
          <p:nvPr/>
        </p:nvSpPr>
        <p:spPr>
          <a:xfrm>
            <a:off x="8577072" y="1645920"/>
            <a:ext cx="10972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03</a:t>
            </a:r>
            <a:endParaRPr lang="en-US" sz="3600" dirty="0"/>
          </a:p>
        </p:txBody>
      </p:sp>
      <p:sp>
        <p:nvSpPr>
          <p:cNvPr id="13" name="Text 11"/>
          <p:cNvSpPr txBox="1"/>
          <p:nvPr/>
        </p:nvSpPr>
        <p:spPr>
          <a:xfrm>
            <a:off x="8577072" y="2331720"/>
            <a:ext cx="2971800" cy="411480"/>
          </a:xfrm>
          <a:prstGeom prst="rect">
            <a:avLst/>
          </a:prstGeom>
          <a:noFill/>
          <a:ln/>
        </p:spPr>
        <p:txBody>
          <a:bodyPr wrap="square" lIns="0" tIns="0" rIns="0" bIns="0" rtlCol="0" anchor="t"/>
          <a:lstStyle/>
          <a:p>
            <a:pPr indent="0" marL="0">
              <a:buNone/>
            </a:pPr>
            <a:r>
              <a:rPr lang="en-US" sz="1800" b="1" dirty="0">
                <a:solidFill>
                  <a:schemeClr val="tx2"/>
                </a:solidFill>
              </a:rPr>
              <a:t>Business rules in PL/SQL</a:t>
            </a:r>
            <a:endParaRPr lang="en-US" sz="1800" dirty="0"/>
          </a:p>
        </p:txBody>
      </p:sp>
      <p:sp>
        <p:nvSpPr>
          <p:cNvPr id="14" name="Text 12"/>
          <p:cNvSpPr txBox="1"/>
          <p:nvPr/>
        </p:nvSpPr>
        <p:spPr>
          <a:xfrm>
            <a:off x="8577072" y="2743200"/>
            <a:ext cx="2971800" cy="731520"/>
          </a:xfrm>
          <a:prstGeom prst="rect">
            <a:avLst/>
          </a:prstGeom>
          <a:noFill/>
          <a:ln/>
        </p:spPr>
        <p:txBody>
          <a:bodyPr wrap="square" lIns="0" tIns="0" rIns="0" bIns="0" rtlCol="0" anchor="t"/>
          <a:lstStyle/>
          <a:p>
            <a:pPr indent="0" marL="0">
              <a:buNone/>
            </a:pPr>
            <a:r>
              <a:rPr lang="en-US" sz="1400" dirty="0">
                <a:solidFill>
                  <a:schemeClr val="tx1"/>
                </a:solidFill>
              </a:rPr>
              <a:t>Packages and triggers every program must go through</a:t>
            </a:r>
            <a:endParaRPr lang="en-US" sz="1400" dirty="0"/>
          </a:p>
        </p:txBody>
      </p:sp>
      <p:sp>
        <p:nvSpPr>
          <p:cNvPr id="15" name="Objective 4 card"/>
          <p:cNvSpPr/>
          <p:nvPr/>
        </p:nvSpPr>
        <p:spPr>
          <a:xfrm>
            <a:off x="548640" y="3886200"/>
            <a:ext cx="3520440" cy="2148840"/>
          </a:xfrm>
          <a:prstGeom prst="roundRect">
            <a:avLst>
              <a:gd name="adj" fmla="val 5106"/>
            </a:avLst>
          </a:prstGeom>
          <a:solidFill>
            <a:schemeClr val="bg2"/>
          </a:solidFill>
          <a:ln w="12700">
            <a:solidFill>
              <a:schemeClr val="bg2"/>
            </a:solidFill>
            <a:prstDash val="solid"/>
          </a:ln>
        </p:spPr>
      </p:sp>
      <p:sp>
        <p:nvSpPr>
          <p:cNvPr id="16" name="Text 14"/>
          <p:cNvSpPr txBox="1"/>
          <p:nvPr/>
        </p:nvSpPr>
        <p:spPr>
          <a:xfrm>
            <a:off x="822960" y="4114800"/>
            <a:ext cx="10972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04</a:t>
            </a:r>
            <a:endParaRPr lang="en-US" sz="3600" dirty="0"/>
          </a:p>
        </p:txBody>
      </p:sp>
      <p:sp>
        <p:nvSpPr>
          <p:cNvPr id="17" name="Text 15"/>
          <p:cNvSpPr txBox="1"/>
          <p:nvPr/>
        </p:nvSpPr>
        <p:spPr>
          <a:xfrm>
            <a:off x="822960" y="4800600"/>
            <a:ext cx="2971800" cy="411480"/>
          </a:xfrm>
          <a:prstGeom prst="rect">
            <a:avLst/>
          </a:prstGeom>
          <a:noFill/>
          <a:ln/>
        </p:spPr>
        <p:txBody>
          <a:bodyPr wrap="square" lIns="0" tIns="0" rIns="0" bIns="0" rtlCol="0" anchor="t"/>
          <a:lstStyle/>
          <a:p>
            <a:pPr indent="0" marL="0">
              <a:buNone/>
            </a:pPr>
            <a:r>
              <a:rPr lang="en-US" sz="1800" b="1" dirty="0">
                <a:solidFill>
                  <a:schemeClr val="tx2"/>
                </a:solidFill>
              </a:rPr>
              <a:t>Full audit trail</a:t>
            </a:r>
            <a:endParaRPr lang="en-US" sz="1800" dirty="0"/>
          </a:p>
        </p:txBody>
      </p:sp>
      <p:sp>
        <p:nvSpPr>
          <p:cNvPr id="18" name="Text 16"/>
          <p:cNvSpPr txBox="1"/>
          <p:nvPr/>
        </p:nvSpPr>
        <p:spPr>
          <a:xfrm>
            <a:off x="822960" y="5212080"/>
            <a:ext cx="2971800" cy="731520"/>
          </a:xfrm>
          <a:prstGeom prst="rect">
            <a:avLst/>
          </a:prstGeom>
          <a:noFill/>
          <a:ln/>
        </p:spPr>
        <p:txBody>
          <a:bodyPr wrap="square" lIns="0" tIns="0" rIns="0" bIns="0" rtlCol="0" anchor="t"/>
          <a:lstStyle/>
          <a:p>
            <a:pPr indent="0" marL="0">
              <a:buNone/>
            </a:pPr>
            <a:r>
              <a:rPr lang="en-US" sz="1400" dirty="0">
                <a:solidFill>
                  <a:schemeClr val="tx1"/>
                </a:solidFill>
              </a:rPr>
              <a:t>User, time, site and before/after values for each change</a:t>
            </a:r>
            <a:endParaRPr lang="en-US" sz="1400" dirty="0"/>
          </a:p>
        </p:txBody>
      </p:sp>
      <p:sp>
        <p:nvSpPr>
          <p:cNvPr id="19" name="Objective 5 card"/>
          <p:cNvSpPr/>
          <p:nvPr/>
        </p:nvSpPr>
        <p:spPr>
          <a:xfrm>
            <a:off x="4425696" y="3886200"/>
            <a:ext cx="3520440" cy="2148840"/>
          </a:xfrm>
          <a:prstGeom prst="roundRect">
            <a:avLst>
              <a:gd name="adj" fmla="val 5106"/>
            </a:avLst>
          </a:prstGeom>
          <a:solidFill>
            <a:schemeClr val="bg2"/>
          </a:solidFill>
          <a:ln w="12700">
            <a:solidFill>
              <a:schemeClr val="bg2"/>
            </a:solidFill>
            <a:prstDash val="solid"/>
          </a:ln>
        </p:spPr>
      </p:sp>
      <p:sp>
        <p:nvSpPr>
          <p:cNvPr id="20" name="Text 18"/>
          <p:cNvSpPr txBox="1"/>
          <p:nvPr/>
        </p:nvSpPr>
        <p:spPr>
          <a:xfrm>
            <a:off x="4700016" y="4114800"/>
            <a:ext cx="10972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05</a:t>
            </a:r>
            <a:endParaRPr lang="en-US" sz="3600" dirty="0"/>
          </a:p>
        </p:txBody>
      </p:sp>
      <p:sp>
        <p:nvSpPr>
          <p:cNvPr id="21" name="Text 19"/>
          <p:cNvSpPr txBox="1"/>
          <p:nvPr/>
        </p:nvSpPr>
        <p:spPr>
          <a:xfrm>
            <a:off x="4700016" y="4800600"/>
            <a:ext cx="2971800" cy="411480"/>
          </a:xfrm>
          <a:prstGeom prst="rect">
            <a:avLst/>
          </a:prstGeom>
          <a:noFill/>
          <a:ln/>
        </p:spPr>
        <p:txBody>
          <a:bodyPr wrap="square" lIns="0" tIns="0" rIns="0" bIns="0" rtlCol="0" anchor="t"/>
          <a:lstStyle/>
          <a:p>
            <a:pPr indent="0" marL="0">
              <a:buNone/>
            </a:pPr>
            <a:r>
              <a:rPr lang="en-US" sz="1800" b="1" dirty="0">
                <a:solidFill>
                  <a:schemeClr val="tx2"/>
                </a:solidFill>
              </a:rPr>
              <a:t>Role-based access</a:t>
            </a:r>
            <a:endParaRPr lang="en-US" sz="1800" dirty="0"/>
          </a:p>
        </p:txBody>
      </p:sp>
      <p:sp>
        <p:nvSpPr>
          <p:cNvPr id="22" name="Text 20"/>
          <p:cNvSpPr txBox="1"/>
          <p:nvPr/>
        </p:nvSpPr>
        <p:spPr>
          <a:xfrm>
            <a:off x="4700016" y="5212080"/>
            <a:ext cx="2971800" cy="731520"/>
          </a:xfrm>
          <a:prstGeom prst="rect">
            <a:avLst/>
          </a:prstGeom>
          <a:noFill/>
          <a:ln/>
        </p:spPr>
        <p:txBody>
          <a:bodyPr wrap="square" lIns="0" tIns="0" rIns="0" bIns="0" rtlCol="0" anchor="t"/>
          <a:lstStyle/>
          <a:p>
            <a:pPr indent="0" marL="0">
              <a:buNone/>
            </a:pPr>
            <a:r>
              <a:rPr lang="en-US" sz="1400" dirty="0">
                <a:solidFill>
                  <a:schemeClr val="tx1"/>
                </a:solidFill>
              </a:rPr>
              <a:t>Administrator, Operations Manager and Operator</a:t>
            </a:r>
            <a:endParaRPr lang="en-US" sz="1400" dirty="0"/>
          </a:p>
        </p:txBody>
      </p:sp>
      <p:sp>
        <p:nvSpPr>
          <p:cNvPr id="23" name="Objective 6 card"/>
          <p:cNvSpPr/>
          <p:nvPr/>
        </p:nvSpPr>
        <p:spPr>
          <a:xfrm>
            <a:off x="8302752" y="3886200"/>
            <a:ext cx="3520440" cy="2148840"/>
          </a:xfrm>
          <a:prstGeom prst="roundRect">
            <a:avLst>
              <a:gd name="adj" fmla="val 5106"/>
            </a:avLst>
          </a:prstGeom>
          <a:solidFill>
            <a:schemeClr val="bg2"/>
          </a:solidFill>
          <a:ln w="12700">
            <a:solidFill>
              <a:schemeClr val="bg2"/>
            </a:solidFill>
            <a:prstDash val="solid"/>
          </a:ln>
        </p:spPr>
      </p:sp>
      <p:sp>
        <p:nvSpPr>
          <p:cNvPr id="24" name="Text 22"/>
          <p:cNvSpPr txBox="1"/>
          <p:nvPr/>
        </p:nvSpPr>
        <p:spPr>
          <a:xfrm>
            <a:off x="8577072" y="4114800"/>
            <a:ext cx="10972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06</a:t>
            </a:r>
            <a:endParaRPr lang="en-US" sz="3600" dirty="0"/>
          </a:p>
        </p:txBody>
      </p:sp>
      <p:sp>
        <p:nvSpPr>
          <p:cNvPr id="25" name="Text 23"/>
          <p:cNvSpPr txBox="1"/>
          <p:nvPr/>
        </p:nvSpPr>
        <p:spPr>
          <a:xfrm>
            <a:off x="8577072" y="4800600"/>
            <a:ext cx="2971800" cy="411480"/>
          </a:xfrm>
          <a:prstGeom prst="rect">
            <a:avLst/>
          </a:prstGeom>
          <a:noFill/>
          <a:ln/>
        </p:spPr>
        <p:txBody>
          <a:bodyPr wrap="square" lIns="0" tIns="0" rIns="0" bIns="0" rtlCol="0" anchor="t"/>
          <a:lstStyle/>
          <a:p>
            <a:pPr indent="0" marL="0">
              <a:buNone/>
            </a:pPr>
            <a:r>
              <a:rPr lang="en-US" sz="1800" b="1" dirty="0">
                <a:solidFill>
                  <a:schemeClr val="tx2"/>
                </a:solidFill>
              </a:rPr>
              <a:t>Reports and 3D view</a:t>
            </a:r>
            <a:endParaRPr lang="en-US" sz="1800" dirty="0"/>
          </a:p>
        </p:txBody>
      </p:sp>
      <p:sp>
        <p:nvSpPr>
          <p:cNvPr id="26" name="Text 24"/>
          <p:cNvSpPr txBox="1"/>
          <p:nvPr/>
        </p:nvSpPr>
        <p:spPr>
          <a:xfrm>
            <a:off x="8577072" y="5212080"/>
            <a:ext cx="2971800" cy="731520"/>
          </a:xfrm>
          <a:prstGeom prst="rect">
            <a:avLst/>
          </a:prstGeom>
          <a:noFill/>
          <a:ln/>
        </p:spPr>
        <p:txBody>
          <a:bodyPr wrap="square" lIns="0" tIns="0" rIns="0" bIns="0" rtlCol="0" anchor="t"/>
          <a:lstStyle/>
          <a:p>
            <a:pPr indent="0" marL="0">
              <a:buNone/>
            </a:pPr>
            <a:r>
              <a:rPr lang="en-US" sz="1400" dirty="0">
                <a:solidFill>
                  <a:schemeClr val="tx1"/>
                </a:solidFill>
              </a:rPr>
              <a:t>Analytical SQL for managers and a live 3D city</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three-tier architecture with Oracle at the core</a:t>
            </a:r>
            <a:endParaRPr lang="en-US" sz="3400" dirty="0"/>
          </a:p>
        </p:txBody>
      </p:sp>
      <p:sp>
        <p:nvSpPr>
          <p:cNvPr id="3" name="Web browser box"/>
          <p:cNvSpPr/>
          <p:nvPr/>
        </p:nvSpPr>
        <p:spPr>
          <a:xfrm>
            <a:off x="548640" y="1600200"/>
            <a:ext cx="3291840" cy="2743200"/>
          </a:xfrm>
          <a:prstGeom prst="roundRect">
            <a:avLst>
              <a:gd name="adj" fmla="val 4000"/>
            </a:avLst>
          </a:prstGeom>
          <a:solidFill>
            <a:srgbClr val="EEF3F8"/>
          </a:solidFill>
          <a:ln w="12700">
            <a:solidFill>
              <a:srgbClr val="EEF3F8"/>
            </a:solidFill>
            <a:prstDash val="solid"/>
          </a:ln>
        </p:spPr>
      </p:sp>
      <p:sp>
        <p:nvSpPr>
          <p:cNvPr id="4" name="Web browser circle"/>
          <p:cNvSpPr/>
          <p:nvPr/>
        </p:nvSpPr>
        <p:spPr>
          <a:xfrm>
            <a:off x="822960" y="1874520"/>
            <a:ext cx="640080" cy="640080"/>
          </a:xfrm>
          <a:prstGeom prst="ellipse">
            <a:avLst/>
          </a:prstGeom>
          <a:solidFill>
            <a:schemeClr val="accent2"/>
          </a:solidFill>
          <a:ln w="12700">
            <a:solidFill>
              <a:schemeClr val="accent2"/>
            </a:solidFill>
            <a:prstDash val="solid"/>
          </a:ln>
        </p:spPr>
      </p:sp>
      <p:pic>
        <p:nvPicPr>
          <p:cNvPr id="5" name="Web browser icon" descr="preencoded.png">    </p:cNvPr>
          <p:cNvPicPr>
            <a:picLocks noChangeAspect="1"/>
          </p:cNvPicPr>
          <p:nvPr/>
        </p:nvPicPr>
        <p:blipFill>
          <a:blip r:embed="rId1"/>
          <a:stretch>
            <a:fillRect/>
          </a:stretch>
        </p:blipFill>
        <p:spPr>
          <a:xfrm>
            <a:off x="982980" y="2034540"/>
            <a:ext cx="320040" cy="320040"/>
          </a:xfrm>
          <a:prstGeom prst="rect">
            <a:avLst/>
          </a:prstGeom>
        </p:spPr>
      </p:pic>
      <p:sp>
        <p:nvSpPr>
          <p:cNvPr id="6" name="Text 3"/>
          <p:cNvSpPr txBox="1"/>
          <p:nvPr/>
        </p:nvSpPr>
        <p:spPr>
          <a:xfrm>
            <a:off x="1600200" y="1947672"/>
            <a:ext cx="2103120" cy="502920"/>
          </a:xfrm>
          <a:prstGeom prst="rect">
            <a:avLst/>
          </a:prstGeom>
          <a:noFill/>
          <a:ln/>
        </p:spPr>
        <p:txBody>
          <a:bodyPr wrap="square" lIns="0" tIns="0" rIns="0" bIns="0" rtlCol="0" anchor="ctr"/>
          <a:lstStyle/>
          <a:p>
            <a:pPr indent="0" marL="0">
              <a:buNone/>
            </a:pPr>
            <a:r>
              <a:rPr lang="en-US" sz="1800" b="1" dirty="0">
                <a:solidFill>
                  <a:schemeClr val="tx2"/>
                </a:solidFill>
              </a:rPr>
              <a:t>Web browser</a:t>
            </a:r>
            <a:endParaRPr lang="en-US" sz="1800" dirty="0"/>
          </a:p>
        </p:txBody>
      </p:sp>
      <p:sp>
        <p:nvSpPr>
          <p:cNvPr id="7" name="Text 4"/>
          <p:cNvSpPr txBox="1"/>
          <p:nvPr/>
        </p:nvSpPr>
        <p:spPr>
          <a:xfrm>
            <a:off x="868680" y="2743200"/>
            <a:ext cx="27432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React + TypeScript</a:t>
            </a:r>
            <a:endParaRPr lang="en-US" sz="1500" dirty="0"/>
          </a:p>
          <a:p>
            <a:pPr marL="342900" indent="-342900">
              <a:spcAft>
                <a:spcPts val="600"/>
              </a:spcAft>
              <a:buSzPct val="100000"/>
              <a:buChar char="•"/>
            </a:pPr>
            <a:r>
              <a:rPr lang="en-US" sz="1500" dirty="0">
                <a:solidFill>
                  <a:schemeClr val="tx1"/>
                </a:solidFill>
              </a:rPr>
              <a:t>Three.js 3D city</a:t>
            </a:r>
            <a:endParaRPr lang="en-US" sz="1500" dirty="0"/>
          </a:p>
          <a:p>
            <a:pPr marL="342900" indent="-342900">
              <a:spcAft>
                <a:spcPts val="600"/>
              </a:spcAft>
              <a:buSzPct val="100000"/>
              <a:buChar char="•"/>
            </a:pPr>
            <a:r>
              <a:rPr lang="en-US" sz="1500" dirty="0">
                <a:solidFill>
                  <a:schemeClr val="tx1"/>
                </a:solidFill>
              </a:rPr>
              <a:t>Sign-in, panels, forms</a:t>
            </a:r>
            <a:endParaRPr lang="en-US" sz="1500" dirty="0"/>
          </a:p>
          <a:p>
            <a:pPr marL="342900" indent="-342900">
              <a:spcAft>
                <a:spcPts val="600"/>
              </a:spcAft>
              <a:buSzPct val="100000"/>
              <a:buChar char="•"/>
            </a:pPr>
            <a:r>
              <a:rPr lang="en-US" sz="1500" dirty="0">
                <a:solidFill>
                  <a:schemeClr val="tx1"/>
                </a:solidFill>
              </a:rPr>
              <a:t>Reports and AI assistant</a:t>
            </a:r>
            <a:endParaRPr lang="en-US" sz="1500" dirty="0"/>
          </a:p>
        </p:txBody>
      </p:sp>
      <p:sp>
        <p:nvSpPr>
          <p:cNvPr id="8" name="Node.js API server box"/>
          <p:cNvSpPr/>
          <p:nvPr/>
        </p:nvSpPr>
        <p:spPr>
          <a:xfrm>
            <a:off x="4526280" y="1600200"/>
            <a:ext cx="3291840" cy="2743200"/>
          </a:xfrm>
          <a:prstGeom prst="roundRect">
            <a:avLst>
              <a:gd name="adj" fmla="val 4000"/>
            </a:avLst>
          </a:prstGeom>
          <a:solidFill>
            <a:srgbClr val="EEF3F8"/>
          </a:solidFill>
          <a:ln w="12700">
            <a:solidFill>
              <a:srgbClr val="EEF3F8"/>
            </a:solidFill>
            <a:prstDash val="solid"/>
          </a:ln>
        </p:spPr>
      </p:sp>
      <p:sp>
        <p:nvSpPr>
          <p:cNvPr id="9" name="Node.js API server circle"/>
          <p:cNvSpPr/>
          <p:nvPr/>
        </p:nvSpPr>
        <p:spPr>
          <a:xfrm>
            <a:off x="4800600" y="1874520"/>
            <a:ext cx="640080" cy="640080"/>
          </a:xfrm>
          <a:prstGeom prst="ellipse">
            <a:avLst/>
          </a:prstGeom>
          <a:solidFill>
            <a:schemeClr val="accent3"/>
          </a:solidFill>
          <a:ln w="12700">
            <a:solidFill>
              <a:schemeClr val="accent3"/>
            </a:solidFill>
            <a:prstDash val="solid"/>
          </a:ln>
        </p:spPr>
      </p:sp>
      <p:pic>
        <p:nvPicPr>
          <p:cNvPr id="10" name="Node.js API server icon" descr="preencoded.png">    </p:cNvPr>
          <p:cNvPicPr>
            <a:picLocks noChangeAspect="1"/>
          </p:cNvPicPr>
          <p:nvPr/>
        </p:nvPicPr>
        <p:blipFill>
          <a:blip r:embed="rId2"/>
          <a:stretch>
            <a:fillRect/>
          </a:stretch>
        </p:blipFill>
        <p:spPr>
          <a:xfrm>
            <a:off x="4960620" y="2034540"/>
            <a:ext cx="320040" cy="320040"/>
          </a:xfrm>
          <a:prstGeom prst="rect">
            <a:avLst/>
          </a:prstGeom>
        </p:spPr>
      </p:pic>
      <p:sp>
        <p:nvSpPr>
          <p:cNvPr id="11" name="Text 7"/>
          <p:cNvSpPr txBox="1"/>
          <p:nvPr/>
        </p:nvSpPr>
        <p:spPr>
          <a:xfrm>
            <a:off x="5577840" y="1947672"/>
            <a:ext cx="2103120" cy="502920"/>
          </a:xfrm>
          <a:prstGeom prst="rect">
            <a:avLst/>
          </a:prstGeom>
          <a:noFill/>
          <a:ln/>
        </p:spPr>
        <p:txBody>
          <a:bodyPr wrap="square" lIns="0" tIns="0" rIns="0" bIns="0" rtlCol="0" anchor="ctr"/>
          <a:lstStyle/>
          <a:p>
            <a:pPr indent="0" marL="0">
              <a:buNone/>
            </a:pPr>
            <a:r>
              <a:rPr lang="en-US" sz="1800" b="1" dirty="0">
                <a:solidFill>
                  <a:schemeClr val="tx2"/>
                </a:solidFill>
              </a:rPr>
              <a:t>Node.js API server</a:t>
            </a:r>
            <a:endParaRPr lang="en-US" sz="1800" dirty="0"/>
          </a:p>
        </p:txBody>
      </p:sp>
      <p:sp>
        <p:nvSpPr>
          <p:cNvPr id="12" name="Text 8"/>
          <p:cNvSpPr txBox="1"/>
          <p:nvPr/>
        </p:nvSpPr>
        <p:spPr>
          <a:xfrm>
            <a:off x="4846320" y="2743200"/>
            <a:ext cx="27432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Sign-in and role checks</a:t>
            </a:r>
            <a:endParaRPr lang="en-US" sz="1500" dirty="0"/>
          </a:p>
          <a:p>
            <a:pPr marL="342900" indent="-342900">
              <a:spcAft>
                <a:spcPts val="600"/>
              </a:spcAft>
              <a:buSzPct val="100000"/>
              <a:buChar char="•"/>
            </a:pPr>
            <a:r>
              <a:rPr lang="en-US" sz="1500" dirty="0">
                <a:solidFill>
                  <a:schemeClr val="tx1"/>
                </a:solidFill>
              </a:rPr>
              <a:t>REST API (JSON)</a:t>
            </a:r>
            <a:endParaRPr lang="en-US" sz="1500" dirty="0"/>
          </a:p>
          <a:p>
            <a:pPr marL="342900" indent="-342900">
              <a:spcAft>
                <a:spcPts val="600"/>
              </a:spcAft>
              <a:buSzPct val="100000"/>
              <a:buChar char="•"/>
            </a:pPr>
            <a:r>
              <a:rPr lang="en-US" sz="1500" dirty="0">
                <a:solidFill>
                  <a:schemeClr val="tx1"/>
                </a:solidFill>
              </a:rPr>
              <a:t>Simulation engine</a:t>
            </a:r>
            <a:endParaRPr lang="en-US" sz="1500" dirty="0"/>
          </a:p>
          <a:p>
            <a:pPr marL="342900" indent="-342900">
              <a:spcAft>
                <a:spcPts val="600"/>
              </a:spcAft>
              <a:buSzPct val="100000"/>
              <a:buChar char="•"/>
            </a:pPr>
            <a:r>
              <a:rPr lang="en-US" sz="1500" dirty="0">
                <a:solidFill>
                  <a:schemeClr val="tx1"/>
                </a:solidFill>
              </a:rPr>
              <a:t>Live stream (SSE)</a:t>
            </a:r>
            <a:endParaRPr lang="en-US" sz="1500" dirty="0"/>
          </a:p>
        </p:txBody>
      </p:sp>
      <p:sp>
        <p:nvSpPr>
          <p:cNvPr id="13" name="Oracle Database 23ai box"/>
          <p:cNvSpPr/>
          <p:nvPr/>
        </p:nvSpPr>
        <p:spPr>
          <a:xfrm>
            <a:off x="8503920" y="1600200"/>
            <a:ext cx="3291840" cy="2743200"/>
          </a:xfrm>
          <a:prstGeom prst="roundRect">
            <a:avLst>
              <a:gd name="adj" fmla="val 4000"/>
            </a:avLst>
          </a:prstGeom>
          <a:solidFill>
            <a:srgbClr val="FDF1E7"/>
          </a:solidFill>
          <a:ln w="25400">
            <a:solidFill>
              <a:srgbClr val="E8792B"/>
            </a:solidFill>
            <a:prstDash val="solid"/>
          </a:ln>
        </p:spPr>
      </p:sp>
      <p:sp>
        <p:nvSpPr>
          <p:cNvPr id="14" name="Oracle Database 23ai circle"/>
          <p:cNvSpPr/>
          <p:nvPr/>
        </p:nvSpPr>
        <p:spPr>
          <a:xfrm>
            <a:off x="8778240" y="1874520"/>
            <a:ext cx="640080" cy="640080"/>
          </a:xfrm>
          <a:prstGeom prst="ellipse">
            <a:avLst/>
          </a:prstGeom>
          <a:solidFill>
            <a:schemeClr val="accent1"/>
          </a:solidFill>
          <a:ln w="12700">
            <a:solidFill>
              <a:schemeClr val="accent1"/>
            </a:solidFill>
            <a:prstDash val="solid"/>
          </a:ln>
        </p:spPr>
      </p:sp>
      <p:pic>
        <p:nvPicPr>
          <p:cNvPr id="15" name="Oracle Database 23ai icon" descr="preencoded.png">    </p:cNvPr>
          <p:cNvPicPr>
            <a:picLocks noChangeAspect="1"/>
          </p:cNvPicPr>
          <p:nvPr/>
        </p:nvPicPr>
        <p:blipFill>
          <a:blip r:embed="rId3"/>
          <a:stretch>
            <a:fillRect/>
          </a:stretch>
        </p:blipFill>
        <p:spPr>
          <a:xfrm>
            <a:off x="8938260" y="2034540"/>
            <a:ext cx="320040" cy="320040"/>
          </a:xfrm>
          <a:prstGeom prst="rect">
            <a:avLst/>
          </a:prstGeom>
        </p:spPr>
      </p:pic>
      <p:sp>
        <p:nvSpPr>
          <p:cNvPr id="16" name="Text 11"/>
          <p:cNvSpPr txBox="1"/>
          <p:nvPr/>
        </p:nvSpPr>
        <p:spPr>
          <a:xfrm>
            <a:off x="9555480" y="1947672"/>
            <a:ext cx="2103120" cy="502920"/>
          </a:xfrm>
          <a:prstGeom prst="rect">
            <a:avLst/>
          </a:prstGeom>
          <a:noFill/>
          <a:ln/>
        </p:spPr>
        <p:txBody>
          <a:bodyPr wrap="square" lIns="0" tIns="0" rIns="0" bIns="0" rtlCol="0" anchor="ctr"/>
          <a:lstStyle/>
          <a:p>
            <a:pPr indent="0" marL="0">
              <a:buNone/>
            </a:pPr>
            <a:r>
              <a:rPr lang="en-US" sz="1800" b="1" dirty="0">
                <a:solidFill>
                  <a:schemeClr val="tx2"/>
                </a:solidFill>
              </a:rPr>
              <a:t>Oracle Database 23ai</a:t>
            </a:r>
            <a:endParaRPr lang="en-US" sz="1800" dirty="0"/>
          </a:p>
        </p:txBody>
      </p:sp>
      <p:sp>
        <p:nvSpPr>
          <p:cNvPr id="17" name="Text 12"/>
          <p:cNvSpPr txBox="1"/>
          <p:nvPr/>
        </p:nvSpPr>
        <p:spPr>
          <a:xfrm>
            <a:off x="8823960" y="2743200"/>
            <a:ext cx="27432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64 tables, 27 views</a:t>
            </a:r>
            <a:endParaRPr lang="en-US" sz="1500" dirty="0"/>
          </a:p>
          <a:p>
            <a:pPr marL="342900" indent="-342900">
              <a:spcAft>
                <a:spcPts val="600"/>
              </a:spcAft>
              <a:buSzPct val="100000"/>
              <a:buChar char="•"/>
            </a:pPr>
            <a:r>
              <a:rPr lang="en-US" sz="1500" dirty="0">
                <a:solidFill>
                  <a:schemeClr val="tx1"/>
                </a:solidFill>
              </a:rPr>
              <a:t>10 PL/SQL packages</a:t>
            </a:r>
            <a:endParaRPr lang="en-US" sz="1500" dirty="0"/>
          </a:p>
          <a:p>
            <a:pPr marL="342900" indent="-342900">
              <a:spcAft>
                <a:spcPts val="600"/>
              </a:spcAft>
              <a:buSzPct val="100000"/>
              <a:buChar char="•"/>
            </a:pPr>
            <a:r>
              <a:rPr lang="en-US" sz="1500" dirty="0">
                <a:solidFill>
                  <a:schemeClr val="tx1"/>
                </a:solidFill>
              </a:rPr>
              <a:t>26 triggers</a:t>
            </a:r>
            <a:endParaRPr lang="en-US" sz="1500" dirty="0"/>
          </a:p>
          <a:p>
            <a:pPr marL="342900" indent="-342900">
              <a:spcAft>
                <a:spcPts val="600"/>
              </a:spcAft>
              <a:buSzPct val="100000"/>
              <a:buChar char="•"/>
            </a:pPr>
            <a:r>
              <a:rPr lang="en-US" sz="1500" dirty="0">
                <a:solidFill>
                  <a:schemeClr val="tx1"/>
                </a:solidFill>
              </a:rPr>
              <a:t>Flashback, VPD, blockchain</a:t>
            </a:r>
            <a:endParaRPr lang="en-US" sz="1500" dirty="0"/>
          </a:p>
        </p:txBody>
      </p:sp>
      <p:sp>
        <p:nvSpPr>
          <p:cNvPr id="18" name="Arrow browser to server"/>
          <p:cNvSpPr/>
          <p:nvPr/>
        </p:nvSpPr>
        <p:spPr>
          <a:xfrm>
            <a:off x="3858768" y="2606040"/>
            <a:ext cx="649224" cy="0"/>
          </a:xfrm>
          <a:prstGeom prst="line">
            <a:avLst/>
          </a:prstGeom>
          <a:noFill/>
          <a:ln w="19050">
            <a:solidFill>
              <a:srgbClr val="6B7A8F"/>
            </a:solidFill>
            <a:prstDash val="solid"/>
            <a:tailEnd type="triangle"/>
          </a:ln>
        </p:spPr>
      </p:sp>
      <p:sp>
        <p:nvSpPr>
          <p:cNvPr id="19" name="Text 14"/>
          <p:cNvSpPr txBox="1"/>
          <p:nvPr/>
        </p:nvSpPr>
        <p:spPr>
          <a:xfrm>
            <a:off x="3858768" y="2276856"/>
            <a:ext cx="649224" cy="274320"/>
          </a:xfrm>
          <a:prstGeom prst="rect">
            <a:avLst/>
          </a:prstGeom>
          <a:noFill/>
          <a:ln/>
        </p:spPr>
        <p:txBody>
          <a:bodyPr wrap="square" lIns="0" tIns="0" rIns="0" bIns="0" rtlCol="0" anchor="t"/>
          <a:lstStyle/>
          <a:p>
            <a:pPr algn="ctr" indent="0" marL="0">
              <a:buNone/>
            </a:pPr>
            <a:r>
              <a:rPr lang="en-US" sz="1200" dirty="0">
                <a:solidFill>
                  <a:schemeClr val="accent5"/>
                </a:solidFill>
              </a:rPr>
              <a:t>requests</a:t>
            </a:r>
            <a:endParaRPr lang="en-US" sz="1200" dirty="0"/>
          </a:p>
        </p:txBody>
      </p:sp>
      <p:sp>
        <p:nvSpPr>
          <p:cNvPr id="20" name="Arrow server to browser"/>
          <p:cNvSpPr/>
          <p:nvPr/>
        </p:nvSpPr>
        <p:spPr>
          <a:xfrm>
            <a:off x="3858768" y="3337560"/>
            <a:ext cx="649224" cy="0"/>
          </a:xfrm>
          <a:prstGeom prst="line">
            <a:avLst/>
          </a:prstGeom>
          <a:noFill/>
          <a:ln w="19050">
            <a:solidFill>
              <a:srgbClr val="6B7A8F"/>
            </a:solidFill>
            <a:prstDash val="solid"/>
            <a:headEnd type="triangle"/>
          </a:ln>
        </p:spPr>
      </p:sp>
      <p:sp>
        <p:nvSpPr>
          <p:cNvPr id="21" name="Text 16"/>
          <p:cNvSpPr txBox="1"/>
          <p:nvPr/>
        </p:nvSpPr>
        <p:spPr>
          <a:xfrm>
            <a:off x="3858768" y="3410712"/>
            <a:ext cx="649224" cy="274320"/>
          </a:xfrm>
          <a:prstGeom prst="rect">
            <a:avLst/>
          </a:prstGeom>
          <a:noFill/>
          <a:ln/>
        </p:spPr>
        <p:txBody>
          <a:bodyPr wrap="square" lIns="0" tIns="0" rIns="0" bIns="0" rtlCol="0" anchor="t"/>
          <a:lstStyle/>
          <a:p>
            <a:pPr algn="ctr" indent="0" marL="0">
              <a:buNone/>
            </a:pPr>
            <a:r>
              <a:rPr lang="en-US" sz="1200" dirty="0">
                <a:solidFill>
                  <a:schemeClr val="accent5"/>
                </a:solidFill>
              </a:rPr>
              <a:t>live data</a:t>
            </a:r>
            <a:endParaRPr lang="en-US" sz="1200" dirty="0"/>
          </a:p>
        </p:txBody>
      </p:sp>
      <p:sp>
        <p:nvSpPr>
          <p:cNvPr id="22" name="Arrow server to Oracle"/>
          <p:cNvSpPr/>
          <p:nvPr/>
        </p:nvSpPr>
        <p:spPr>
          <a:xfrm>
            <a:off x="7836408" y="2606040"/>
            <a:ext cx="649224" cy="0"/>
          </a:xfrm>
          <a:prstGeom prst="line">
            <a:avLst/>
          </a:prstGeom>
          <a:noFill/>
          <a:ln w="19050">
            <a:solidFill>
              <a:srgbClr val="6B7A8F"/>
            </a:solidFill>
            <a:prstDash val="solid"/>
            <a:tailEnd type="triangle"/>
          </a:ln>
        </p:spPr>
      </p:sp>
      <p:sp>
        <p:nvSpPr>
          <p:cNvPr id="23" name="Text 18"/>
          <p:cNvSpPr txBox="1"/>
          <p:nvPr/>
        </p:nvSpPr>
        <p:spPr>
          <a:xfrm>
            <a:off x="7836408" y="2276856"/>
            <a:ext cx="649224" cy="274320"/>
          </a:xfrm>
          <a:prstGeom prst="rect">
            <a:avLst/>
          </a:prstGeom>
          <a:noFill/>
          <a:ln/>
        </p:spPr>
        <p:txBody>
          <a:bodyPr wrap="square" lIns="0" tIns="0" rIns="0" bIns="0" rtlCol="0" anchor="t"/>
          <a:lstStyle/>
          <a:p>
            <a:pPr algn="ctr" indent="0" marL="0">
              <a:buNone/>
            </a:pPr>
            <a:r>
              <a:rPr lang="en-US" sz="1200" dirty="0">
                <a:solidFill>
                  <a:schemeClr val="accent5"/>
                </a:solidFill>
              </a:rPr>
              <a:t>SQL</a:t>
            </a:r>
            <a:endParaRPr lang="en-US" sz="1200" dirty="0"/>
          </a:p>
        </p:txBody>
      </p:sp>
      <p:sp>
        <p:nvSpPr>
          <p:cNvPr id="24" name="Arrow Oracle to server"/>
          <p:cNvSpPr/>
          <p:nvPr/>
        </p:nvSpPr>
        <p:spPr>
          <a:xfrm>
            <a:off x="7836408" y="3337560"/>
            <a:ext cx="649224" cy="0"/>
          </a:xfrm>
          <a:prstGeom prst="line">
            <a:avLst/>
          </a:prstGeom>
          <a:noFill/>
          <a:ln w="19050">
            <a:solidFill>
              <a:srgbClr val="6B7A8F"/>
            </a:solidFill>
            <a:prstDash val="solid"/>
            <a:headEnd type="triangle"/>
          </a:ln>
        </p:spPr>
      </p:sp>
      <p:sp>
        <p:nvSpPr>
          <p:cNvPr id="25" name="Text 20"/>
          <p:cNvSpPr txBox="1"/>
          <p:nvPr/>
        </p:nvSpPr>
        <p:spPr>
          <a:xfrm>
            <a:off x="7836408" y="3410712"/>
            <a:ext cx="649224" cy="274320"/>
          </a:xfrm>
          <a:prstGeom prst="rect">
            <a:avLst/>
          </a:prstGeom>
          <a:noFill/>
          <a:ln/>
        </p:spPr>
        <p:txBody>
          <a:bodyPr wrap="square" lIns="0" tIns="0" rIns="0" bIns="0" rtlCol="0" anchor="t"/>
          <a:lstStyle/>
          <a:p>
            <a:pPr algn="ctr" indent="0" marL="0">
              <a:buNone/>
            </a:pPr>
            <a:r>
              <a:rPr lang="en-US" sz="1200" dirty="0">
                <a:solidFill>
                  <a:schemeClr val="accent5"/>
                </a:solidFill>
              </a:rPr>
              <a:t>rows</a:t>
            </a:r>
            <a:endParaRPr lang="en-US" sz="1200" dirty="0"/>
          </a:p>
        </p:txBody>
      </p:sp>
      <p:sp>
        <p:nvSpPr>
          <p:cNvPr id="26" name="Arrow tools to Oracle"/>
          <p:cNvSpPr/>
          <p:nvPr/>
        </p:nvSpPr>
        <p:spPr>
          <a:xfrm>
            <a:off x="10149840" y="4361688"/>
            <a:ext cx="0" cy="457200"/>
          </a:xfrm>
          <a:prstGeom prst="line">
            <a:avLst/>
          </a:prstGeom>
          <a:noFill/>
          <a:ln w="19050">
            <a:solidFill>
              <a:srgbClr val="6B7A8F"/>
            </a:solidFill>
            <a:prstDash val="solid"/>
            <a:headEnd type="triangle"/>
          </a:ln>
        </p:spPr>
      </p:sp>
      <p:sp>
        <p:nvSpPr>
          <p:cNvPr id="27" name="SQL Developer box"/>
          <p:cNvSpPr/>
          <p:nvPr/>
        </p:nvSpPr>
        <p:spPr>
          <a:xfrm>
            <a:off x="8869680" y="4846320"/>
            <a:ext cx="2560320" cy="685800"/>
          </a:xfrm>
          <a:prstGeom prst="roundRect">
            <a:avLst>
              <a:gd name="adj" fmla="val 16000"/>
            </a:avLst>
          </a:prstGeom>
          <a:solidFill>
            <a:schemeClr val="bg2"/>
          </a:solidFill>
          <a:ln w="12700">
            <a:solidFill>
              <a:schemeClr val="bg2"/>
            </a:solidFill>
            <a:prstDash val="solid"/>
          </a:ln>
        </p:spPr>
      </p:sp>
      <p:sp>
        <p:nvSpPr>
          <p:cNvPr id="28" name="Text 23"/>
          <p:cNvSpPr txBox="1"/>
          <p:nvPr/>
        </p:nvSpPr>
        <p:spPr>
          <a:xfrm>
            <a:off x="9006840" y="4846320"/>
            <a:ext cx="2286000" cy="685800"/>
          </a:xfrm>
          <a:prstGeom prst="rect">
            <a:avLst/>
          </a:prstGeom>
          <a:noFill/>
          <a:ln/>
        </p:spPr>
        <p:txBody>
          <a:bodyPr wrap="square" lIns="0" tIns="0" rIns="0" bIns="0" rtlCol="0" anchor="ctr"/>
          <a:lstStyle/>
          <a:p>
            <a:pPr algn="ctr" indent="0" marL="0">
              <a:buNone/>
            </a:pPr>
            <a:r>
              <a:rPr lang="en-US" sz="1400" b="1" dirty="0">
                <a:solidFill>
                  <a:schemeClr val="tx2"/>
                </a:solidFill>
              </a:rPr>
              <a:t>SQL Developer and other apps</a:t>
            </a:r>
            <a:endParaRPr lang="en-US" sz="1400" dirty="0"/>
          </a:p>
        </p:txBody>
      </p:sp>
      <p:sp>
        <p:nvSpPr>
          <p:cNvPr id="29" name="Text 24"/>
          <p:cNvSpPr txBox="1"/>
          <p:nvPr/>
        </p:nvSpPr>
        <p:spPr>
          <a:xfrm>
            <a:off x="548640" y="4892040"/>
            <a:ext cx="6949440" cy="685800"/>
          </a:xfrm>
          <a:prstGeom prst="rect">
            <a:avLst/>
          </a:prstGeom>
          <a:noFill/>
          <a:ln/>
        </p:spPr>
        <p:txBody>
          <a:bodyPr wrap="square" lIns="0" tIns="0" rIns="0" bIns="0" rtlCol="0" anchor="t"/>
          <a:lstStyle/>
          <a:p>
            <a:pPr indent="0" marL="0">
              <a:buNone/>
            </a:pPr>
            <a:r>
              <a:rPr lang="en-US" sz="1500" dirty="0">
                <a:solidFill>
                  <a:schemeClr val="accent5"/>
                </a:solidFill>
              </a:rPr>
              <a:t>The browser never talks to the database directly. Because the rules live in Oracle, other tools can read the same tables live.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Technology stack</a:t>
            </a:r>
            <a:endParaRPr lang="en-US" sz="3400" dirty="0"/>
          </a:p>
        </p:txBody>
      </p:sp>
      <p:sp>
        <p:nvSpPr>
          <p:cNvPr id="3" name="Oracle Database 23ai card"/>
          <p:cNvSpPr/>
          <p:nvPr/>
        </p:nvSpPr>
        <p:spPr>
          <a:xfrm>
            <a:off x="548640" y="1417320"/>
            <a:ext cx="2606040" cy="2103120"/>
          </a:xfrm>
          <a:prstGeom prst="roundRect">
            <a:avLst>
              <a:gd name="adj" fmla="val 5217"/>
            </a:avLst>
          </a:prstGeom>
          <a:solidFill>
            <a:schemeClr val="bg2"/>
          </a:solidFill>
          <a:ln w="12700">
            <a:solidFill>
              <a:schemeClr val="bg2"/>
            </a:solidFill>
            <a:prstDash val="solid"/>
          </a:ln>
        </p:spPr>
      </p:sp>
      <p:sp>
        <p:nvSpPr>
          <p:cNvPr id="4" name="Oracle Database 23ai circle"/>
          <p:cNvSpPr/>
          <p:nvPr/>
        </p:nvSpPr>
        <p:spPr>
          <a:xfrm>
            <a:off x="822960" y="1691640"/>
            <a:ext cx="685800" cy="685800"/>
          </a:xfrm>
          <a:prstGeom prst="ellipse">
            <a:avLst/>
          </a:prstGeom>
          <a:solidFill>
            <a:schemeClr val="accent1"/>
          </a:solidFill>
          <a:ln w="12700">
            <a:solidFill>
              <a:schemeClr val="accent1"/>
            </a:solidFill>
            <a:prstDash val="solid"/>
          </a:ln>
        </p:spPr>
      </p:sp>
      <p:pic>
        <p:nvPicPr>
          <p:cNvPr id="5" name="Oracle Database 23ai icon" descr="preencoded.png">    </p:cNvPr>
          <p:cNvPicPr>
            <a:picLocks noChangeAspect="1"/>
          </p:cNvPicPr>
          <p:nvPr/>
        </p:nvPicPr>
        <p:blipFill>
          <a:blip r:embed="rId1"/>
          <a:stretch>
            <a:fillRect/>
          </a:stretch>
        </p:blipFill>
        <p:spPr>
          <a:xfrm>
            <a:off x="994410" y="1863090"/>
            <a:ext cx="342900" cy="342900"/>
          </a:xfrm>
          <a:prstGeom prst="rect">
            <a:avLst/>
          </a:prstGeom>
        </p:spPr>
      </p:pic>
      <p:sp>
        <p:nvSpPr>
          <p:cNvPr id="6" name="Text 3"/>
          <p:cNvSpPr txBox="1"/>
          <p:nvPr/>
        </p:nvSpPr>
        <p:spPr>
          <a:xfrm>
            <a:off x="822960" y="2514600"/>
            <a:ext cx="2148840" cy="457200"/>
          </a:xfrm>
          <a:prstGeom prst="rect">
            <a:avLst/>
          </a:prstGeom>
          <a:noFill/>
          <a:ln/>
        </p:spPr>
        <p:txBody>
          <a:bodyPr wrap="square" lIns="0" tIns="0" rIns="0" bIns="0" rtlCol="0" anchor="t"/>
          <a:lstStyle/>
          <a:p>
            <a:pPr indent="0" marL="0">
              <a:buNone/>
            </a:pPr>
            <a:r>
              <a:rPr lang="en-US" sz="1600" b="1" dirty="0">
                <a:solidFill>
                  <a:schemeClr val="tx2"/>
                </a:solidFill>
              </a:rPr>
              <a:t>Oracle Database 23ai</a:t>
            </a:r>
            <a:endParaRPr lang="en-US" sz="1600" dirty="0"/>
          </a:p>
        </p:txBody>
      </p:sp>
      <p:sp>
        <p:nvSpPr>
          <p:cNvPr id="7" name="Text 4"/>
          <p:cNvSpPr txBox="1"/>
          <p:nvPr/>
        </p:nvSpPr>
        <p:spPr>
          <a:xfrm>
            <a:off x="822960" y="2953512"/>
            <a:ext cx="2148840" cy="457200"/>
          </a:xfrm>
          <a:prstGeom prst="rect">
            <a:avLst/>
          </a:prstGeom>
          <a:noFill/>
          <a:ln/>
        </p:spPr>
        <p:txBody>
          <a:bodyPr wrap="square" lIns="0" tIns="0" rIns="0" bIns="0" rtlCol="0" anchor="t"/>
          <a:lstStyle/>
          <a:p>
            <a:pPr indent="0" marL="0">
              <a:buNone/>
            </a:pPr>
            <a:r>
              <a:rPr lang="en-US" sz="1300" dirty="0">
                <a:solidFill>
                  <a:schemeClr val="accent5"/>
                </a:solidFill>
              </a:rPr>
              <a:t>Data, PL/SQL, triggers, views</a:t>
            </a:r>
            <a:endParaRPr lang="en-US" sz="1300" dirty="0"/>
          </a:p>
        </p:txBody>
      </p:sp>
      <p:sp>
        <p:nvSpPr>
          <p:cNvPr id="8" name="Docker Desktop card"/>
          <p:cNvSpPr/>
          <p:nvPr/>
        </p:nvSpPr>
        <p:spPr>
          <a:xfrm>
            <a:off x="3374136" y="1417320"/>
            <a:ext cx="2606040" cy="2103120"/>
          </a:xfrm>
          <a:prstGeom prst="roundRect">
            <a:avLst>
              <a:gd name="adj" fmla="val 5217"/>
            </a:avLst>
          </a:prstGeom>
          <a:solidFill>
            <a:schemeClr val="bg2"/>
          </a:solidFill>
          <a:ln w="12700">
            <a:solidFill>
              <a:schemeClr val="bg2"/>
            </a:solidFill>
            <a:prstDash val="solid"/>
          </a:ln>
        </p:spPr>
      </p:sp>
      <p:sp>
        <p:nvSpPr>
          <p:cNvPr id="9" name="Docker Desktop circle"/>
          <p:cNvSpPr/>
          <p:nvPr/>
        </p:nvSpPr>
        <p:spPr>
          <a:xfrm>
            <a:off x="3648456" y="1691640"/>
            <a:ext cx="685800" cy="685800"/>
          </a:xfrm>
          <a:prstGeom prst="ellipse">
            <a:avLst/>
          </a:prstGeom>
          <a:solidFill>
            <a:schemeClr val="accent2"/>
          </a:solidFill>
          <a:ln w="12700">
            <a:solidFill>
              <a:schemeClr val="accent2"/>
            </a:solidFill>
            <a:prstDash val="solid"/>
          </a:ln>
        </p:spPr>
      </p:sp>
      <p:pic>
        <p:nvPicPr>
          <p:cNvPr id="10" name="Docker Desktop icon" descr="preencoded.png">    </p:cNvPr>
          <p:cNvPicPr>
            <a:picLocks noChangeAspect="1"/>
          </p:cNvPicPr>
          <p:nvPr/>
        </p:nvPicPr>
        <p:blipFill>
          <a:blip r:embed="rId2"/>
          <a:stretch>
            <a:fillRect/>
          </a:stretch>
        </p:blipFill>
        <p:spPr>
          <a:xfrm>
            <a:off x="3819906" y="1863090"/>
            <a:ext cx="342900" cy="342900"/>
          </a:xfrm>
          <a:prstGeom prst="rect">
            <a:avLst/>
          </a:prstGeom>
        </p:spPr>
      </p:pic>
      <p:sp>
        <p:nvSpPr>
          <p:cNvPr id="11" name="Text 7"/>
          <p:cNvSpPr txBox="1"/>
          <p:nvPr/>
        </p:nvSpPr>
        <p:spPr>
          <a:xfrm>
            <a:off x="3648456" y="2514600"/>
            <a:ext cx="2148840" cy="457200"/>
          </a:xfrm>
          <a:prstGeom prst="rect">
            <a:avLst/>
          </a:prstGeom>
          <a:noFill/>
          <a:ln/>
        </p:spPr>
        <p:txBody>
          <a:bodyPr wrap="square" lIns="0" tIns="0" rIns="0" bIns="0" rtlCol="0" anchor="t"/>
          <a:lstStyle/>
          <a:p>
            <a:pPr indent="0" marL="0">
              <a:buNone/>
            </a:pPr>
            <a:r>
              <a:rPr lang="en-US" sz="1600" b="1" dirty="0">
                <a:solidFill>
                  <a:schemeClr val="tx2"/>
                </a:solidFill>
              </a:rPr>
              <a:t>Docker Desktop</a:t>
            </a:r>
            <a:endParaRPr lang="en-US" sz="1600" dirty="0"/>
          </a:p>
        </p:txBody>
      </p:sp>
      <p:sp>
        <p:nvSpPr>
          <p:cNvPr id="12" name="Text 8"/>
          <p:cNvSpPr txBox="1"/>
          <p:nvPr/>
        </p:nvSpPr>
        <p:spPr>
          <a:xfrm>
            <a:off x="3648456" y="2953512"/>
            <a:ext cx="2148840" cy="457200"/>
          </a:xfrm>
          <a:prstGeom prst="rect">
            <a:avLst/>
          </a:prstGeom>
          <a:noFill/>
          <a:ln/>
        </p:spPr>
        <p:txBody>
          <a:bodyPr wrap="square" lIns="0" tIns="0" rIns="0" bIns="0" rtlCol="0" anchor="t"/>
          <a:lstStyle/>
          <a:p>
            <a:pPr indent="0" marL="0">
              <a:buNone/>
            </a:pPr>
            <a:r>
              <a:rPr lang="en-US" sz="1300" dirty="0">
                <a:solidFill>
                  <a:schemeClr val="accent5"/>
                </a:solidFill>
              </a:rPr>
              <a:t>Runs Oracle on macOS</a:t>
            </a:r>
            <a:endParaRPr lang="en-US" sz="1300" dirty="0"/>
          </a:p>
        </p:txBody>
      </p:sp>
      <p:sp>
        <p:nvSpPr>
          <p:cNvPr id="13" name="SQL Developer card"/>
          <p:cNvSpPr/>
          <p:nvPr/>
        </p:nvSpPr>
        <p:spPr>
          <a:xfrm>
            <a:off x="6199632" y="1417320"/>
            <a:ext cx="2606040" cy="2103120"/>
          </a:xfrm>
          <a:prstGeom prst="roundRect">
            <a:avLst>
              <a:gd name="adj" fmla="val 5217"/>
            </a:avLst>
          </a:prstGeom>
          <a:solidFill>
            <a:schemeClr val="bg2"/>
          </a:solidFill>
          <a:ln w="12700">
            <a:solidFill>
              <a:schemeClr val="bg2"/>
            </a:solidFill>
            <a:prstDash val="solid"/>
          </a:ln>
        </p:spPr>
      </p:sp>
      <p:sp>
        <p:nvSpPr>
          <p:cNvPr id="14" name="SQL Developer circle"/>
          <p:cNvSpPr/>
          <p:nvPr/>
        </p:nvSpPr>
        <p:spPr>
          <a:xfrm>
            <a:off x="6473952" y="1691640"/>
            <a:ext cx="685800" cy="685800"/>
          </a:xfrm>
          <a:prstGeom prst="ellipse">
            <a:avLst/>
          </a:prstGeom>
          <a:solidFill>
            <a:schemeClr val="accent3"/>
          </a:solidFill>
          <a:ln w="12700">
            <a:solidFill>
              <a:schemeClr val="accent3"/>
            </a:solidFill>
            <a:prstDash val="solid"/>
          </a:ln>
        </p:spPr>
      </p:sp>
      <p:pic>
        <p:nvPicPr>
          <p:cNvPr id="15" name="SQL Developer icon" descr="preencoded.png">    </p:cNvPr>
          <p:cNvPicPr>
            <a:picLocks noChangeAspect="1"/>
          </p:cNvPicPr>
          <p:nvPr/>
        </p:nvPicPr>
        <p:blipFill>
          <a:blip r:embed="rId3"/>
          <a:stretch>
            <a:fillRect/>
          </a:stretch>
        </p:blipFill>
        <p:spPr>
          <a:xfrm>
            <a:off x="6645402" y="1863090"/>
            <a:ext cx="342900" cy="342900"/>
          </a:xfrm>
          <a:prstGeom prst="rect">
            <a:avLst/>
          </a:prstGeom>
        </p:spPr>
      </p:pic>
      <p:sp>
        <p:nvSpPr>
          <p:cNvPr id="16" name="Text 11"/>
          <p:cNvSpPr txBox="1"/>
          <p:nvPr/>
        </p:nvSpPr>
        <p:spPr>
          <a:xfrm>
            <a:off x="6473952" y="2514600"/>
            <a:ext cx="2148840" cy="457200"/>
          </a:xfrm>
          <a:prstGeom prst="rect">
            <a:avLst/>
          </a:prstGeom>
          <a:noFill/>
          <a:ln/>
        </p:spPr>
        <p:txBody>
          <a:bodyPr wrap="square" lIns="0" tIns="0" rIns="0" bIns="0" rtlCol="0" anchor="t"/>
          <a:lstStyle/>
          <a:p>
            <a:pPr indent="0" marL="0">
              <a:buNone/>
            </a:pPr>
            <a:r>
              <a:rPr lang="en-US" sz="1600" b="1" dirty="0">
                <a:solidFill>
                  <a:schemeClr val="tx2"/>
                </a:solidFill>
              </a:rPr>
              <a:t>SQL Developer</a:t>
            </a:r>
            <a:endParaRPr lang="en-US" sz="1600" dirty="0"/>
          </a:p>
        </p:txBody>
      </p:sp>
      <p:sp>
        <p:nvSpPr>
          <p:cNvPr id="17" name="Text 12"/>
          <p:cNvSpPr txBox="1"/>
          <p:nvPr/>
        </p:nvSpPr>
        <p:spPr>
          <a:xfrm>
            <a:off x="6473952" y="2953512"/>
            <a:ext cx="2148840" cy="457200"/>
          </a:xfrm>
          <a:prstGeom prst="rect">
            <a:avLst/>
          </a:prstGeom>
          <a:noFill/>
          <a:ln/>
        </p:spPr>
        <p:txBody>
          <a:bodyPr wrap="square" lIns="0" tIns="0" rIns="0" bIns="0" rtlCol="0" anchor="t"/>
          <a:lstStyle/>
          <a:p>
            <a:pPr indent="0" marL="0">
              <a:buNone/>
            </a:pPr>
            <a:r>
              <a:rPr lang="en-US" sz="1300" dirty="0">
                <a:solidFill>
                  <a:schemeClr val="accent5"/>
                </a:solidFill>
              </a:rPr>
              <a:t>Browse tables, run reports</a:t>
            </a:r>
            <a:endParaRPr lang="en-US" sz="1300" dirty="0"/>
          </a:p>
        </p:txBody>
      </p:sp>
      <p:sp>
        <p:nvSpPr>
          <p:cNvPr id="18" name="Node.js + node-oracledb card"/>
          <p:cNvSpPr/>
          <p:nvPr/>
        </p:nvSpPr>
        <p:spPr>
          <a:xfrm>
            <a:off x="9025128" y="1417320"/>
            <a:ext cx="2606040" cy="2103120"/>
          </a:xfrm>
          <a:prstGeom prst="roundRect">
            <a:avLst>
              <a:gd name="adj" fmla="val 5217"/>
            </a:avLst>
          </a:prstGeom>
          <a:solidFill>
            <a:schemeClr val="bg2"/>
          </a:solidFill>
          <a:ln w="12700">
            <a:solidFill>
              <a:schemeClr val="bg2"/>
            </a:solidFill>
            <a:prstDash val="solid"/>
          </a:ln>
        </p:spPr>
      </p:sp>
      <p:sp>
        <p:nvSpPr>
          <p:cNvPr id="19" name="Node.js + node-oracledb circle"/>
          <p:cNvSpPr/>
          <p:nvPr/>
        </p:nvSpPr>
        <p:spPr>
          <a:xfrm>
            <a:off x="9299448" y="1691640"/>
            <a:ext cx="685800" cy="685800"/>
          </a:xfrm>
          <a:prstGeom prst="ellipse">
            <a:avLst/>
          </a:prstGeom>
          <a:solidFill>
            <a:schemeClr val="accent3"/>
          </a:solidFill>
          <a:ln w="12700">
            <a:solidFill>
              <a:schemeClr val="accent3"/>
            </a:solidFill>
            <a:prstDash val="solid"/>
          </a:ln>
        </p:spPr>
      </p:sp>
      <p:pic>
        <p:nvPicPr>
          <p:cNvPr id="20" name="Node.js + node-oracledb icon" descr="preencoded.png">    </p:cNvPr>
          <p:cNvPicPr>
            <a:picLocks noChangeAspect="1"/>
          </p:cNvPicPr>
          <p:nvPr/>
        </p:nvPicPr>
        <p:blipFill>
          <a:blip r:embed="rId4"/>
          <a:stretch>
            <a:fillRect/>
          </a:stretch>
        </p:blipFill>
        <p:spPr>
          <a:xfrm>
            <a:off x="9470898" y="1863090"/>
            <a:ext cx="342900" cy="342900"/>
          </a:xfrm>
          <a:prstGeom prst="rect">
            <a:avLst/>
          </a:prstGeom>
        </p:spPr>
      </p:pic>
      <p:sp>
        <p:nvSpPr>
          <p:cNvPr id="21" name="Text 15"/>
          <p:cNvSpPr txBox="1"/>
          <p:nvPr/>
        </p:nvSpPr>
        <p:spPr>
          <a:xfrm>
            <a:off x="9299448" y="2514600"/>
            <a:ext cx="2148840" cy="457200"/>
          </a:xfrm>
          <a:prstGeom prst="rect">
            <a:avLst/>
          </a:prstGeom>
          <a:noFill/>
          <a:ln/>
        </p:spPr>
        <p:txBody>
          <a:bodyPr wrap="square" lIns="0" tIns="0" rIns="0" bIns="0" rtlCol="0" anchor="t"/>
          <a:lstStyle/>
          <a:p>
            <a:pPr indent="0" marL="0">
              <a:buNone/>
            </a:pPr>
            <a:r>
              <a:rPr lang="en-US" sz="1600" b="1" dirty="0">
                <a:solidFill>
                  <a:schemeClr val="tx2"/>
                </a:solidFill>
              </a:rPr>
              <a:t>Node.js + node-oracledb</a:t>
            </a:r>
            <a:endParaRPr lang="en-US" sz="1600" dirty="0"/>
          </a:p>
        </p:txBody>
      </p:sp>
      <p:sp>
        <p:nvSpPr>
          <p:cNvPr id="22" name="Text 16"/>
          <p:cNvSpPr txBox="1"/>
          <p:nvPr/>
        </p:nvSpPr>
        <p:spPr>
          <a:xfrm>
            <a:off x="9299448" y="2953512"/>
            <a:ext cx="2148840" cy="457200"/>
          </a:xfrm>
          <a:prstGeom prst="rect">
            <a:avLst/>
          </a:prstGeom>
          <a:noFill/>
          <a:ln/>
        </p:spPr>
        <p:txBody>
          <a:bodyPr wrap="square" lIns="0" tIns="0" rIns="0" bIns="0" rtlCol="0" anchor="t"/>
          <a:lstStyle/>
          <a:p>
            <a:pPr indent="0" marL="0">
              <a:buNone/>
            </a:pPr>
            <a:r>
              <a:rPr lang="en-US" sz="1300" dirty="0">
                <a:solidFill>
                  <a:schemeClr val="accent5"/>
                </a:solidFill>
              </a:rPr>
              <a:t>API server, Thin mode driver</a:t>
            </a:r>
            <a:endParaRPr lang="en-US" sz="1300" dirty="0"/>
          </a:p>
        </p:txBody>
      </p:sp>
      <p:sp>
        <p:nvSpPr>
          <p:cNvPr id="23" name="React 18 + TypeScript card"/>
          <p:cNvSpPr/>
          <p:nvPr/>
        </p:nvSpPr>
        <p:spPr>
          <a:xfrm>
            <a:off x="548640" y="3840480"/>
            <a:ext cx="2606040" cy="2103120"/>
          </a:xfrm>
          <a:prstGeom prst="roundRect">
            <a:avLst>
              <a:gd name="adj" fmla="val 5217"/>
            </a:avLst>
          </a:prstGeom>
          <a:solidFill>
            <a:schemeClr val="bg2"/>
          </a:solidFill>
          <a:ln w="12700">
            <a:solidFill>
              <a:schemeClr val="bg2"/>
            </a:solidFill>
            <a:prstDash val="solid"/>
          </a:ln>
        </p:spPr>
      </p:sp>
      <p:sp>
        <p:nvSpPr>
          <p:cNvPr id="24" name="React 18 + TypeScript circle"/>
          <p:cNvSpPr/>
          <p:nvPr/>
        </p:nvSpPr>
        <p:spPr>
          <a:xfrm>
            <a:off x="822960" y="4114800"/>
            <a:ext cx="685800" cy="685800"/>
          </a:xfrm>
          <a:prstGeom prst="ellipse">
            <a:avLst/>
          </a:prstGeom>
          <a:solidFill>
            <a:schemeClr val="accent2"/>
          </a:solidFill>
          <a:ln w="12700">
            <a:solidFill>
              <a:schemeClr val="accent2"/>
            </a:solidFill>
            <a:prstDash val="solid"/>
          </a:ln>
        </p:spPr>
      </p:sp>
      <p:pic>
        <p:nvPicPr>
          <p:cNvPr id="25" name="React 18 + TypeScript icon" descr="preencoded.png">    </p:cNvPr>
          <p:cNvPicPr>
            <a:picLocks noChangeAspect="1"/>
          </p:cNvPicPr>
          <p:nvPr/>
        </p:nvPicPr>
        <p:blipFill>
          <a:blip r:embed="rId5"/>
          <a:stretch>
            <a:fillRect/>
          </a:stretch>
        </p:blipFill>
        <p:spPr>
          <a:xfrm>
            <a:off x="994410" y="4286250"/>
            <a:ext cx="342900" cy="342900"/>
          </a:xfrm>
          <a:prstGeom prst="rect">
            <a:avLst/>
          </a:prstGeom>
        </p:spPr>
      </p:pic>
      <p:sp>
        <p:nvSpPr>
          <p:cNvPr id="26" name="Text 19"/>
          <p:cNvSpPr txBox="1"/>
          <p:nvPr/>
        </p:nvSpPr>
        <p:spPr>
          <a:xfrm>
            <a:off x="822960" y="4937760"/>
            <a:ext cx="2148840" cy="457200"/>
          </a:xfrm>
          <a:prstGeom prst="rect">
            <a:avLst/>
          </a:prstGeom>
          <a:noFill/>
          <a:ln/>
        </p:spPr>
        <p:txBody>
          <a:bodyPr wrap="square" lIns="0" tIns="0" rIns="0" bIns="0" rtlCol="0" anchor="t"/>
          <a:lstStyle/>
          <a:p>
            <a:pPr indent="0" marL="0">
              <a:buNone/>
            </a:pPr>
            <a:r>
              <a:rPr lang="en-US" sz="1600" b="1" dirty="0">
                <a:solidFill>
                  <a:schemeClr val="tx2"/>
                </a:solidFill>
              </a:rPr>
              <a:t>React 18 + TypeScript</a:t>
            </a:r>
            <a:endParaRPr lang="en-US" sz="1600" dirty="0"/>
          </a:p>
        </p:txBody>
      </p:sp>
      <p:sp>
        <p:nvSpPr>
          <p:cNvPr id="27" name="Text 20"/>
          <p:cNvSpPr txBox="1"/>
          <p:nvPr/>
        </p:nvSpPr>
        <p:spPr>
          <a:xfrm>
            <a:off x="822960" y="5376672"/>
            <a:ext cx="2148840" cy="457200"/>
          </a:xfrm>
          <a:prstGeom prst="rect">
            <a:avLst/>
          </a:prstGeom>
          <a:noFill/>
          <a:ln/>
        </p:spPr>
        <p:txBody>
          <a:bodyPr wrap="square" lIns="0" tIns="0" rIns="0" bIns="0" rtlCol="0" anchor="t"/>
          <a:lstStyle/>
          <a:p>
            <a:pPr indent="0" marL="0">
              <a:buNone/>
            </a:pPr>
            <a:r>
              <a:rPr lang="en-US" sz="1300" dirty="0">
                <a:solidFill>
                  <a:schemeClr val="accent5"/>
                </a:solidFill>
              </a:rPr>
              <a:t>Screens, panels and forms</a:t>
            </a:r>
            <a:endParaRPr lang="en-US" sz="1300" dirty="0"/>
          </a:p>
        </p:txBody>
      </p:sp>
      <p:sp>
        <p:nvSpPr>
          <p:cNvPr id="28" name="Three.js card"/>
          <p:cNvSpPr/>
          <p:nvPr/>
        </p:nvSpPr>
        <p:spPr>
          <a:xfrm>
            <a:off x="3374136" y="3840480"/>
            <a:ext cx="2606040" cy="2103120"/>
          </a:xfrm>
          <a:prstGeom prst="roundRect">
            <a:avLst>
              <a:gd name="adj" fmla="val 5217"/>
            </a:avLst>
          </a:prstGeom>
          <a:solidFill>
            <a:schemeClr val="bg2"/>
          </a:solidFill>
          <a:ln w="12700">
            <a:solidFill>
              <a:schemeClr val="bg2"/>
            </a:solidFill>
            <a:prstDash val="solid"/>
          </a:ln>
        </p:spPr>
      </p:sp>
      <p:sp>
        <p:nvSpPr>
          <p:cNvPr id="29" name="Three.js circle"/>
          <p:cNvSpPr/>
          <p:nvPr/>
        </p:nvSpPr>
        <p:spPr>
          <a:xfrm>
            <a:off x="3648456" y="4114800"/>
            <a:ext cx="685800" cy="685800"/>
          </a:xfrm>
          <a:prstGeom prst="ellipse">
            <a:avLst/>
          </a:prstGeom>
          <a:solidFill>
            <a:schemeClr val="accent1"/>
          </a:solidFill>
          <a:ln w="12700">
            <a:solidFill>
              <a:schemeClr val="accent1"/>
            </a:solidFill>
            <a:prstDash val="solid"/>
          </a:ln>
        </p:spPr>
      </p:sp>
      <p:pic>
        <p:nvPicPr>
          <p:cNvPr id="30" name="Three.js icon" descr="preencoded.png">    </p:cNvPr>
          <p:cNvPicPr>
            <a:picLocks noChangeAspect="1"/>
          </p:cNvPicPr>
          <p:nvPr/>
        </p:nvPicPr>
        <p:blipFill>
          <a:blip r:embed="rId6"/>
          <a:stretch>
            <a:fillRect/>
          </a:stretch>
        </p:blipFill>
        <p:spPr>
          <a:xfrm>
            <a:off x="3819906" y="4286250"/>
            <a:ext cx="342900" cy="342900"/>
          </a:xfrm>
          <a:prstGeom prst="rect">
            <a:avLst/>
          </a:prstGeom>
        </p:spPr>
      </p:pic>
      <p:sp>
        <p:nvSpPr>
          <p:cNvPr id="31" name="Text 23"/>
          <p:cNvSpPr txBox="1"/>
          <p:nvPr/>
        </p:nvSpPr>
        <p:spPr>
          <a:xfrm>
            <a:off x="3648456" y="4937760"/>
            <a:ext cx="2148840" cy="457200"/>
          </a:xfrm>
          <a:prstGeom prst="rect">
            <a:avLst/>
          </a:prstGeom>
          <a:noFill/>
          <a:ln/>
        </p:spPr>
        <p:txBody>
          <a:bodyPr wrap="square" lIns="0" tIns="0" rIns="0" bIns="0" rtlCol="0" anchor="t"/>
          <a:lstStyle/>
          <a:p>
            <a:pPr indent="0" marL="0">
              <a:buNone/>
            </a:pPr>
            <a:r>
              <a:rPr lang="en-US" sz="1600" b="1" dirty="0">
                <a:solidFill>
                  <a:schemeClr val="tx2"/>
                </a:solidFill>
              </a:rPr>
              <a:t>Three.js</a:t>
            </a:r>
            <a:endParaRPr lang="en-US" sz="1600" dirty="0"/>
          </a:p>
        </p:txBody>
      </p:sp>
      <p:sp>
        <p:nvSpPr>
          <p:cNvPr id="32" name="Text 24"/>
          <p:cNvSpPr txBox="1"/>
          <p:nvPr/>
        </p:nvSpPr>
        <p:spPr>
          <a:xfrm>
            <a:off x="3648456" y="5376672"/>
            <a:ext cx="2148840" cy="457200"/>
          </a:xfrm>
          <a:prstGeom prst="rect">
            <a:avLst/>
          </a:prstGeom>
          <a:noFill/>
          <a:ln/>
        </p:spPr>
        <p:txBody>
          <a:bodyPr wrap="square" lIns="0" tIns="0" rIns="0" bIns="0" rtlCol="0" anchor="t"/>
          <a:lstStyle/>
          <a:p>
            <a:pPr indent="0" marL="0">
              <a:buNone/>
            </a:pPr>
            <a:r>
              <a:rPr lang="en-US" sz="1300" dirty="0">
                <a:solidFill>
                  <a:schemeClr val="accent5"/>
                </a:solidFill>
              </a:rPr>
              <a:t>The interactive 3D city</a:t>
            </a:r>
            <a:endParaRPr lang="en-US" sz="1300" dirty="0"/>
          </a:p>
        </p:txBody>
      </p:sp>
      <p:sp>
        <p:nvSpPr>
          <p:cNvPr id="33" name="Server-Sent Events card"/>
          <p:cNvSpPr/>
          <p:nvPr/>
        </p:nvSpPr>
        <p:spPr>
          <a:xfrm>
            <a:off x="6199632" y="3840480"/>
            <a:ext cx="2606040" cy="2103120"/>
          </a:xfrm>
          <a:prstGeom prst="roundRect">
            <a:avLst>
              <a:gd name="adj" fmla="val 5217"/>
            </a:avLst>
          </a:prstGeom>
          <a:solidFill>
            <a:schemeClr val="bg2"/>
          </a:solidFill>
          <a:ln w="12700">
            <a:solidFill>
              <a:schemeClr val="bg2"/>
            </a:solidFill>
            <a:prstDash val="solid"/>
          </a:ln>
        </p:spPr>
      </p:sp>
      <p:sp>
        <p:nvSpPr>
          <p:cNvPr id="34" name="Server-Sent Events circle"/>
          <p:cNvSpPr/>
          <p:nvPr/>
        </p:nvSpPr>
        <p:spPr>
          <a:xfrm>
            <a:off x="6473952" y="4114800"/>
            <a:ext cx="685800" cy="685800"/>
          </a:xfrm>
          <a:prstGeom prst="ellipse">
            <a:avLst/>
          </a:prstGeom>
          <a:solidFill>
            <a:schemeClr val="accent6"/>
          </a:solidFill>
          <a:ln w="12700">
            <a:solidFill>
              <a:schemeClr val="accent6"/>
            </a:solidFill>
            <a:prstDash val="solid"/>
          </a:ln>
        </p:spPr>
      </p:sp>
      <p:pic>
        <p:nvPicPr>
          <p:cNvPr id="35" name="Server-Sent Events icon" descr="preencoded.png">    </p:cNvPr>
          <p:cNvPicPr>
            <a:picLocks noChangeAspect="1"/>
          </p:cNvPicPr>
          <p:nvPr/>
        </p:nvPicPr>
        <p:blipFill>
          <a:blip r:embed="rId7"/>
          <a:stretch>
            <a:fillRect/>
          </a:stretch>
        </p:blipFill>
        <p:spPr>
          <a:xfrm>
            <a:off x="6645402" y="4286250"/>
            <a:ext cx="342900" cy="342900"/>
          </a:xfrm>
          <a:prstGeom prst="rect">
            <a:avLst/>
          </a:prstGeom>
        </p:spPr>
      </p:pic>
      <p:sp>
        <p:nvSpPr>
          <p:cNvPr id="36" name="Text 27"/>
          <p:cNvSpPr txBox="1"/>
          <p:nvPr/>
        </p:nvSpPr>
        <p:spPr>
          <a:xfrm>
            <a:off x="6473952" y="4937760"/>
            <a:ext cx="2148840" cy="457200"/>
          </a:xfrm>
          <a:prstGeom prst="rect">
            <a:avLst/>
          </a:prstGeom>
          <a:noFill/>
          <a:ln/>
        </p:spPr>
        <p:txBody>
          <a:bodyPr wrap="square" lIns="0" tIns="0" rIns="0" bIns="0" rtlCol="0" anchor="t"/>
          <a:lstStyle/>
          <a:p>
            <a:pPr indent="0" marL="0">
              <a:buNone/>
            </a:pPr>
            <a:r>
              <a:rPr lang="en-US" sz="1600" b="1" dirty="0">
                <a:solidFill>
                  <a:schemeClr val="tx2"/>
                </a:solidFill>
              </a:rPr>
              <a:t>Server-Sent Events</a:t>
            </a:r>
            <a:endParaRPr lang="en-US" sz="1600" dirty="0"/>
          </a:p>
        </p:txBody>
      </p:sp>
      <p:sp>
        <p:nvSpPr>
          <p:cNvPr id="37" name="Text 28"/>
          <p:cNvSpPr txBox="1"/>
          <p:nvPr/>
        </p:nvSpPr>
        <p:spPr>
          <a:xfrm>
            <a:off x="6473952" y="5376672"/>
            <a:ext cx="2148840" cy="457200"/>
          </a:xfrm>
          <a:prstGeom prst="rect">
            <a:avLst/>
          </a:prstGeom>
          <a:noFill/>
          <a:ln/>
        </p:spPr>
        <p:txBody>
          <a:bodyPr wrap="square" lIns="0" tIns="0" rIns="0" bIns="0" rtlCol="0" anchor="t"/>
          <a:lstStyle/>
          <a:p>
            <a:pPr indent="0" marL="0">
              <a:buNone/>
            </a:pPr>
            <a:r>
              <a:rPr lang="en-US" sz="1300" dirty="0">
                <a:solidFill>
                  <a:schemeClr val="accent5"/>
                </a:solidFill>
              </a:rPr>
              <a:t>Live updates every second</a:t>
            </a:r>
            <a:endParaRPr lang="en-US" sz="1300" dirty="0"/>
          </a:p>
        </p:txBody>
      </p:sp>
      <p:sp>
        <p:nvSpPr>
          <p:cNvPr id="38" name="scrypt + signed tokens card"/>
          <p:cNvSpPr/>
          <p:nvPr/>
        </p:nvSpPr>
        <p:spPr>
          <a:xfrm>
            <a:off x="9025128" y="3840480"/>
            <a:ext cx="2606040" cy="2103120"/>
          </a:xfrm>
          <a:prstGeom prst="roundRect">
            <a:avLst>
              <a:gd name="adj" fmla="val 5217"/>
            </a:avLst>
          </a:prstGeom>
          <a:solidFill>
            <a:schemeClr val="bg2"/>
          </a:solidFill>
          <a:ln w="12700">
            <a:solidFill>
              <a:schemeClr val="bg2"/>
            </a:solidFill>
            <a:prstDash val="solid"/>
          </a:ln>
        </p:spPr>
      </p:sp>
      <p:sp>
        <p:nvSpPr>
          <p:cNvPr id="39" name="scrypt + signed tokens circle"/>
          <p:cNvSpPr/>
          <p:nvPr/>
        </p:nvSpPr>
        <p:spPr>
          <a:xfrm>
            <a:off x="9299448" y="4114800"/>
            <a:ext cx="685800" cy="685800"/>
          </a:xfrm>
          <a:prstGeom prst="ellipse">
            <a:avLst/>
          </a:prstGeom>
          <a:solidFill>
            <a:schemeClr val="accent4"/>
          </a:solidFill>
          <a:ln w="12700">
            <a:solidFill>
              <a:schemeClr val="accent4"/>
            </a:solidFill>
            <a:prstDash val="solid"/>
          </a:ln>
        </p:spPr>
      </p:sp>
      <p:pic>
        <p:nvPicPr>
          <p:cNvPr id="40" name="scrypt + signed tokens icon" descr="preencoded.png">    </p:cNvPr>
          <p:cNvPicPr>
            <a:picLocks noChangeAspect="1"/>
          </p:cNvPicPr>
          <p:nvPr/>
        </p:nvPicPr>
        <p:blipFill>
          <a:blip r:embed="rId8"/>
          <a:stretch>
            <a:fillRect/>
          </a:stretch>
        </p:blipFill>
        <p:spPr>
          <a:xfrm>
            <a:off x="9470898" y="4286250"/>
            <a:ext cx="342900" cy="342900"/>
          </a:xfrm>
          <a:prstGeom prst="rect">
            <a:avLst/>
          </a:prstGeom>
        </p:spPr>
      </p:pic>
      <p:sp>
        <p:nvSpPr>
          <p:cNvPr id="41" name="Text 31"/>
          <p:cNvSpPr txBox="1"/>
          <p:nvPr/>
        </p:nvSpPr>
        <p:spPr>
          <a:xfrm>
            <a:off x="9299448" y="4937760"/>
            <a:ext cx="2148840" cy="457200"/>
          </a:xfrm>
          <a:prstGeom prst="rect">
            <a:avLst/>
          </a:prstGeom>
          <a:noFill/>
          <a:ln/>
        </p:spPr>
        <p:txBody>
          <a:bodyPr wrap="square" lIns="0" tIns="0" rIns="0" bIns="0" rtlCol="0" anchor="t"/>
          <a:lstStyle/>
          <a:p>
            <a:pPr indent="0" marL="0">
              <a:buNone/>
            </a:pPr>
            <a:r>
              <a:rPr lang="en-US" sz="1600" b="1" dirty="0">
                <a:solidFill>
                  <a:schemeClr val="tx2"/>
                </a:solidFill>
              </a:rPr>
              <a:t>scrypt + signed tokens</a:t>
            </a:r>
            <a:endParaRPr lang="en-US" sz="1600" dirty="0"/>
          </a:p>
        </p:txBody>
      </p:sp>
      <p:sp>
        <p:nvSpPr>
          <p:cNvPr id="42" name="Text 32"/>
          <p:cNvSpPr txBox="1"/>
          <p:nvPr/>
        </p:nvSpPr>
        <p:spPr>
          <a:xfrm>
            <a:off x="9299448" y="5376672"/>
            <a:ext cx="2148840" cy="457200"/>
          </a:xfrm>
          <a:prstGeom prst="rect">
            <a:avLst/>
          </a:prstGeom>
          <a:noFill/>
          <a:ln/>
        </p:spPr>
        <p:txBody>
          <a:bodyPr wrap="square" lIns="0" tIns="0" rIns="0" bIns="0" rtlCol="0" anchor="t"/>
          <a:lstStyle/>
          <a:p>
            <a:pPr indent="0" marL="0">
              <a:buNone/>
            </a:pPr>
            <a:r>
              <a:rPr lang="en-US" sz="1300" dirty="0">
                <a:solidFill>
                  <a:schemeClr val="accent5"/>
                </a:solidFill>
              </a:rPr>
              <a:t>Passwords and sessions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database at a glance</a:t>
            </a:r>
            <a:endParaRPr lang="en-US" sz="3400" dirty="0"/>
          </a:p>
        </p:txBody>
      </p:sp>
      <p:sp>
        <p:nvSpPr>
          <p:cNvPr id="3" name="tables stat card"/>
          <p:cNvSpPr/>
          <p:nvPr/>
        </p:nvSpPr>
        <p:spPr>
          <a:xfrm>
            <a:off x="548640" y="1417320"/>
            <a:ext cx="3520440" cy="1920240"/>
          </a:xfrm>
          <a:prstGeom prst="roundRect">
            <a:avLst>
              <a:gd name="adj" fmla="val 5714"/>
            </a:avLst>
          </a:prstGeom>
          <a:solidFill>
            <a:srgbClr val="0B1F3A"/>
          </a:solidFill>
          <a:ln w="12700">
            <a:solidFill>
              <a:srgbClr val="0B1F3A"/>
            </a:solidFill>
            <a:prstDash val="solid"/>
          </a:ln>
        </p:spPr>
      </p:sp>
      <p:sp>
        <p:nvSpPr>
          <p:cNvPr id="4" name="Text 2"/>
          <p:cNvSpPr txBox="1"/>
          <p:nvPr/>
        </p:nvSpPr>
        <p:spPr>
          <a:xfrm>
            <a:off x="868680" y="1645920"/>
            <a:ext cx="2880360" cy="10058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64</a:t>
            </a:r>
            <a:endParaRPr lang="en-US" sz="6000" dirty="0"/>
          </a:p>
        </p:txBody>
      </p:sp>
      <p:sp>
        <p:nvSpPr>
          <p:cNvPr id="5" name="Text 3"/>
          <p:cNvSpPr txBox="1"/>
          <p:nvPr/>
        </p:nvSpPr>
        <p:spPr>
          <a:xfrm>
            <a:off x="868680" y="2651760"/>
            <a:ext cx="2880360" cy="457200"/>
          </a:xfrm>
          <a:prstGeom prst="rect">
            <a:avLst/>
          </a:prstGeom>
          <a:noFill/>
          <a:ln/>
        </p:spPr>
        <p:txBody>
          <a:bodyPr wrap="square" lIns="0" tIns="0" rIns="0" bIns="0" rtlCol="0" anchor="t"/>
          <a:lstStyle/>
          <a:p>
            <a:pPr indent="0" marL="0">
              <a:buNone/>
            </a:pPr>
            <a:r>
              <a:rPr lang="en-US" sz="1800" dirty="0">
                <a:solidFill>
                  <a:schemeClr val="bg1"/>
                </a:solidFill>
              </a:rPr>
              <a:t>tables</a:t>
            </a:r>
            <a:endParaRPr lang="en-US" sz="1800" dirty="0"/>
          </a:p>
        </p:txBody>
      </p:sp>
      <p:sp>
        <p:nvSpPr>
          <p:cNvPr id="6" name="views stat card"/>
          <p:cNvSpPr/>
          <p:nvPr/>
        </p:nvSpPr>
        <p:spPr>
          <a:xfrm>
            <a:off x="4425696" y="1417320"/>
            <a:ext cx="3520440" cy="1920240"/>
          </a:xfrm>
          <a:prstGeom prst="roundRect">
            <a:avLst>
              <a:gd name="adj" fmla="val 5714"/>
            </a:avLst>
          </a:prstGeom>
          <a:solidFill>
            <a:srgbClr val="EEF3F8"/>
          </a:solidFill>
          <a:ln w="12700">
            <a:solidFill>
              <a:srgbClr val="EEF3F8"/>
            </a:solidFill>
            <a:prstDash val="solid"/>
          </a:ln>
        </p:spPr>
      </p:sp>
      <p:sp>
        <p:nvSpPr>
          <p:cNvPr id="7" name="Text 5"/>
          <p:cNvSpPr txBox="1"/>
          <p:nvPr/>
        </p:nvSpPr>
        <p:spPr>
          <a:xfrm>
            <a:off x="4745736" y="1645920"/>
            <a:ext cx="2880360" cy="1005840"/>
          </a:xfrm>
          <a:prstGeom prst="rect">
            <a:avLst/>
          </a:prstGeom>
          <a:noFill/>
          <a:ln/>
        </p:spPr>
        <p:txBody>
          <a:bodyPr wrap="square" lIns="0" tIns="0" rIns="0" bIns="0" rtlCol="0" anchor="t"/>
          <a:lstStyle/>
          <a:p>
            <a:pPr indent="0" marL="0">
              <a:buNone/>
            </a:pPr>
            <a:r>
              <a:rPr lang="en-US" sz="6000" b="1" dirty="0">
                <a:solidFill>
                  <a:schemeClr val="tx2"/>
                </a:solidFill>
                <a:latin typeface="Cambria" pitchFamily="34" charset="0"/>
                <a:ea typeface="Cambria" pitchFamily="34" charset="-122"/>
                <a:cs typeface="Cambria" pitchFamily="34" charset="-120"/>
              </a:rPr>
              <a:t>27</a:t>
            </a:r>
            <a:endParaRPr lang="en-US" sz="6000" dirty="0"/>
          </a:p>
        </p:txBody>
      </p:sp>
      <p:sp>
        <p:nvSpPr>
          <p:cNvPr id="8" name="Text 6"/>
          <p:cNvSpPr txBox="1"/>
          <p:nvPr/>
        </p:nvSpPr>
        <p:spPr>
          <a:xfrm>
            <a:off x="4745736" y="2651760"/>
            <a:ext cx="2880360" cy="457200"/>
          </a:xfrm>
          <a:prstGeom prst="rect">
            <a:avLst/>
          </a:prstGeom>
          <a:noFill/>
          <a:ln/>
        </p:spPr>
        <p:txBody>
          <a:bodyPr wrap="square" lIns="0" tIns="0" rIns="0" bIns="0" rtlCol="0" anchor="t"/>
          <a:lstStyle/>
          <a:p>
            <a:pPr indent="0" marL="0">
              <a:buNone/>
            </a:pPr>
            <a:r>
              <a:rPr lang="en-US" sz="1800" dirty="0">
                <a:solidFill>
                  <a:schemeClr val="accent5"/>
                </a:solidFill>
              </a:rPr>
              <a:t>views</a:t>
            </a:r>
            <a:endParaRPr lang="en-US" sz="1800" dirty="0"/>
          </a:p>
        </p:txBody>
      </p:sp>
      <p:sp>
        <p:nvSpPr>
          <p:cNvPr id="9" name="PL/SQL packages stat card"/>
          <p:cNvSpPr/>
          <p:nvPr/>
        </p:nvSpPr>
        <p:spPr>
          <a:xfrm>
            <a:off x="8302752" y="1417320"/>
            <a:ext cx="3520440" cy="1920240"/>
          </a:xfrm>
          <a:prstGeom prst="roundRect">
            <a:avLst>
              <a:gd name="adj" fmla="val 5714"/>
            </a:avLst>
          </a:prstGeom>
          <a:solidFill>
            <a:srgbClr val="EEF3F8"/>
          </a:solidFill>
          <a:ln w="12700">
            <a:solidFill>
              <a:srgbClr val="EEF3F8"/>
            </a:solidFill>
            <a:prstDash val="solid"/>
          </a:ln>
        </p:spPr>
      </p:sp>
      <p:sp>
        <p:nvSpPr>
          <p:cNvPr id="10" name="Text 8"/>
          <p:cNvSpPr txBox="1"/>
          <p:nvPr/>
        </p:nvSpPr>
        <p:spPr>
          <a:xfrm>
            <a:off x="8622792" y="1645920"/>
            <a:ext cx="2880360" cy="1005840"/>
          </a:xfrm>
          <a:prstGeom prst="rect">
            <a:avLst/>
          </a:prstGeom>
          <a:noFill/>
          <a:ln/>
        </p:spPr>
        <p:txBody>
          <a:bodyPr wrap="square" lIns="0" tIns="0" rIns="0" bIns="0" rtlCol="0" anchor="t"/>
          <a:lstStyle/>
          <a:p>
            <a:pPr indent="0" marL="0">
              <a:buNone/>
            </a:pPr>
            <a:r>
              <a:rPr lang="en-US" sz="6000" b="1" dirty="0">
                <a:solidFill>
                  <a:schemeClr val="tx2"/>
                </a:solidFill>
                <a:latin typeface="Cambria" pitchFamily="34" charset="0"/>
                <a:ea typeface="Cambria" pitchFamily="34" charset="-122"/>
                <a:cs typeface="Cambria" pitchFamily="34" charset="-120"/>
              </a:rPr>
              <a:t>10</a:t>
            </a:r>
            <a:endParaRPr lang="en-US" sz="6000" dirty="0"/>
          </a:p>
        </p:txBody>
      </p:sp>
      <p:sp>
        <p:nvSpPr>
          <p:cNvPr id="11" name="Text 9"/>
          <p:cNvSpPr txBox="1"/>
          <p:nvPr/>
        </p:nvSpPr>
        <p:spPr>
          <a:xfrm>
            <a:off x="8622792" y="2651760"/>
            <a:ext cx="2880360" cy="457200"/>
          </a:xfrm>
          <a:prstGeom prst="rect">
            <a:avLst/>
          </a:prstGeom>
          <a:noFill/>
          <a:ln/>
        </p:spPr>
        <p:txBody>
          <a:bodyPr wrap="square" lIns="0" tIns="0" rIns="0" bIns="0" rtlCol="0" anchor="t"/>
          <a:lstStyle/>
          <a:p>
            <a:pPr indent="0" marL="0">
              <a:buNone/>
            </a:pPr>
            <a:r>
              <a:rPr lang="en-US" sz="1800" dirty="0">
                <a:solidFill>
                  <a:schemeClr val="accent5"/>
                </a:solidFill>
              </a:rPr>
              <a:t>PL/SQL packages</a:t>
            </a:r>
            <a:endParaRPr lang="en-US" sz="1800" dirty="0"/>
          </a:p>
        </p:txBody>
      </p:sp>
      <p:sp>
        <p:nvSpPr>
          <p:cNvPr id="12" name="triggers stat card"/>
          <p:cNvSpPr/>
          <p:nvPr/>
        </p:nvSpPr>
        <p:spPr>
          <a:xfrm>
            <a:off x="548640" y="3657600"/>
            <a:ext cx="3520440" cy="1920240"/>
          </a:xfrm>
          <a:prstGeom prst="roundRect">
            <a:avLst>
              <a:gd name="adj" fmla="val 5714"/>
            </a:avLst>
          </a:prstGeom>
          <a:solidFill>
            <a:srgbClr val="EEF3F8"/>
          </a:solidFill>
          <a:ln w="12700">
            <a:solidFill>
              <a:srgbClr val="EEF3F8"/>
            </a:solidFill>
            <a:prstDash val="solid"/>
          </a:ln>
        </p:spPr>
      </p:sp>
      <p:sp>
        <p:nvSpPr>
          <p:cNvPr id="13" name="Text 11"/>
          <p:cNvSpPr txBox="1"/>
          <p:nvPr/>
        </p:nvSpPr>
        <p:spPr>
          <a:xfrm>
            <a:off x="868680" y="3886200"/>
            <a:ext cx="2880360" cy="1005840"/>
          </a:xfrm>
          <a:prstGeom prst="rect">
            <a:avLst/>
          </a:prstGeom>
          <a:noFill/>
          <a:ln/>
        </p:spPr>
        <p:txBody>
          <a:bodyPr wrap="square" lIns="0" tIns="0" rIns="0" bIns="0" rtlCol="0" anchor="t"/>
          <a:lstStyle/>
          <a:p>
            <a:pPr indent="0" marL="0">
              <a:buNone/>
            </a:pPr>
            <a:r>
              <a:rPr lang="en-US" sz="6000" b="1" dirty="0">
                <a:solidFill>
                  <a:schemeClr val="tx2"/>
                </a:solidFill>
                <a:latin typeface="Cambria" pitchFamily="34" charset="0"/>
                <a:ea typeface="Cambria" pitchFamily="34" charset="-122"/>
                <a:cs typeface="Cambria" pitchFamily="34" charset="-120"/>
              </a:rPr>
              <a:t>26</a:t>
            </a:r>
            <a:endParaRPr lang="en-US" sz="6000" dirty="0"/>
          </a:p>
        </p:txBody>
      </p:sp>
      <p:sp>
        <p:nvSpPr>
          <p:cNvPr id="14" name="Text 12"/>
          <p:cNvSpPr txBox="1"/>
          <p:nvPr/>
        </p:nvSpPr>
        <p:spPr>
          <a:xfrm>
            <a:off x="868680" y="4892040"/>
            <a:ext cx="2880360" cy="457200"/>
          </a:xfrm>
          <a:prstGeom prst="rect">
            <a:avLst/>
          </a:prstGeom>
          <a:noFill/>
          <a:ln/>
        </p:spPr>
        <p:txBody>
          <a:bodyPr wrap="square" lIns="0" tIns="0" rIns="0" bIns="0" rtlCol="0" anchor="t"/>
          <a:lstStyle/>
          <a:p>
            <a:pPr indent="0" marL="0">
              <a:buNone/>
            </a:pPr>
            <a:r>
              <a:rPr lang="en-US" sz="1800" dirty="0">
                <a:solidFill>
                  <a:schemeClr val="accent5"/>
                </a:solidFill>
              </a:rPr>
              <a:t>triggers</a:t>
            </a:r>
            <a:endParaRPr lang="en-US" sz="1800" dirty="0"/>
          </a:p>
        </p:txBody>
      </p:sp>
      <p:sp>
        <p:nvSpPr>
          <p:cNvPr id="15" name="check constraints stat card"/>
          <p:cNvSpPr/>
          <p:nvPr/>
        </p:nvSpPr>
        <p:spPr>
          <a:xfrm>
            <a:off x="4425696" y="3657600"/>
            <a:ext cx="3520440" cy="1920240"/>
          </a:xfrm>
          <a:prstGeom prst="roundRect">
            <a:avLst>
              <a:gd name="adj" fmla="val 5714"/>
            </a:avLst>
          </a:prstGeom>
          <a:solidFill>
            <a:srgbClr val="EEF3F8"/>
          </a:solidFill>
          <a:ln w="12700">
            <a:solidFill>
              <a:srgbClr val="EEF3F8"/>
            </a:solidFill>
            <a:prstDash val="solid"/>
          </a:ln>
        </p:spPr>
      </p:sp>
      <p:sp>
        <p:nvSpPr>
          <p:cNvPr id="16" name="Text 14"/>
          <p:cNvSpPr txBox="1"/>
          <p:nvPr/>
        </p:nvSpPr>
        <p:spPr>
          <a:xfrm>
            <a:off x="4745736" y="3886200"/>
            <a:ext cx="2880360" cy="1005840"/>
          </a:xfrm>
          <a:prstGeom prst="rect">
            <a:avLst/>
          </a:prstGeom>
          <a:noFill/>
          <a:ln/>
        </p:spPr>
        <p:txBody>
          <a:bodyPr wrap="square" lIns="0" tIns="0" rIns="0" bIns="0" rtlCol="0" anchor="t"/>
          <a:lstStyle/>
          <a:p>
            <a:pPr indent="0" marL="0">
              <a:buNone/>
            </a:pPr>
            <a:r>
              <a:rPr lang="en-US" sz="6000" b="1" dirty="0">
                <a:solidFill>
                  <a:schemeClr val="tx2"/>
                </a:solidFill>
                <a:latin typeface="Cambria" pitchFamily="34" charset="0"/>
                <a:ea typeface="Cambria" pitchFamily="34" charset="-122"/>
                <a:cs typeface="Cambria" pitchFamily="34" charset="-120"/>
              </a:rPr>
              <a:t>136</a:t>
            </a:r>
            <a:endParaRPr lang="en-US" sz="6000" dirty="0"/>
          </a:p>
        </p:txBody>
      </p:sp>
      <p:sp>
        <p:nvSpPr>
          <p:cNvPr id="17" name="Text 15"/>
          <p:cNvSpPr txBox="1"/>
          <p:nvPr/>
        </p:nvSpPr>
        <p:spPr>
          <a:xfrm>
            <a:off x="4745736" y="4892040"/>
            <a:ext cx="2880360" cy="457200"/>
          </a:xfrm>
          <a:prstGeom prst="rect">
            <a:avLst/>
          </a:prstGeom>
          <a:noFill/>
          <a:ln/>
        </p:spPr>
        <p:txBody>
          <a:bodyPr wrap="square" lIns="0" tIns="0" rIns="0" bIns="0" rtlCol="0" anchor="t"/>
          <a:lstStyle/>
          <a:p>
            <a:pPr indent="0" marL="0">
              <a:buNone/>
            </a:pPr>
            <a:r>
              <a:rPr lang="en-US" sz="1800" dirty="0">
                <a:solidFill>
                  <a:schemeClr val="accent5"/>
                </a:solidFill>
              </a:rPr>
              <a:t>check constraints</a:t>
            </a:r>
            <a:endParaRPr lang="en-US" sz="1800" dirty="0"/>
          </a:p>
        </p:txBody>
      </p:sp>
      <p:sp>
        <p:nvSpPr>
          <p:cNvPr id="18" name="SQL reports stat card"/>
          <p:cNvSpPr/>
          <p:nvPr/>
        </p:nvSpPr>
        <p:spPr>
          <a:xfrm>
            <a:off x="8302752" y="3657600"/>
            <a:ext cx="3520440" cy="1920240"/>
          </a:xfrm>
          <a:prstGeom prst="roundRect">
            <a:avLst>
              <a:gd name="adj" fmla="val 5714"/>
            </a:avLst>
          </a:prstGeom>
          <a:solidFill>
            <a:srgbClr val="EEF3F8"/>
          </a:solidFill>
          <a:ln w="12700">
            <a:solidFill>
              <a:srgbClr val="EEF3F8"/>
            </a:solidFill>
            <a:prstDash val="solid"/>
          </a:ln>
        </p:spPr>
      </p:sp>
      <p:sp>
        <p:nvSpPr>
          <p:cNvPr id="19" name="Text 17"/>
          <p:cNvSpPr txBox="1"/>
          <p:nvPr/>
        </p:nvSpPr>
        <p:spPr>
          <a:xfrm>
            <a:off x="8622792" y="3886200"/>
            <a:ext cx="2880360" cy="1005840"/>
          </a:xfrm>
          <a:prstGeom prst="rect">
            <a:avLst/>
          </a:prstGeom>
          <a:noFill/>
          <a:ln/>
        </p:spPr>
        <p:txBody>
          <a:bodyPr wrap="square" lIns="0" tIns="0" rIns="0" bIns="0" rtlCol="0" anchor="t"/>
          <a:lstStyle/>
          <a:p>
            <a:pPr indent="0" marL="0">
              <a:buNone/>
            </a:pPr>
            <a:r>
              <a:rPr lang="en-US" sz="6000" b="1" dirty="0">
                <a:solidFill>
                  <a:schemeClr val="tx2"/>
                </a:solidFill>
                <a:latin typeface="Cambria" pitchFamily="34" charset="0"/>
                <a:ea typeface="Cambria" pitchFamily="34" charset="-122"/>
                <a:cs typeface="Cambria" pitchFamily="34" charset="-120"/>
              </a:rPr>
              <a:t>26</a:t>
            </a:r>
            <a:endParaRPr lang="en-US" sz="6000" dirty="0"/>
          </a:p>
        </p:txBody>
      </p:sp>
      <p:sp>
        <p:nvSpPr>
          <p:cNvPr id="20" name="Text 18"/>
          <p:cNvSpPr txBox="1"/>
          <p:nvPr/>
        </p:nvSpPr>
        <p:spPr>
          <a:xfrm>
            <a:off x="8622792" y="4892040"/>
            <a:ext cx="2880360" cy="457200"/>
          </a:xfrm>
          <a:prstGeom prst="rect">
            <a:avLst/>
          </a:prstGeom>
          <a:noFill/>
          <a:ln/>
        </p:spPr>
        <p:txBody>
          <a:bodyPr wrap="square" lIns="0" tIns="0" rIns="0" bIns="0" rtlCol="0" anchor="t"/>
          <a:lstStyle/>
          <a:p>
            <a:pPr indent="0" marL="0">
              <a:buNone/>
            </a:pPr>
            <a:r>
              <a:rPr lang="en-US" sz="1800" dirty="0">
                <a:solidFill>
                  <a:schemeClr val="accent5"/>
                </a:solidFill>
              </a:rPr>
              <a:t>SQL reports</a:t>
            </a:r>
            <a:endParaRPr lang="en-US" sz="1800" dirty="0"/>
          </a:p>
        </p:txBody>
      </p:sp>
      <p:sp>
        <p:nvSpPr>
          <p:cNvPr id="21" name="Text 19"/>
          <p:cNvSpPr txBox="1"/>
          <p:nvPr/>
        </p:nvSpPr>
        <p:spPr>
          <a:xfrm>
            <a:off x="548640" y="5715000"/>
            <a:ext cx="11094415" cy="411480"/>
          </a:xfrm>
          <a:prstGeom prst="rect">
            <a:avLst/>
          </a:prstGeom>
          <a:noFill/>
          <a:ln/>
        </p:spPr>
        <p:txBody>
          <a:bodyPr wrap="square" lIns="0" tIns="0" rIns="0" bIns="0" rtlCol="0" anchor="t"/>
          <a:lstStyle/>
          <a:p>
            <a:pPr indent="0" marL="0">
              <a:buNone/>
            </a:pPr>
            <a:r>
              <a:rPr lang="en-US" sz="1500" dirty="0">
                <a:solidFill>
                  <a:schemeClr val="accent5"/>
                </a:solidFill>
              </a:rPr>
              <a:t>Every table has a primary key; foreign keys link related tables; identity and virtual columns fill values automatically.</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Nine areas, 44 core tables</a:t>
            </a:r>
            <a:endParaRPr lang="en-US" sz="3400" dirty="0"/>
          </a:p>
        </p:txBody>
      </p:sp>
      <p:sp>
        <p:nvSpPr>
          <p:cNvPr id="3" name="Security area card"/>
          <p:cNvSpPr/>
          <p:nvPr/>
        </p:nvSpPr>
        <p:spPr>
          <a:xfrm>
            <a:off x="548640" y="1371600"/>
            <a:ext cx="3520440" cy="1417320"/>
          </a:xfrm>
          <a:prstGeom prst="roundRect">
            <a:avLst>
              <a:gd name="adj" fmla="val 7742"/>
            </a:avLst>
          </a:prstGeom>
          <a:solidFill>
            <a:schemeClr val="bg2"/>
          </a:solidFill>
          <a:ln w="12700">
            <a:solidFill>
              <a:schemeClr val="bg2"/>
            </a:solidFill>
            <a:prstDash val="solid"/>
          </a:ln>
        </p:spPr>
      </p:sp>
      <p:sp>
        <p:nvSpPr>
          <p:cNvPr id="4" name="Security dot"/>
          <p:cNvSpPr/>
          <p:nvPr/>
        </p:nvSpPr>
        <p:spPr>
          <a:xfrm>
            <a:off x="804672" y="1627632"/>
            <a:ext cx="201168" cy="201168"/>
          </a:xfrm>
          <a:prstGeom prst="ellipse">
            <a:avLst/>
          </a:prstGeom>
          <a:solidFill>
            <a:schemeClr val="accent4"/>
          </a:solidFill>
          <a:ln w="12700">
            <a:solidFill>
              <a:schemeClr val="accent4"/>
            </a:solidFill>
            <a:prstDash val="solid"/>
          </a:ln>
        </p:spPr>
      </p:sp>
      <p:sp>
        <p:nvSpPr>
          <p:cNvPr id="5" name="Text 3"/>
          <p:cNvSpPr txBox="1"/>
          <p:nvPr/>
        </p:nvSpPr>
        <p:spPr>
          <a:xfrm>
            <a:off x="1115568" y="1536192"/>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Security</a:t>
            </a:r>
            <a:endParaRPr lang="en-US" sz="1700" dirty="0"/>
          </a:p>
        </p:txBody>
      </p:sp>
      <p:sp>
        <p:nvSpPr>
          <p:cNvPr id="6" name="Text 4"/>
          <p:cNvSpPr txBox="1"/>
          <p:nvPr/>
        </p:nvSpPr>
        <p:spPr>
          <a:xfrm>
            <a:off x="804672" y="1975104"/>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roles · permissions · role_permissions · app_users · user_sessions · user_facility_access</a:t>
            </a:r>
            <a:endParaRPr lang="en-US" sz="1200" dirty="0"/>
          </a:p>
        </p:txBody>
      </p:sp>
      <p:sp>
        <p:nvSpPr>
          <p:cNvPr id="7" name="People area card"/>
          <p:cNvSpPr/>
          <p:nvPr/>
        </p:nvSpPr>
        <p:spPr>
          <a:xfrm>
            <a:off x="4425696" y="1371600"/>
            <a:ext cx="3520440" cy="1417320"/>
          </a:xfrm>
          <a:prstGeom prst="roundRect">
            <a:avLst>
              <a:gd name="adj" fmla="val 7742"/>
            </a:avLst>
          </a:prstGeom>
          <a:solidFill>
            <a:schemeClr val="bg2"/>
          </a:solidFill>
          <a:ln w="12700">
            <a:solidFill>
              <a:schemeClr val="bg2"/>
            </a:solidFill>
            <a:prstDash val="solid"/>
          </a:ln>
        </p:spPr>
      </p:sp>
      <p:sp>
        <p:nvSpPr>
          <p:cNvPr id="8" name="People dot"/>
          <p:cNvSpPr/>
          <p:nvPr/>
        </p:nvSpPr>
        <p:spPr>
          <a:xfrm>
            <a:off x="4681728" y="1627632"/>
            <a:ext cx="201168" cy="201168"/>
          </a:xfrm>
          <a:prstGeom prst="ellipse">
            <a:avLst/>
          </a:prstGeom>
          <a:solidFill>
            <a:schemeClr val="accent5"/>
          </a:solidFill>
          <a:ln w="12700">
            <a:solidFill>
              <a:schemeClr val="accent5"/>
            </a:solidFill>
            <a:prstDash val="solid"/>
          </a:ln>
        </p:spPr>
      </p:sp>
      <p:sp>
        <p:nvSpPr>
          <p:cNvPr id="9" name="Text 7"/>
          <p:cNvSpPr txBox="1"/>
          <p:nvPr/>
        </p:nvSpPr>
        <p:spPr>
          <a:xfrm>
            <a:off x="4992624" y="1536192"/>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People</a:t>
            </a:r>
            <a:endParaRPr lang="en-US" sz="1700" dirty="0"/>
          </a:p>
        </p:txBody>
      </p:sp>
      <p:sp>
        <p:nvSpPr>
          <p:cNvPr id="10" name="Text 8"/>
          <p:cNvSpPr txBox="1"/>
          <p:nvPr/>
        </p:nvSpPr>
        <p:spPr>
          <a:xfrm>
            <a:off x="4681728" y="1975104"/>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employees · job_titles</a:t>
            </a:r>
            <a:endParaRPr lang="en-US" sz="1200" dirty="0"/>
          </a:p>
        </p:txBody>
      </p:sp>
      <p:sp>
        <p:nvSpPr>
          <p:cNvPr id="11" name="Sites area card"/>
          <p:cNvSpPr/>
          <p:nvPr/>
        </p:nvSpPr>
        <p:spPr>
          <a:xfrm>
            <a:off x="8302752" y="1371600"/>
            <a:ext cx="3520440" cy="1417320"/>
          </a:xfrm>
          <a:prstGeom prst="roundRect">
            <a:avLst>
              <a:gd name="adj" fmla="val 7742"/>
            </a:avLst>
          </a:prstGeom>
          <a:solidFill>
            <a:schemeClr val="bg2"/>
          </a:solidFill>
          <a:ln w="12700">
            <a:solidFill>
              <a:schemeClr val="bg2"/>
            </a:solidFill>
            <a:prstDash val="solid"/>
          </a:ln>
        </p:spPr>
      </p:sp>
      <p:sp>
        <p:nvSpPr>
          <p:cNvPr id="12" name="Sites dot"/>
          <p:cNvSpPr/>
          <p:nvPr/>
        </p:nvSpPr>
        <p:spPr>
          <a:xfrm>
            <a:off x="8558784" y="1627632"/>
            <a:ext cx="201168" cy="201168"/>
          </a:xfrm>
          <a:prstGeom prst="ellipse">
            <a:avLst/>
          </a:prstGeom>
          <a:solidFill>
            <a:schemeClr val="accent2"/>
          </a:solidFill>
          <a:ln w="12700">
            <a:solidFill>
              <a:schemeClr val="accent2"/>
            </a:solidFill>
            <a:prstDash val="solid"/>
          </a:ln>
        </p:spPr>
      </p:sp>
      <p:sp>
        <p:nvSpPr>
          <p:cNvPr id="13" name="Text 11"/>
          <p:cNvSpPr txBox="1"/>
          <p:nvPr/>
        </p:nvSpPr>
        <p:spPr>
          <a:xfrm>
            <a:off x="8869680" y="1536192"/>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Sites</a:t>
            </a:r>
            <a:endParaRPr lang="en-US" sz="1700" dirty="0"/>
          </a:p>
        </p:txBody>
      </p:sp>
      <p:sp>
        <p:nvSpPr>
          <p:cNvPr id="14" name="Text 12"/>
          <p:cNvSpPr txBox="1"/>
          <p:nvPr/>
        </p:nvSpPr>
        <p:spPr>
          <a:xfrm>
            <a:off x="8558784" y="1975104"/>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facilities · docks · chargers</a:t>
            </a:r>
            <a:endParaRPr lang="en-US" sz="1200" dirty="0"/>
          </a:p>
        </p:txBody>
      </p:sp>
      <p:sp>
        <p:nvSpPr>
          <p:cNvPr id="15" name="Stock area card"/>
          <p:cNvSpPr/>
          <p:nvPr/>
        </p:nvSpPr>
        <p:spPr>
          <a:xfrm>
            <a:off x="548640" y="2990088"/>
            <a:ext cx="3520440" cy="1417320"/>
          </a:xfrm>
          <a:prstGeom prst="roundRect">
            <a:avLst>
              <a:gd name="adj" fmla="val 7742"/>
            </a:avLst>
          </a:prstGeom>
          <a:solidFill>
            <a:schemeClr val="bg2"/>
          </a:solidFill>
          <a:ln w="12700">
            <a:solidFill>
              <a:schemeClr val="bg2"/>
            </a:solidFill>
            <a:prstDash val="solid"/>
          </a:ln>
        </p:spPr>
      </p:sp>
      <p:sp>
        <p:nvSpPr>
          <p:cNvPr id="16" name="Stock dot"/>
          <p:cNvSpPr/>
          <p:nvPr/>
        </p:nvSpPr>
        <p:spPr>
          <a:xfrm>
            <a:off x="804672" y="3246120"/>
            <a:ext cx="201168" cy="201168"/>
          </a:xfrm>
          <a:prstGeom prst="ellipse">
            <a:avLst/>
          </a:prstGeom>
          <a:solidFill>
            <a:schemeClr val="accent3"/>
          </a:solidFill>
          <a:ln w="12700">
            <a:solidFill>
              <a:schemeClr val="accent3"/>
            </a:solidFill>
            <a:prstDash val="solid"/>
          </a:ln>
        </p:spPr>
      </p:sp>
      <p:sp>
        <p:nvSpPr>
          <p:cNvPr id="17" name="Text 15"/>
          <p:cNvSpPr txBox="1"/>
          <p:nvPr/>
        </p:nvSpPr>
        <p:spPr>
          <a:xfrm>
            <a:off x="1115568" y="3154680"/>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Stock</a:t>
            </a:r>
            <a:endParaRPr lang="en-US" sz="1700" dirty="0"/>
          </a:p>
        </p:txBody>
      </p:sp>
      <p:sp>
        <p:nvSpPr>
          <p:cNvPr id="18" name="Text 16"/>
          <p:cNvSpPr txBox="1"/>
          <p:nvPr/>
        </p:nvSpPr>
        <p:spPr>
          <a:xfrm>
            <a:off x="804672" y="3593592"/>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skus · inventory · pallets · stock_movements</a:t>
            </a:r>
            <a:endParaRPr lang="en-US" sz="1200" dirty="0"/>
          </a:p>
        </p:txBody>
      </p:sp>
      <p:sp>
        <p:nvSpPr>
          <p:cNvPr id="19" name="Transport area card"/>
          <p:cNvSpPr/>
          <p:nvPr/>
        </p:nvSpPr>
        <p:spPr>
          <a:xfrm>
            <a:off x="4425696" y="2990088"/>
            <a:ext cx="3520440" cy="1417320"/>
          </a:xfrm>
          <a:prstGeom prst="roundRect">
            <a:avLst>
              <a:gd name="adj" fmla="val 7742"/>
            </a:avLst>
          </a:prstGeom>
          <a:solidFill>
            <a:schemeClr val="bg2"/>
          </a:solidFill>
          <a:ln w="12700">
            <a:solidFill>
              <a:schemeClr val="bg2"/>
            </a:solidFill>
            <a:prstDash val="solid"/>
          </a:ln>
        </p:spPr>
      </p:sp>
      <p:sp>
        <p:nvSpPr>
          <p:cNvPr id="20" name="Transport dot"/>
          <p:cNvSpPr/>
          <p:nvPr/>
        </p:nvSpPr>
        <p:spPr>
          <a:xfrm>
            <a:off x="4681728" y="3246120"/>
            <a:ext cx="201168" cy="201168"/>
          </a:xfrm>
          <a:prstGeom prst="ellipse">
            <a:avLst/>
          </a:prstGeom>
          <a:solidFill>
            <a:schemeClr val="accent2"/>
          </a:solidFill>
          <a:ln w="12700">
            <a:solidFill>
              <a:schemeClr val="accent2"/>
            </a:solidFill>
            <a:prstDash val="solid"/>
          </a:ln>
        </p:spPr>
      </p:sp>
      <p:sp>
        <p:nvSpPr>
          <p:cNvPr id="21" name="Text 19"/>
          <p:cNvSpPr txBox="1"/>
          <p:nvPr/>
        </p:nvSpPr>
        <p:spPr>
          <a:xfrm>
            <a:off x="4992624" y="3154680"/>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Transport</a:t>
            </a:r>
            <a:endParaRPr lang="en-US" sz="1700" dirty="0"/>
          </a:p>
        </p:txBody>
      </p:sp>
      <p:sp>
        <p:nvSpPr>
          <p:cNvPr id="22" name="Text 20"/>
          <p:cNvSpPr txBox="1"/>
          <p:nvPr/>
        </p:nvSpPr>
        <p:spPr>
          <a:xfrm>
            <a:off x="4681728" y="3593592"/>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carriers · drivers · trucks · shipments · forklifts</a:t>
            </a:r>
            <a:endParaRPr lang="en-US" sz="1200" dirty="0"/>
          </a:p>
        </p:txBody>
      </p:sp>
      <p:sp>
        <p:nvSpPr>
          <p:cNvPr id="23" name="Work and audit area card"/>
          <p:cNvSpPr/>
          <p:nvPr/>
        </p:nvSpPr>
        <p:spPr>
          <a:xfrm>
            <a:off x="8302752" y="2990088"/>
            <a:ext cx="3520440" cy="1417320"/>
          </a:xfrm>
          <a:prstGeom prst="roundRect">
            <a:avLst>
              <a:gd name="adj" fmla="val 7742"/>
            </a:avLst>
          </a:prstGeom>
          <a:solidFill>
            <a:schemeClr val="bg2"/>
          </a:solidFill>
          <a:ln w="12700">
            <a:solidFill>
              <a:schemeClr val="bg2"/>
            </a:solidFill>
            <a:prstDash val="solid"/>
          </a:ln>
        </p:spPr>
      </p:sp>
      <p:sp>
        <p:nvSpPr>
          <p:cNvPr id="24" name="Work and audit dot"/>
          <p:cNvSpPr/>
          <p:nvPr/>
        </p:nvSpPr>
        <p:spPr>
          <a:xfrm>
            <a:off x="8558784" y="3246120"/>
            <a:ext cx="201168" cy="201168"/>
          </a:xfrm>
          <a:prstGeom prst="ellipse">
            <a:avLst/>
          </a:prstGeom>
          <a:solidFill>
            <a:schemeClr val="accent5"/>
          </a:solidFill>
          <a:ln w="12700">
            <a:solidFill>
              <a:schemeClr val="accent5"/>
            </a:solidFill>
            <a:prstDash val="solid"/>
          </a:ln>
        </p:spPr>
      </p:sp>
      <p:sp>
        <p:nvSpPr>
          <p:cNvPr id="25" name="Text 23"/>
          <p:cNvSpPr txBox="1"/>
          <p:nvPr/>
        </p:nvSpPr>
        <p:spPr>
          <a:xfrm>
            <a:off x="8869680" y="3154680"/>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Work and audit</a:t>
            </a:r>
            <a:endParaRPr lang="en-US" sz="1700" dirty="0"/>
          </a:p>
        </p:txBody>
      </p:sp>
      <p:sp>
        <p:nvSpPr>
          <p:cNvPr id="26" name="Text 24"/>
          <p:cNvSpPr txBox="1"/>
          <p:nvPr/>
        </p:nvSpPr>
        <p:spPr>
          <a:xfrm>
            <a:off x="8558784" y="3593592"/>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tasks · task_updates · operation_events · audit_log · sim_state</a:t>
            </a:r>
            <a:endParaRPr lang="en-US" sz="1200" dirty="0"/>
          </a:p>
        </p:txBody>
      </p:sp>
      <p:sp>
        <p:nvSpPr>
          <p:cNvPr id="27" name="Logistics park area card"/>
          <p:cNvSpPr/>
          <p:nvPr/>
        </p:nvSpPr>
        <p:spPr>
          <a:xfrm>
            <a:off x="548640" y="4608576"/>
            <a:ext cx="3520440" cy="1417320"/>
          </a:xfrm>
          <a:prstGeom prst="roundRect">
            <a:avLst>
              <a:gd name="adj" fmla="val 7742"/>
            </a:avLst>
          </a:prstGeom>
          <a:solidFill>
            <a:schemeClr val="bg2"/>
          </a:solidFill>
          <a:ln w="12700">
            <a:solidFill>
              <a:schemeClr val="bg2"/>
            </a:solidFill>
            <a:prstDash val="solid"/>
          </a:ln>
        </p:spPr>
      </p:sp>
      <p:sp>
        <p:nvSpPr>
          <p:cNvPr id="28" name="Logistics park dot"/>
          <p:cNvSpPr/>
          <p:nvPr/>
        </p:nvSpPr>
        <p:spPr>
          <a:xfrm>
            <a:off x="804672" y="4864608"/>
            <a:ext cx="201168" cy="201168"/>
          </a:xfrm>
          <a:prstGeom prst="ellipse">
            <a:avLst/>
          </a:prstGeom>
          <a:solidFill>
            <a:schemeClr val="accent3"/>
          </a:solidFill>
          <a:ln w="12700">
            <a:solidFill>
              <a:schemeClr val="accent3"/>
            </a:solidFill>
            <a:prstDash val="solid"/>
          </a:ln>
        </p:spPr>
      </p:sp>
      <p:sp>
        <p:nvSpPr>
          <p:cNvPr id="29" name="Text 27"/>
          <p:cNvSpPr txBox="1"/>
          <p:nvPr/>
        </p:nvSpPr>
        <p:spPr>
          <a:xfrm>
            <a:off x="1115568" y="4773168"/>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Logistics park</a:t>
            </a:r>
            <a:endParaRPr lang="en-US" sz="1700" dirty="0"/>
          </a:p>
        </p:txBody>
      </p:sp>
      <p:sp>
        <p:nvSpPr>
          <p:cNvPr id="30" name="Text 28"/>
          <p:cNvSpPr txBox="1"/>
          <p:nvPr/>
        </p:nvSpPr>
        <p:spPr>
          <a:xfrm>
            <a:off x="804672" y="5212080"/>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park_companies · park_buildings · park_routes · park_vehicles · park_gates · park_gate_log</a:t>
            </a:r>
            <a:endParaRPr lang="en-US" sz="1200" dirty="0"/>
          </a:p>
        </p:txBody>
      </p:sp>
      <p:sp>
        <p:nvSpPr>
          <p:cNvPr id="31" name="Port area card"/>
          <p:cNvSpPr/>
          <p:nvPr/>
        </p:nvSpPr>
        <p:spPr>
          <a:xfrm>
            <a:off x="4425696" y="4608576"/>
            <a:ext cx="3520440" cy="1417320"/>
          </a:xfrm>
          <a:prstGeom prst="roundRect">
            <a:avLst>
              <a:gd name="adj" fmla="val 7742"/>
            </a:avLst>
          </a:prstGeom>
          <a:solidFill>
            <a:schemeClr val="bg2"/>
          </a:solidFill>
          <a:ln w="12700">
            <a:solidFill>
              <a:schemeClr val="bg2"/>
            </a:solidFill>
            <a:prstDash val="solid"/>
          </a:ln>
        </p:spPr>
      </p:sp>
      <p:sp>
        <p:nvSpPr>
          <p:cNvPr id="32" name="Port dot"/>
          <p:cNvSpPr/>
          <p:nvPr/>
        </p:nvSpPr>
        <p:spPr>
          <a:xfrm>
            <a:off x="4681728" y="4864608"/>
            <a:ext cx="201168" cy="201168"/>
          </a:xfrm>
          <a:prstGeom prst="ellipse">
            <a:avLst/>
          </a:prstGeom>
          <a:solidFill>
            <a:schemeClr val="accent1"/>
          </a:solidFill>
          <a:ln w="12700">
            <a:solidFill>
              <a:schemeClr val="accent1"/>
            </a:solidFill>
            <a:prstDash val="solid"/>
          </a:ln>
        </p:spPr>
      </p:sp>
      <p:sp>
        <p:nvSpPr>
          <p:cNvPr id="33" name="Text 31"/>
          <p:cNvSpPr txBox="1"/>
          <p:nvPr/>
        </p:nvSpPr>
        <p:spPr>
          <a:xfrm>
            <a:off x="4992624" y="4773168"/>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Port</a:t>
            </a:r>
            <a:endParaRPr lang="en-US" sz="1700" dirty="0"/>
          </a:p>
        </p:txBody>
      </p:sp>
      <p:sp>
        <p:nvSpPr>
          <p:cNvPr id="34" name="Text 32"/>
          <p:cNvSpPr txBox="1"/>
          <p:nvPr/>
        </p:nvSpPr>
        <p:spPr>
          <a:xfrm>
            <a:off x="4681728" y="5212080"/>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shipping_lines · port_berths · vessels · quay_cranes · vessel_calls · yard_blocks · container_moves · yard_containers</a:t>
            </a:r>
            <a:endParaRPr lang="en-US" sz="1200" dirty="0"/>
          </a:p>
        </p:txBody>
      </p:sp>
      <p:sp>
        <p:nvSpPr>
          <p:cNvPr id="35" name="Retail area card"/>
          <p:cNvSpPr/>
          <p:nvPr/>
        </p:nvSpPr>
        <p:spPr>
          <a:xfrm>
            <a:off x="8302752" y="4608576"/>
            <a:ext cx="3520440" cy="1417320"/>
          </a:xfrm>
          <a:prstGeom prst="roundRect">
            <a:avLst>
              <a:gd name="adj" fmla="val 7742"/>
            </a:avLst>
          </a:prstGeom>
          <a:solidFill>
            <a:schemeClr val="bg2"/>
          </a:solidFill>
          <a:ln w="12700">
            <a:solidFill>
              <a:schemeClr val="bg2"/>
            </a:solidFill>
            <a:prstDash val="solid"/>
          </a:ln>
        </p:spPr>
      </p:sp>
      <p:sp>
        <p:nvSpPr>
          <p:cNvPr id="36" name="Retail dot"/>
          <p:cNvSpPr/>
          <p:nvPr/>
        </p:nvSpPr>
        <p:spPr>
          <a:xfrm>
            <a:off x="8558784" y="4864608"/>
            <a:ext cx="201168" cy="201168"/>
          </a:xfrm>
          <a:prstGeom prst="ellipse">
            <a:avLst/>
          </a:prstGeom>
          <a:solidFill>
            <a:schemeClr val="accent6"/>
          </a:solidFill>
          <a:ln w="12700">
            <a:solidFill>
              <a:schemeClr val="accent6"/>
            </a:solidFill>
            <a:prstDash val="solid"/>
          </a:ln>
        </p:spPr>
      </p:sp>
      <p:sp>
        <p:nvSpPr>
          <p:cNvPr id="37" name="Text 35"/>
          <p:cNvSpPr txBox="1"/>
          <p:nvPr/>
        </p:nvSpPr>
        <p:spPr>
          <a:xfrm>
            <a:off x="8869680" y="4773168"/>
            <a:ext cx="2697480" cy="384048"/>
          </a:xfrm>
          <a:prstGeom prst="rect">
            <a:avLst/>
          </a:prstGeom>
          <a:noFill/>
          <a:ln/>
        </p:spPr>
        <p:txBody>
          <a:bodyPr wrap="square" lIns="0" tIns="0" rIns="0" bIns="0" rtlCol="0" anchor="ctr"/>
          <a:lstStyle/>
          <a:p>
            <a:pPr indent="0" marL="0">
              <a:buNone/>
            </a:pPr>
            <a:r>
              <a:rPr lang="en-US" sz="1700" b="1" dirty="0">
                <a:solidFill>
                  <a:schemeClr val="tx2"/>
                </a:solidFill>
              </a:rPr>
              <a:t>Retail</a:t>
            </a:r>
            <a:endParaRPr lang="en-US" sz="1700" dirty="0"/>
          </a:p>
        </p:txBody>
      </p:sp>
      <p:sp>
        <p:nvSpPr>
          <p:cNvPr id="38" name="Text 36"/>
          <p:cNvSpPr txBox="1"/>
          <p:nvPr/>
        </p:nvSpPr>
        <p:spPr>
          <a:xfrm>
            <a:off x="8558784" y="5212080"/>
            <a:ext cx="30632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stores · store_stock · delivery_vans · store_orders · store_order_history</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Ship to shelf: every movement is a row</a:t>
            </a:r>
            <a:endParaRPr lang="en-US" sz="3400" dirty="0"/>
          </a:p>
        </p:txBody>
      </p:sp>
      <p:sp>
        <p:nvSpPr>
          <p:cNvPr id="3" name="Ship berths circle"/>
          <p:cNvSpPr/>
          <p:nvPr/>
        </p:nvSpPr>
        <p:spPr>
          <a:xfrm>
            <a:off x="859536" y="1828800"/>
            <a:ext cx="1005840" cy="1005840"/>
          </a:xfrm>
          <a:prstGeom prst="ellipse">
            <a:avLst/>
          </a:prstGeom>
          <a:solidFill>
            <a:schemeClr val="accent1"/>
          </a:solidFill>
          <a:ln w="12700">
            <a:solidFill>
              <a:schemeClr val="accent1"/>
            </a:solidFill>
            <a:prstDash val="solid"/>
          </a:ln>
        </p:spPr>
      </p:sp>
      <p:pic>
        <p:nvPicPr>
          <p:cNvPr id="4" name="Ship berths icon" descr="preencoded.png">    </p:cNvPr>
          <p:cNvPicPr>
            <a:picLocks noChangeAspect="1"/>
          </p:cNvPicPr>
          <p:nvPr/>
        </p:nvPicPr>
        <p:blipFill>
          <a:blip r:embed="rId1"/>
          <a:stretch>
            <a:fillRect/>
          </a:stretch>
        </p:blipFill>
        <p:spPr>
          <a:xfrm>
            <a:off x="1110996" y="2080260"/>
            <a:ext cx="502920" cy="502920"/>
          </a:xfrm>
          <a:prstGeom prst="rect">
            <a:avLst/>
          </a:prstGeom>
        </p:spPr>
      </p:pic>
      <p:sp>
        <p:nvSpPr>
          <p:cNvPr id="5" name="Text 2"/>
          <p:cNvSpPr txBox="1"/>
          <p:nvPr/>
        </p:nvSpPr>
        <p:spPr>
          <a:xfrm>
            <a:off x="548640" y="3017520"/>
            <a:ext cx="1627632" cy="411480"/>
          </a:xfrm>
          <a:prstGeom prst="rect">
            <a:avLst/>
          </a:prstGeom>
          <a:noFill/>
          <a:ln/>
        </p:spPr>
        <p:txBody>
          <a:bodyPr wrap="square" lIns="0" tIns="0" rIns="0" bIns="0" rtlCol="0" anchor="t"/>
          <a:lstStyle/>
          <a:p>
            <a:pPr algn="ctr" indent="0" marL="0">
              <a:buNone/>
            </a:pPr>
            <a:r>
              <a:rPr lang="en-US" sz="1600" b="1" dirty="0">
                <a:solidFill>
                  <a:schemeClr val="tx2"/>
                </a:solidFill>
              </a:rPr>
              <a:t>Ship berths</a:t>
            </a:r>
            <a:endParaRPr lang="en-US" sz="1600" dirty="0"/>
          </a:p>
        </p:txBody>
      </p:sp>
      <p:sp>
        <p:nvSpPr>
          <p:cNvPr id="6" name="VESSEL_CALLS tag"/>
          <p:cNvSpPr/>
          <p:nvPr/>
        </p:nvSpPr>
        <p:spPr>
          <a:xfrm>
            <a:off x="594360" y="3520440"/>
            <a:ext cx="1536192" cy="384048"/>
          </a:xfrm>
          <a:prstGeom prst="roundRect">
            <a:avLst>
              <a:gd name="adj" fmla="val 19048"/>
            </a:avLst>
          </a:prstGeom>
          <a:solidFill>
            <a:srgbClr val="EEF3F8"/>
          </a:solidFill>
          <a:ln w="12700">
            <a:solidFill>
              <a:srgbClr val="EEF3F8"/>
            </a:solidFill>
            <a:prstDash val="solid"/>
          </a:ln>
        </p:spPr>
      </p:sp>
      <p:sp>
        <p:nvSpPr>
          <p:cNvPr id="7" name="Text 4"/>
          <p:cNvSpPr txBox="1"/>
          <p:nvPr/>
        </p:nvSpPr>
        <p:spPr>
          <a:xfrm>
            <a:off x="594360" y="3520440"/>
            <a:ext cx="1536192" cy="384048"/>
          </a:xfrm>
          <a:prstGeom prst="rect">
            <a:avLst/>
          </a:prstGeom>
          <a:noFill/>
          <a:ln/>
        </p:spPr>
        <p:txBody>
          <a:bodyPr wrap="square" lIns="0" tIns="0" rIns="0" bIns="0" rtlCol="0" anchor="ctr"/>
          <a:lstStyle/>
          <a:p>
            <a:pPr algn="ctr" indent="0" marL="0">
              <a:buNone/>
            </a:pPr>
            <a:r>
              <a:rPr lang="en-US" sz="1050" b="1" dirty="0">
                <a:solidFill>
                  <a:schemeClr val="tx2"/>
                </a:solidFill>
                <a:latin typeface="Courier New" pitchFamily="34" charset="0"/>
                <a:ea typeface="Courier New" pitchFamily="34" charset="-122"/>
                <a:cs typeface="Courier New" pitchFamily="34" charset="-120"/>
              </a:rPr>
              <a:t>VESSEL_CALLS</a:t>
            </a:r>
            <a:endParaRPr lang="en-US" sz="1050" dirty="0"/>
          </a:p>
        </p:txBody>
      </p:sp>
      <p:sp>
        <p:nvSpPr>
          <p:cNvPr id="8" name="Flow arrow 1"/>
          <p:cNvSpPr/>
          <p:nvPr/>
        </p:nvSpPr>
        <p:spPr>
          <a:xfrm>
            <a:off x="1929384" y="2331720"/>
            <a:ext cx="759501" cy="0"/>
          </a:xfrm>
          <a:prstGeom prst="line">
            <a:avLst/>
          </a:prstGeom>
          <a:noFill/>
          <a:ln w="19050">
            <a:solidFill>
              <a:srgbClr val="6B7A8F"/>
            </a:solidFill>
            <a:prstDash val="solid"/>
            <a:tailEnd type="triangle"/>
          </a:ln>
        </p:spPr>
      </p:sp>
      <p:sp>
        <p:nvSpPr>
          <p:cNvPr id="9" name="Crane unloads circle"/>
          <p:cNvSpPr/>
          <p:nvPr/>
        </p:nvSpPr>
        <p:spPr>
          <a:xfrm>
            <a:off x="2752893" y="1828800"/>
            <a:ext cx="1005840" cy="1005840"/>
          </a:xfrm>
          <a:prstGeom prst="ellipse">
            <a:avLst/>
          </a:prstGeom>
          <a:solidFill>
            <a:schemeClr val="accent2"/>
          </a:solidFill>
          <a:ln w="12700">
            <a:solidFill>
              <a:schemeClr val="accent2"/>
            </a:solidFill>
            <a:prstDash val="solid"/>
          </a:ln>
        </p:spPr>
      </p:sp>
      <p:pic>
        <p:nvPicPr>
          <p:cNvPr id="10" name="Crane unloads icon" descr="preencoded.png">    </p:cNvPr>
          <p:cNvPicPr>
            <a:picLocks noChangeAspect="1"/>
          </p:cNvPicPr>
          <p:nvPr/>
        </p:nvPicPr>
        <p:blipFill>
          <a:blip r:embed="rId2"/>
          <a:stretch>
            <a:fillRect/>
          </a:stretch>
        </p:blipFill>
        <p:spPr>
          <a:xfrm>
            <a:off x="3004353" y="2080260"/>
            <a:ext cx="502920" cy="502920"/>
          </a:xfrm>
          <a:prstGeom prst="rect">
            <a:avLst/>
          </a:prstGeom>
        </p:spPr>
      </p:pic>
      <p:sp>
        <p:nvSpPr>
          <p:cNvPr id="11" name="Text 7"/>
          <p:cNvSpPr txBox="1"/>
          <p:nvPr/>
        </p:nvSpPr>
        <p:spPr>
          <a:xfrm>
            <a:off x="2441997" y="3017520"/>
            <a:ext cx="1627632" cy="411480"/>
          </a:xfrm>
          <a:prstGeom prst="rect">
            <a:avLst/>
          </a:prstGeom>
          <a:noFill/>
          <a:ln/>
        </p:spPr>
        <p:txBody>
          <a:bodyPr wrap="square" lIns="0" tIns="0" rIns="0" bIns="0" rtlCol="0" anchor="t"/>
          <a:lstStyle/>
          <a:p>
            <a:pPr algn="ctr" indent="0" marL="0">
              <a:buNone/>
            </a:pPr>
            <a:r>
              <a:rPr lang="en-US" sz="1600" b="1" dirty="0">
                <a:solidFill>
                  <a:schemeClr val="tx2"/>
                </a:solidFill>
              </a:rPr>
              <a:t>Crane unloads</a:t>
            </a:r>
            <a:endParaRPr lang="en-US" sz="1600" dirty="0"/>
          </a:p>
        </p:txBody>
      </p:sp>
      <p:sp>
        <p:nvSpPr>
          <p:cNvPr id="12" name="CONTAINER_MOVES tag"/>
          <p:cNvSpPr/>
          <p:nvPr/>
        </p:nvSpPr>
        <p:spPr>
          <a:xfrm>
            <a:off x="2487717" y="3520440"/>
            <a:ext cx="1536192" cy="384048"/>
          </a:xfrm>
          <a:prstGeom prst="roundRect">
            <a:avLst>
              <a:gd name="adj" fmla="val 19048"/>
            </a:avLst>
          </a:prstGeom>
          <a:solidFill>
            <a:srgbClr val="EEF3F8"/>
          </a:solidFill>
          <a:ln w="12700">
            <a:solidFill>
              <a:srgbClr val="EEF3F8"/>
            </a:solidFill>
            <a:prstDash val="solid"/>
          </a:ln>
        </p:spPr>
      </p:sp>
      <p:sp>
        <p:nvSpPr>
          <p:cNvPr id="13" name="Text 9"/>
          <p:cNvSpPr txBox="1"/>
          <p:nvPr/>
        </p:nvSpPr>
        <p:spPr>
          <a:xfrm>
            <a:off x="2487717" y="3520440"/>
            <a:ext cx="1536192" cy="384048"/>
          </a:xfrm>
          <a:prstGeom prst="rect">
            <a:avLst/>
          </a:prstGeom>
          <a:noFill/>
          <a:ln/>
        </p:spPr>
        <p:txBody>
          <a:bodyPr wrap="square" lIns="0" tIns="0" rIns="0" bIns="0" rtlCol="0" anchor="ctr"/>
          <a:lstStyle/>
          <a:p>
            <a:pPr algn="ctr" indent="0" marL="0">
              <a:buNone/>
            </a:pPr>
            <a:r>
              <a:rPr lang="en-US" sz="1050" b="1" dirty="0">
                <a:solidFill>
                  <a:schemeClr val="tx2"/>
                </a:solidFill>
                <a:latin typeface="Courier New" pitchFamily="34" charset="0"/>
                <a:ea typeface="Courier New" pitchFamily="34" charset="-122"/>
                <a:cs typeface="Courier New" pitchFamily="34" charset="-120"/>
              </a:rPr>
              <a:t>CONTAINER_MOVES</a:t>
            </a:r>
            <a:endParaRPr lang="en-US" sz="1050" dirty="0"/>
          </a:p>
        </p:txBody>
      </p:sp>
      <p:sp>
        <p:nvSpPr>
          <p:cNvPr id="14" name="Flow arrow 2"/>
          <p:cNvSpPr/>
          <p:nvPr/>
        </p:nvSpPr>
        <p:spPr>
          <a:xfrm>
            <a:off x="3822741" y="2331720"/>
            <a:ext cx="759501" cy="0"/>
          </a:xfrm>
          <a:prstGeom prst="line">
            <a:avLst/>
          </a:prstGeom>
          <a:noFill/>
          <a:ln w="19050">
            <a:solidFill>
              <a:srgbClr val="6B7A8F"/>
            </a:solidFill>
            <a:prstDash val="solid"/>
            <a:tailEnd type="triangle"/>
          </a:ln>
        </p:spPr>
      </p:sp>
      <p:sp>
        <p:nvSpPr>
          <p:cNvPr id="15" name="Truck at gate circle"/>
          <p:cNvSpPr/>
          <p:nvPr/>
        </p:nvSpPr>
        <p:spPr>
          <a:xfrm>
            <a:off x="4646249" y="1828800"/>
            <a:ext cx="1005840" cy="1005840"/>
          </a:xfrm>
          <a:prstGeom prst="ellipse">
            <a:avLst/>
          </a:prstGeom>
          <a:solidFill>
            <a:schemeClr val="accent1"/>
          </a:solidFill>
          <a:ln w="12700">
            <a:solidFill>
              <a:schemeClr val="accent1"/>
            </a:solidFill>
            <a:prstDash val="solid"/>
          </a:ln>
        </p:spPr>
      </p:sp>
      <p:pic>
        <p:nvPicPr>
          <p:cNvPr id="16" name="Truck at gate icon" descr="preencoded.png">    </p:cNvPr>
          <p:cNvPicPr>
            <a:picLocks noChangeAspect="1"/>
          </p:cNvPicPr>
          <p:nvPr/>
        </p:nvPicPr>
        <p:blipFill>
          <a:blip r:embed="rId3"/>
          <a:stretch>
            <a:fillRect/>
          </a:stretch>
        </p:blipFill>
        <p:spPr>
          <a:xfrm>
            <a:off x="4897709" y="2080260"/>
            <a:ext cx="502920" cy="502920"/>
          </a:xfrm>
          <a:prstGeom prst="rect">
            <a:avLst/>
          </a:prstGeom>
        </p:spPr>
      </p:pic>
      <p:sp>
        <p:nvSpPr>
          <p:cNvPr id="17" name="Text 12"/>
          <p:cNvSpPr txBox="1"/>
          <p:nvPr/>
        </p:nvSpPr>
        <p:spPr>
          <a:xfrm>
            <a:off x="4335353" y="3017520"/>
            <a:ext cx="1627632" cy="411480"/>
          </a:xfrm>
          <a:prstGeom prst="rect">
            <a:avLst/>
          </a:prstGeom>
          <a:noFill/>
          <a:ln/>
        </p:spPr>
        <p:txBody>
          <a:bodyPr wrap="square" lIns="0" tIns="0" rIns="0" bIns="0" rtlCol="0" anchor="t"/>
          <a:lstStyle/>
          <a:p>
            <a:pPr algn="ctr" indent="0" marL="0">
              <a:buNone/>
            </a:pPr>
            <a:r>
              <a:rPr lang="en-US" sz="1600" b="1" dirty="0">
                <a:solidFill>
                  <a:schemeClr val="tx2"/>
                </a:solidFill>
              </a:rPr>
              <a:t>Truck at gate</a:t>
            </a:r>
            <a:endParaRPr lang="en-US" sz="1600" dirty="0"/>
          </a:p>
        </p:txBody>
      </p:sp>
      <p:sp>
        <p:nvSpPr>
          <p:cNvPr id="18" name="PARK_GATE_LOG tag"/>
          <p:cNvSpPr/>
          <p:nvPr/>
        </p:nvSpPr>
        <p:spPr>
          <a:xfrm>
            <a:off x="4381073" y="3520440"/>
            <a:ext cx="1536192" cy="384048"/>
          </a:xfrm>
          <a:prstGeom prst="roundRect">
            <a:avLst>
              <a:gd name="adj" fmla="val 19048"/>
            </a:avLst>
          </a:prstGeom>
          <a:solidFill>
            <a:srgbClr val="EEF3F8"/>
          </a:solidFill>
          <a:ln w="12700">
            <a:solidFill>
              <a:srgbClr val="EEF3F8"/>
            </a:solidFill>
            <a:prstDash val="solid"/>
          </a:ln>
        </p:spPr>
      </p:sp>
      <p:sp>
        <p:nvSpPr>
          <p:cNvPr id="19" name="Text 14"/>
          <p:cNvSpPr txBox="1"/>
          <p:nvPr/>
        </p:nvSpPr>
        <p:spPr>
          <a:xfrm>
            <a:off x="4381073" y="3520440"/>
            <a:ext cx="1536192" cy="384048"/>
          </a:xfrm>
          <a:prstGeom prst="rect">
            <a:avLst/>
          </a:prstGeom>
          <a:noFill/>
          <a:ln/>
        </p:spPr>
        <p:txBody>
          <a:bodyPr wrap="square" lIns="0" tIns="0" rIns="0" bIns="0" rtlCol="0" anchor="ctr"/>
          <a:lstStyle/>
          <a:p>
            <a:pPr algn="ctr" indent="0" marL="0">
              <a:buNone/>
            </a:pPr>
            <a:r>
              <a:rPr lang="en-US" sz="1050" b="1" dirty="0">
                <a:solidFill>
                  <a:schemeClr val="tx2"/>
                </a:solidFill>
                <a:latin typeface="Courier New" pitchFamily="34" charset="0"/>
                <a:ea typeface="Courier New" pitchFamily="34" charset="-122"/>
                <a:cs typeface="Courier New" pitchFamily="34" charset="-120"/>
              </a:rPr>
              <a:t>PARK_GATE_LOG</a:t>
            </a:r>
            <a:endParaRPr lang="en-US" sz="1050" dirty="0"/>
          </a:p>
        </p:txBody>
      </p:sp>
      <p:sp>
        <p:nvSpPr>
          <p:cNvPr id="20" name="Flow arrow 3"/>
          <p:cNvSpPr/>
          <p:nvPr/>
        </p:nvSpPr>
        <p:spPr>
          <a:xfrm>
            <a:off x="5716097" y="2331720"/>
            <a:ext cx="759501" cy="0"/>
          </a:xfrm>
          <a:prstGeom prst="line">
            <a:avLst/>
          </a:prstGeom>
          <a:noFill/>
          <a:ln w="19050">
            <a:solidFill>
              <a:srgbClr val="6B7A8F"/>
            </a:solidFill>
            <a:prstDash val="solid"/>
            <a:tailEnd type="triangle"/>
          </a:ln>
        </p:spPr>
      </p:sp>
      <p:sp>
        <p:nvSpPr>
          <p:cNvPr id="21" name="Warehouse stock circle"/>
          <p:cNvSpPr/>
          <p:nvPr/>
        </p:nvSpPr>
        <p:spPr>
          <a:xfrm>
            <a:off x="6539606" y="1828800"/>
            <a:ext cx="1005840" cy="1005840"/>
          </a:xfrm>
          <a:prstGeom prst="ellipse">
            <a:avLst/>
          </a:prstGeom>
          <a:solidFill>
            <a:schemeClr val="accent2"/>
          </a:solidFill>
          <a:ln w="12700">
            <a:solidFill>
              <a:schemeClr val="accent2"/>
            </a:solidFill>
            <a:prstDash val="solid"/>
          </a:ln>
        </p:spPr>
      </p:sp>
      <p:pic>
        <p:nvPicPr>
          <p:cNvPr id="22" name="Warehouse stock icon" descr="preencoded.png">    </p:cNvPr>
          <p:cNvPicPr>
            <a:picLocks noChangeAspect="1"/>
          </p:cNvPicPr>
          <p:nvPr/>
        </p:nvPicPr>
        <p:blipFill>
          <a:blip r:embed="rId4"/>
          <a:stretch>
            <a:fillRect/>
          </a:stretch>
        </p:blipFill>
        <p:spPr>
          <a:xfrm>
            <a:off x="6791066" y="2080260"/>
            <a:ext cx="502920" cy="502920"/>
          </a:xfrm>
          <a:prstGeom prst="rect">
            <a:avLst/>
          </a:prstGeom>
        </p:spPr>
      </p:pic>
      <p:sp>
        <p:nvSpPr>
          <p:cNvPr id="23" name="Text 17"/>
          <p:cNvSpPr txBox="1"/>
          <p:nvPr/>
        </p:nvSpPr>
        <p:spPr>
          <a:xfrm>
            <a:off x="6228710" y="3017520"/>
            <a:ext cx="1627632" cy="411480"/>
          </a:xfrm>
          <a:prstGeom prst="rect">
            <a:avLst/>
          </a:prstGeom>
          <a:noFill/>
          <a:ln/>
        </p:spPr>
        <p:txBody>
          <a:bodyPr wrap="square" lIns="0" tIns="0" rIns="0" bIns="0" rtlCol="0" anchor="t"/>
          <a:lstStyle/>
          <a:p>
            <a:pPr algn="ctr" indent="0" marL="0">
              <a:buNone/>
            </a:pPr>
            <a:r>
              <a:rPr lang="en-US" sz="1600" b="1" dirty="0">
                <a:solidFill>
                  <a:schemeClr val="tx2"/>
                </a:solidFill>
              </a:rPr>
              <a:t>Warehouse stock</a:t>
            </a:r>
            <a:endParaRPr lang="en-US" sz="1600" dirty="0"/>
          </a:p>
        </p:txBody>
      </p:sp>
      <p:sp>
        <p:nvSpPr>
          <p:cNvPr id="24" name="STOCK_MOVEMENTS tag"/>
          <p:cNvSpPr/>
          <p:nvPr/>
        </p:nvSpPr>
        <p:spPr>
          <a:xfrm>
            <a:off x="6274430" y="3520440"/>
            <a:ext cx="1536192" cy="384048"/>
          </a:xfrm>
          <a:prstGeom prst="roundRect">
            <a:avLst>
              <a:gd name="adj" fmla="val 19048"/>
            </a:avLst>
          </a:prstGeom>
          <a:solidFill>
            <a:srgbClr val="EEF3F8"/>
          </a:solidFill>
          <a:ln w="12700">
            <a:solidFill>
              <a:srgbClr val="EEF3F8"/>
            </a:solidFill>
            <a:prstDash val="solid"/>
          </a:ln>
        </p:spPr>
      </p:sp>
      <p:sp>
        <p:nvSpPr>
          <p:cNvPr id="25" name="Text 19"/>
          <p:cNvSpPr txBox="1"/>
          <p:nvPr/>
        </p:nvSpPr>
        <p:spPr>
          <a:xfrm>
            <a:off x="6274430" y="3520440"/>
            <a:ext cx="1536192" cy="384048"/>
          </a:xfrm>
          <a:prstGeom prst="rect">
            <a:avLst/>
          </a:prstGeom>
          <a:noFill/>
          <a:ln/>
        </p:spPr>
        <p:txBody>
          <a:bodyPr wrap="square" lIns="0" tIns="0" rIns="0" bIns="0" rtlCol="0" anchor="ctr"/>
          <a:lstStyle/>
          <a:p>
            <a:pPr algn="ctr" indent="0" marL="0">
              <a:buNone/>
            </a:pPr>
            <a:r>
              <a:rPr lang="en-US" sz="1050" b="1" dirty="0">
                <a:solidFill>
                  <a:schemeClr val="tx2"/>
                </a:solidFill>
                <a:latin typeface="Courier New" pitchFamily="34" charset="0"/>
                <a:ea typeface="Courier New" pitchFamily="34" charset="-122"/>
                <a:cs typeface="Courier New" pitchFamily="34" charset="-120"/>
              </a:rPr>
              <a:t>STOCK_MOVEMENTS</a:t>
            </a:r>
            <a:endParaRPr lang="en-US" sz="1050" dirty="0"/>
          </a:p>
        </p:txBody>
      </p:sp>
      <p:sp>
        <p:nvSpPr>
          <p:cNvPr id="26" name="Flow arrow 4"/>
          <p:cNvSpPr/>
          <p:nvPr/>
        </p:nvSpPr>
        <p:spPr>
          <a:xfrm>
            <a:off x="7609454" y="2331720"/>
            <a:ext cx="759501" cy="0"/>
          </a:xfrm>
          <a:prstGeom prst="line">
            <a:avLst/>
          </a:prstGeom>
          <a:noFill/>
          <a:ln w="19050">
            <a:solidFill>
              <a:srgbClr val="6B7A8F"/>
            </a:solidFill>
            <a:prstDash val="solid"/>
            <a:tailEnd type="triangle"/>
          </a:ln>
        </p:spPr>
      </p:sp>
      <p:sp>
        <p:nvSpPr>
          <p:cNvPr id="27" name="Store reorders circle"/>
          <p:cNvSpPr/>
          <p:nvPr/>
        </p:nvSpPr>
        <p:spPr>
          <a:xfrm>
            <a:off x="8432963" y="1828800"/>
            <a:ext cx="1005840" cy="1005840"/>
          </a:xfrm>
          <a:prstGeom prst="ellipse">
            <a:avLst/>
          </a:prstGeom>
          <a:solidFill>
            <a:schemeClr val="accent1"/>
          </a:solidFill>
          <a:ln w="12700">
            <a:solidFill>
              <a:schemeClr val="accent1"/>
            </a:solidFill>
            <a:prstDash val="solid"/>
          </a:ln>
        </p:spPr>
      </p:sp>
      <p:pic>
        <p:nvPicPr>
          <p:cNvPr id="28" name="Store reorders icon" descr="preencoded.png">    </p:cNvPr>
          <p:cNvPicPr>
            <a:picLocks noChangeAspect="1"/>
          </p:cNvPicPr>
          <p:nvPr/>
        </p:nvPicPr>
        <p:blipFill>
          <a:blip r:embed="rId5"/>
          <a:stretch>
            <a:fillRect/>
          </a:stretch>
        </p:blipFill>
        <p:spPr>
          <a:xfrm>
            <a:off x="8684423" y="2080260"/>
            <a:ext cx="502920" cy="502920"/>
          </a:xfrm>
          <a:prstGeom prst="rect">
            <a:avLst/>
          </a:prstGeom>
        </p:spPr>
      </p:pic>
      <p:sp>
        <p:nvSpPr>
          <p:cNvPr id="29" name="Text 22"/>
          <p:cNvSpPr txBox="1"/>
          <p:nvPr/>
        </p:nvSpPr>
        <p:spPr>
          <a:xfrm>
            <a:off x="8122067" y="3017520"/>
            <a:ext cx="1627632" cy="411480"/>
          </a:xfrm>
          <a:prstGeom prst="rect">
            <a:avLst/>
          </a:prstGeom>
          <a:noFill/>
          <a:ln/>
        </p:spPr>
        <p:txBody>
          <a:bodyPr wrap="square" lIns="0" tIns="0" rIns="0" bIns="0" rtlCol="0" anchor="t"/>
          <a:lstStyle/>
          <a:p>
            <a:pPr algn="ctr" indent="0" marL="0">
              <a:buNone/>
            </a:pPr>
            <a:r>
              <a:rPr lang="en-US" sz="1600" b="1" dirty="0">
                <a:solidFill>
                  <a:schemeClr val="tx2"/>
                </a:solidFill>
              </a:rPr>
              <a:t>Store reorders</a:t>
            </a:r>
            <a:endParaRPr lang="en-US" sz="1600" dirty="0"/>
          </a:p>
        </p:txBody>
      </p:sp>
      <p:sp>
        <p:nvSpPr>
          <p:cNvPr id="30" name="STORE_ORDERS tag"/>
          <p:cNvSpPr/>
          <p:nvPr/>
        </p:nvSpPr>
        <p:spPr>
          <a:xfrm>
            <a:off x="8167787" y="3520440"/>
            <a:ext cx="1536192" cy="384048"/>
          </a:xfrm>
          <a:prstGeom prst="roundRect">
            <a:avLst>
              <a:gd name="adj" fmla="val 19048"/>
            </a:avLst>
          </a:prstGeom>
          <a:solidFill>
            <a:srgbClr val="EEF3F8"/>
          </a:solidFill>
          <a:ln w="12700">
            <a:solidFill>
              <a:srgbClr val="EEF3F8"/>
            </a:solidFill>
            <a:prstDash val="solid"/>
          </a:ln>
        </p:spPr>
      </p:sp>
      <p:sp>
        <p:nvSpPr>
          <p:cNvPr id="31" name="Text 24"/>
          <p:cNvSpPr txBox="1"/>
          <p:nvPr/>
        </p:nvSpPr>
        <p:spPr>
          <a:xfrm>
            <a:off x="8167787" y="3520440"/>
            <a:ext cx="1536192" cy="384048"/>
          </a:xfrm>
          <a:prstGeom prst="rect">
            <a:avLst/>
          </a:prstGeom>
          <a:noFill/>
          <a:ln/>
        </p:spPr>
        <p:txBody>
          <a:bodyPr wrap="square" lIns="0" tIns="0" rIns="0" bIns="0" rtlCol="0" anchor="ctr"/>
          <a:lstStyle/>
          <a:p>
            <a:pPr algn="ctr" indent="0" marL="0">
              <a:buNone/>
            </a:pPr>
            <a:r>
              <a:rPr lang="en-US" sz="1050" b="1" dirty="0">
                <a:solidFill>
                  <a:schemeClr val="tx2"/>
                </a:solidFill>
                <a:latin typeface="Courier New" pitchFamily="34" charset="0"/>
                <a:ea typeface="Courier New" pitchFamily="34" charset="-122"/>
                <a:cs typeface="Courier New" pitchFamily="34" charset="-120"/>
              </a:rPr>
              <a:t>STORE_ORDERS</a:t>
            </a:r>
            <a:endParaRPr lang="en-US" sz="1050" dirty="0"/>
          </a:p>
        </p:txBody>
      </p:sp>
      <p:sp>
        <p:nvSpPr>
          <p:cNvPr id="32" name="Flow arrow 5"/>
          <p:cNvSpPr/>
          <p:nvPr/>
        </p:nvSpPr>
        <p:spPr>
          <a:xfrm>
            <a:off x="9502811" y="2331720"/>
            <a:ext cx="759501" cy="0"/>
          </a:xfrm>
          <a:prstGeom prst="line">
            <a:avLst/>
          </a:prstGeom>
          <a:noFill/>
          <a:ln w="19050">
            <a:solidFill>
              <a:srgbClr val="6B7A8F"/>
            </a:solidFill>
            <a:prstDash val="solid"/>
            <a:tailEnd type="triangle"/>
          </a:ln>
        </p:spPr>
      </p:sp>
      <p:sp>
        <p:nvSpPr>
          <p:cNvPr id="33" name="Van delivers circle"/>
          <p:cNvSpPr/>
          <p:nvPr/>
        </p:nvSpPr>
        <p:spPr>
          <a:xfrm>
            <a:off x="10326319" y="1828800"/>
            <a:ext cx="1005840" cy="1005840"/>
          </a:xfrm>
          <a:prstGeom prst="ellipse">
            <a:avLst/>
          </a:prstGeom>
          <a:solidFill>
            <a:schemeClr val="accent2"/>
          </a:solidFill>
          <a:ln w="12700">
            <a:solidFill>
              <a:schemeClr val="accent2"/>
            </a:solidFill>
            <a:prstDash val="solid"/>
          </a:ln>
        </p:spPr>
      </p:sp>
      <p:pic>
        <p:nvPicPr>
          <p:cNvPr id="34" name="Van delivers icon" descr="preencoded.png">    </p:cNvPr>
          <p:cNvPicPr>
            <a:picLocks noChangeAspect="1"/>
          </p:cNvPicPr>
          <p:nvPr/>
        </p:nvPicPr>
        <p:blipFill>
          <a:blip r:embed="rId6"/>
          <a:stretch>
            <a:fillRect/>
          </a:stretch>
        </p:blipFill>
        <p:spPr>
          <a:xfrm>
            <a:off x="10577779" y="2080260"/>
            <a:ext cx="502920" cy="502920"/>
          </a:xfrm>
          <a:prstGeom prst="rect">
            <a:avLst/>
          </a:prstGeom>
        </p:spPr>
      </p:pic>
      <p:sp>
        <p:nvSpPr>
          <p:cNvPr id="35" name="Text 27"/>
          <p:cNvSpPr txBox="1"/>
          <p:nvPr/>
        </p:nvSpPr>
        <p:spPr>
          <a:xfrm>
            <a:off x="10015423" y="3017520"/>
            <a:ext cx="1627632" cy="411480"/>
          </a:xfrm>
          <a:prstGeom prst="rect">
            <a:avLst/>
          </a:prstGeom>
          <a:noFill/>
          <a:ln/>
        </p:spPr>
        <p:txBody>
          <a:bodyPr wrap="square" lIns="0" tIns="0" rIns="0" bIns="0" rtlCol="0" anchor="t"/>
          <a:lstStyle/>
          <a:p>
            <a:pPr algn="ctr" indent="0" marL="0">
              <a:buNone/>
            </a:pPr>
            <a:r>
              <a:rPr lang="en-US" sz="1600" b="1" dirty="0">
                <a:solidFill>
                  <a:schemeClr val="tx2"/>
                </a:solidFill>
              </a:rPr>
              <a:t>Van delivers</a:t>
            </a:r>
            <a:endParaRPr lang="en-US" sz="1600" dirty="0"/>
          </a:p>
        </p:txBody>
      </p:sp>
      <p:sp>
        <p:nvSpPr>
          <p:cNvPr id="36" name="STORE_ORDER_HISTORY tag"/>
          <p:cNvSpPr/>
          <p:nvPr/>
        </p:nvSpPr>
        <p:spPr>
          <a:xfrm>
            <a:off x="10061143" y="3520440"/>
            <a:ext cx="1536192" cy="384048"/>
          </a:xfrm>
          <a:prstGeom prst="roundRect">
            <a:avLst>
              <a:gd name="adj" fmla="val 19048"/>
            </a:avLst>
          </a:prstGeom>
          <a:solidFill>
            <a:srgbClr val="EEF3F8"/>
          </a:solidFill>
          <a:ln w="12700">
            <a:solidFill>
              <a:srgbClr val="EEF3F8"/>
            </a:solidFill>
            <a:prstDash val="solid"/>
          </a:ln>
        </p:spPr>
      </p:sp>
      <p:sp>
        <p:nvSpPr>
          <p:cNvPr id="37" name="Text 29"/>
          <p:cNvSpPr txBox="1"/>
          <p:nvPr/>
        </p:nvSpPr>
        <p:spPr>
          <a:xfrm>
            <a:off x="10061143" y="3520440"/>
            <a:ext cx="1536192" cy="384048"/>
          </a:xfrm>
          <a:prstGeom prst="rect">
            <a:avLst/>
          </a:prstGeom>
          <a:noFill/>
          <a:ln/>
        </p:spPr>
        <p:txBody>
          <a:bodyPr wrap="square" lIns="0" tIns="0" rIns="0" bIns="0" rtlCol="0" anchor="ctr"/>
          <a:lstStyle/>
          <a:p>
            <a:pPr algn="ctr" indent="0" marL="0">
              <a:buNone/>
            </a:pPr>
            <a:r>
              <a:rPr lang="en-US" sz="1050" b="1" dirty="0">
                <a:solidFill>
                  <a:schemeClr val="tx2"/>
                </a:solidFill>
                <a:latin typeface="Courier New" pitchFamily="34" charset="0"/>
                <a:ea typeface="Courier New" pitchFamily="34" charset="-122"/>
                <a:cs typeface="Courier New" pitchFamily="34" charset="-120"/>
              </a:rPr>
              <a:t>STORE_ORDER_HISTORY</a:t>
            </a:r>
            <a:endParaRPr lang="en-US" sz="1050" dirty="0"/>
          </a:p>
        </p:txBody>
      </p:sp>
      <p:sp>
        <p:nvSpPr>
          <p:cNvPr id="38" name="Trace callout"/>
          <p:cNvSpPr/>
          <p:nvPr/>
        </p:nvSpPr>
        <p:spPr>
          <a:xfrm>
            <a:off x="548640" y="4572000"/>
            <a:ext cx="11094415" cy="1188720"/>
          </a:xfrm>
          <a:prstGeom prst="roundRect">
            <a:avLst>
              <a:gd name="adj" fmla="val 9231"/>
            </a:avLst>
          </a:prstGeom>
          <a:solidFill>
            <a:srgbClr val="FDF1E7"/>
          </a:solidFill>
          <a:ln w="12700">
            <a:solidFill>
              <a:srgbClr val="FDF1E7"/>
            </a:solidFill>
            <a:prstDash val="solid"/>
          </a:ln>
        </p:spPr>
      </p:sp>
      <p:sp>
        <p:nvSpPr>
          <p:cNvPr id="39" name="Text 31"/>
          <p:cNvSpPr txBox="1"/>
          <p:nvPr/>
        </p:nvSpPr>
        <p:spPr>
          <a:xfrm>
            <a:off x="868680" y="4709160"/>
            <a:ext cx="10454335" cy="914400"/>
          </a:xfrm>
          <a:prstGeom prst="rect">
            <a:avLst/>
          </a:prstGeom>
          <a:noFill/>
          <a:ln/>
        </p:spPr>
        <p:txBody>
          <a:bodyPr wrap="square" lIns="0" tIns="0" rIns="0" bIns="0" rtlCol="0" anchor="ctr"/>
          <a:lstStyle/>
          <a:p>
            <a:pPr indent="0" marL="0">
              <a:buNone/>
            </a:pPr>
            <a:r>
              <a:rPr lang="en-US" sz="1600" b="1" dirty="0">
                <a:solidFill>
                  <a:schemeClr val="tx2"/>
                </a:solidFill>
              </a:rPr>
              <a:t>Traceable end to end. </a:t>
            </a:r>
            <a:pPr indent="0" marL="0">
              <a:buNone/>
            </a:pPr>
            <a:r>
              <a:rPr lang="en-US" sz="1600" dirty="0">
                <a:solidFill>
                  <a:schemeClr val="tx1"/>
                </a:solidFill>
              </a:rPr>
              <a:t>Report 21 joins the CONTAINER_MOVES ledger to itself to follow any container from the ship that discharged it to the warehouse that received it, with the minutes it spent in the yard.</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Business rules live in PL/SQL and triggers</a:t>
            </a:r>
            <a:endParaRPr lang="en-US" sz="3400" dirty="0"/>
          </a:p>
        </p:txBody>
      </p:sp>
      <p:sp>
        <p:nvSpPr>
          <p:cNvPr id="3" name="WT_CORE tag"/>
          <p:cNvSpPr/>
          <p:nvPr/>
        </p:nvSpPr>
        <p:spPr>
          <a:xfrm>
            <a:off x="548640" y="1417320"/>
            <a:ext cx="1600200" cy="502920"/>
          </a:xfrm>
          <a:prstGeom prst="roundRect">
            <a:avLst>
              <a:gd name="adj" fmla="val 14545"/>
            </a:avLst>
          </a:prstGeom>
          <a:solidFill>
            <a:srgbClr val="0B1F3A"/>
          </a:solidFill>
          <a:ln w="12700">
            <a:solidFill>
              <a:srgbClr val="0B1F3A"/>
            </a:solidFill>
            <a:prstDash val="solid"/>
          </a:ln>
        </p:spPr>
      </p:sp>
      <p:sp>
        <p:nvSpPr>
          <p:cNvPr id="4" name="Text 2"/>
          <p:cNvSpPr txBox="1"/>
          <p:nvPr/>
        </p:nvSpPr>
        <p:spPr>
          <a:xfrm>
            <a:off x="548640" y="1417320"/>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WT_CORE</a:t>
            </a:r>
            <a:endParaRPr lang="en-US" sz="1300" dirty="0"/>
          </a:p>
        </p:txBody>
      </p:sp>
      <p:sp>
        <p:nvSpPr>
          <p:cNvPr id="5" name="Text 3"/>
          <p:cNvSpPr txBox="1"/>
          <p:nvPr/>
        </p:nvSpPr>
        <p:spPr>
          <a:xfrm>
            <a:off x="2331720" y="1417320"/>
            <a:ext cx="3291840" cy="502920"/>
          </a:xfrm>
          <a:prstGeom prst="rect">
            <a:avLst/>
          </a:prstGeom>
          <a:noFill/>
          <a:ln/>
        </p:spPr>
        <p:txBody>
          <a:bodyPr wrap="square" lIns="0" tIns="0" rIns="0" bIns="0" rtlCol="0" anchor="ctr"/>
          <a:lstStyle/>
          <a:p>
            <a:pPr indent="0" marL="0">
              <a:buNone/>
            </a:pPr>
            <a:r>
              <a:rPr lang="en-US" sz="1500" dirty="0">
                <a:solidFill>
                  <a:schemeClr val="tx1"/>
                </a:solidFill>
              </a:rPr>
              <a:t>permission checks, audit logging, KPIs</a:t>
            </a:r>
            <a:endParaRPr lang="en-US" sz="1500" dirty="0"/>
          </a:p>
        </p:txBody>
      </p:sp>
      <p:sp>
        <p:nvSpPr>
          <p:cNvPr id="6" name="WT_AUTH tag"/>
          <p:cNvSpPr/>
          <p:nvPr/>
        </p:nvSpPr>
        <p:spPr>
          <a:xfrm>
            <a:off x="548640" y="2130552"/>
            <a:ext cx="1600200" cy="502920"/>
          </a:xfrm>
          <a:prstGeom prst="roundRect">
            <a:avLst>
              <a:gd name="adj" fmla="val 14545"/>
            </a:avLst>
          </a:prstGeom>
          <a:solidFill>
            <a:srgbClr val="1F5FA8"/>
          </a:solidFill>
          <a:ln w="12700">
            <a:solidFill>
              <a:srgbClr val="1F5FA8"/>
            </a:solidFill>
            <a:prstDash val="solid"/>
          </a:ln>
        </p:spPr>
      </p:sp>
      <p:sp>
        <p:nvSpPr>
          <p:cNvPr id="7" name="Text 5"/>
          <p:cNvSpPr txBox="1"/>
          <p:nvPr/>
        </p:nvSpPr>
        <p:spPr>
          <a:xfrm>
            <a:off x="548640" y="2130552"/>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WT_AUTH</a:t>
            </a:r>
            <a:endParaRPr lang="en-US" sz="1300" dirty="0"/>
          </a:p>
        </p:txBody>
      </p:sp>
      <p:sp>
        <p:nvSpPr>
          <p:cNvPr id="8" name="Text 6"/>
          <p:cNvSpPr txBox="1"/>
          <p:nvPr/>
        </p:nvSpPr>
        <p:spPr>
          <a:xfrm>
            <a:off x="2331720" y="2130552"/>
            <a:ext cx="3291840" cy="502920"/>
          </a:xfrm>
          <a:prstGeom prst="rect">
            <a:avLst/>
          </a:prstGeom>
          <a:noFill/>
          <a:ln/>
        </p:spPr>
        <p:txBody>
          <a:bodyPr wrap="square" lIns="0" tIns="0" rIns="0" bIns="0" rtlCol="0" anchor="ctr"/>
          <a:lstStyle/>
          <a:p>
            <a:pPr indent="0" marL="0">
              <a:buNone/>
            </a:pPr>
            <a:r>
              <a:rPr lang="en-US" sz="1500" dirty="0">
                <a:solidFill>
                  <a:schemeClr val="tx1"/>
                </a:solidFill>
              </a:rPr>
              <a:t>users, sessions, site access</a:t>
            </a:r>
            <a:endParaRPr lang="en-US" sz="1500" dirty="0"/>
          </a:p>
        </p:txBody>
      </p:sp>
      <p:sp>
        <p:nvSpPr>
          <p:cNvPr id="9" name="WT_WORK tag"/>
          <p:cNvSpPr/>
          <p:nvPr/>
        </p:nvSpPr>
        <p:spPr>
          <a:xfrm>
            <a:off x="548640" y="2843784"/>
            <a:ext cx="1600200" cy="502920"/>
          </a:xfrm>
          <a:prstGeom prst="roundRect">
            <a:avLst>
              <a:gd name="adj" fmla="val 14545"/>
            </a:avLst>
          </a:prstGeom>
          <a:solidFill>
            <a:srgbClr val="0B1F3A"/>
          </a:solidFill>
          <a:ln w="12700">
            <a:solidFill>
              <a:srgbClr val="0B1F3A"/>
            </a:solidFill>
            <a:prstDash val="solid"/>
          </a:ln>
        </p:spPr>
      </p:sp>
      <p:sp>
        <p:nvSpPr>
          <p:cNvPr id="10" name="Text 8"/>
          <p:cNvSpPr txBox="1"/>
          <p:nvPr/>
        </p:nvSpPr>
        <p:spPr>
          <a:xfrm>
            <a:off x="548640" y="2843784"/>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WT_WORK</a:t>
            </a:r>
            <a:endParaRPr lang="en-US" sz="1300" dirty="0"/>
          </a:p>
        </p:txBody>
      </p:sp>
      <p:sp>
        <p:nvSpPr>
          <p:cNvPr id="11" name="Text 9"/>
          <p:cNvSpPr txBox="1"/>
          <p:nvPr/>
        </p:nvSpPr>
        <p:spPr>
          <a:xfrm>
            <a:off x="2331720" y="2843784"/>
            <a:ext cx="3291840" cy="502920"/>
          </a:xfrm>
          <a:prstGeom prst="rect">
            <a:avLst/>
          </a:prstGeom>
          <a:noFill/>
          <a:ln/>
        </p:spPr>
        <p:txBody>
          <a:bodyPr wrap="square" lIns="0" tIns="0" rIns="0" bIns="0" rtlCol="0" anchor="ctr"/>
          <a:lstStyle/>
          <a:p>
            <a:pPr indent="0" marL="0">
              <a:buNone/>
            </a:pPr>
            <a:r>
              <a:rPr lang="en-US" sz="1500" dirty="0">
                <a:solidFill>
                  <a:schemeClr val="tx1"/>
                </a:solidFill>
              </a:rPr>
              <a:t>tasks and allowed status changes</a:t>
            </a:r>
            <a:endParaRPr lang="en-US" sz="1500" dirty="0"/>
          </a:p>
        </p:txBody>
      </p:sp>
      <p:sp>
        <p:nvSpPr>
          <p:cNvPr id="12" name="WT_PARK tag"/>
          <p:cNvSpPr/>
          <p:nvPr/>
        </p:nvSpPr>
        <p:spPr>
          <a:xfrm>
            <a:off x="548640" y="3557016"/>
            <a:ext cx="1600200" cy="502920"/>
          </a:xfrm>
          <a:prstGeom prst="roundRect">
            <a:avLst>
              <a:gd name="adj" fmla="val 14545"/>
            </a:avLst>
          </a:prstGeom>
          <a:solidFill>
            <a:srgbClr val="1F5FA8"/>
          </a:solidFill>
          <a:ln w="12700">
            <a:solidFill>
              <a:srgbClr val="1F5FA8"/>
            </a:solidFill>
            <a:prstDash val="solid"/>
          </a:ln>
        </p:spPr>
      </p:sp>
      <p:sp>
        <p:nvSpPr>
          <p:cNvPr id="13" name="Text 11"/>
          <p:cNvSpPr txBox="1"/>
          <p:nvPr/>
        </p:nvSpPr>
        <p:spPr>
          <a:xfrm>
            <a:off x="548640" y="3557016"/>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WT_PARK</a:t>
            </a:r>
            <a:endParaRPr lang="en-US" sz="1300" dirty="0"/>
          </a:p>
        </p:txBody>
      </p:sp>
      <p:sp>
        <p:nvSpPr>
          <p:cNvPr id="14" name="Text 12"/>
          <p:cNvSpPr txBox="1"/>
          <p:nvPr/>
        </p:nvSpPr>
        <p:spPr>
          <a:xfrm>
            <a:off x="2331720" y="3557016"/>
            <a:ext cx="3291840" cy="502920"/>
          </a:xfrm>
          <a:prstGeom prst="rect">
            <a:avLst/>
          </a:prstGeom>
          <a:noFill/>
          <a:ln/>
        </p:spPr>
        <p:txBody>
          <a:bodyPr wrap="square" lIns="0" tIns="0" rIns="0" bIns="0" rtlCol="0" anchor="ctr"/>
          <a:lstStyle/>
          <a:p>
            <a:pPr indent="0" marL="0">
              <a:buNone/>
            </a:pPr>
            <a:r>
              <a:rPr lang="en-US" sz="1500" dirty="0">
                <a:solidFill>
                  <a:schemeClr val="tx1"/>
                </a:solidFill>
              </a:rPr>
              <a:t>buildings, gates, trade balance</a:t>
            </a:r>
            <a:endParaRPr lang="en-US" sz="1500" dirty="0"/>
          </a:p>
        </p:txBody>
      </p:sp>
      <p:sp>
        <p:nvSpPr>
          <p:cNvPr id="15" name="WT_PORT tag"/>
          <p:cNvSpPr/>
          <p:nvPr/>
        </p:nvSpPr>
        <p:spPr>
          <a:xfrm>
            <a:off x="548640" y="4270248"/>
            <a:ext cx="1600200" cy="502920"/>
          </a:xfrm>
          <a:prstGeom prst="roundRect">
            <a:avLst>
              <a:gd name="adj" fmla="val 14545"/>
            </a:avLst>
          </a:prstGeom>
          <a:solidFill>
            <a:srgbClr val="0B1F3A"/>
          </a:solidFill>
          <a:ln w="12700">
            <a:solidFill>
              <a:srgbClr val="0B1F3A"/>
            </a:solidFill>
            <a:prstDash val="solid"/>
          </a:ln>
        </p:spPr>
      </p:sp>
      <p:sp>
        <p:nvSpPr>
          <p:cNvPr id="16" name="Text 14"/>
          <p:cNvSpPr txBox="1"/>
          <p:nvPr/>
        </p:nvSpPr>
        <p:spPr>
          <a:xfrm>
            <a:off x="548640" y="4270248"/>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WT_PORT</a:t>
            </a:r>
            <a:endParaRPr lang="en-US" sz="1300" dirty="0"/>
          </a:p>
        </p:txBody>
      </p:sp>
      <p:sp>
        <p:nvSpPr>
          <p:cNvPr id="17" name="Text 15"/>
          <p:cNvSpPr txBox="1"/>
          <p:nvPr/>
        </p:nvSpPr>
        <p:spPr>
          <a:xfrm>
            <a:off x="2331720" y="4270248"/>
            <a:ext cx="3291840" cy="502920"/>
          </a:xfrm>
          <a:prstGeom prst="rect">
            <a:avLst/>
          </a:prstGeom>
          <a:noFill/>
          <a:ln/>
        </p:spPr>
        <p:txBody>
          <a:bodyPr wrap="square" lIns="0" tIns="0" rIns="0" bIns="0" rtlCol="0" anchor="ctr"/>
          <a:lstStyle/>
          <a:p>
            <a:pPr indent="0" marL="0">
              <a:buNone/>
            </a:pPr>
            <a:r>
              <a:rPr lang="en-US" sz="1500" dirty="0">
                <a:solidFill>
                  <a:schemeClr val="tx1"/>
                </a:solidFill>
              </a:rPr>
              <a:t>ISO 6346 check digit, ship holds, berths</a:t>
            </a:r>
            <a:endParaRPr lang="en-US" sz="1500" dirty="0"/>
          </a:p>
        </p:txBody>
      </p:sp>
      <p:sp>
        <p:nvSpPr>
          <p:cNvPr id="18" name="WT_RETAIL tag"/>
          <p:cNvSpPr/>
          <p:nvPr/>
        </p:nvSpPr>
        <p:spPr>
          <a:xfrm>
            <a:off x="548640" y="4983480"/>
            <a:ext cx="1600200" cy="502920"/>
          </a:xfrm>
          <a:prstGeom prst="roundRect">
            <a:avLst>
              <a:gd name="adj" fmla="val 14545"/>
            </a:avLst>
          </a:prstGeom>
          <a:solidFill>
            <a:srgbClr val="1F5FA8"/>
          </a:solidFill>
          <a:ln w="12700">
            <a:solidFill>
              <a:srgbClr val="1F5FA8"/>
            </a:solidFill>
            <a:prstDash val="solid"/>
          </a:ln>
        </p:spPr>
      </p:sp>
      <p:sp>
        <p:nvSpPr>
          <p:cNvPr id="19" name="Text 17"/>
          <p:cNvSpPr txBox="1"/>
          <p:nvPr/>
        </p:nvSpPr>
        <p:spPr>
          <a:xfrm>
            <a:off x="548640" y="4983480"/>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WT_RETAIL</a:t>
            </a:r>
            <a:endParaRPr lang="en-US" sz="1300" dirty="0"/>
          </a:p>
        </p:txBody>
      </p:sp>
      <p:sp>
        <p:nvSpPr>
          <p:cNvPr id="20" name="Text 18"/>
          <p:cNvSpPr txBox="1"/>
          <p:nvPr/>
        </p:nvSpPr>
        <p:spPr>
          <a:xfrm>
            <a:off x="2331720" y="4983480"/>
            <a:ext cx="3291840" cy="502920"/>
          </a:xfrm>
          <a:prstGeom prst="rect">
            <a:avLst/>
          </a:prstGeom>
          <a:noFill/>
          <a:ln/>
        </p:spPr>
        <p:txBody>
          <a:bodyPr wrap="square" lIns="0" tIns="0" rIns="0" bIns="0" rtlCol="0" anchor="ctr"/>
          <a:lstStyle/>
          <a:p>
            <a:pPr indent="0" marL="0">
              <a:buNone/>
            </a:pPr>
            <a:r>
              <a:rPr lang="en-US" sz="1500" dirty="0">
                <a:solidFill>
                  <a:schemeClr val="tx1"/>
                </a:solidFill>
              </a:rPr>
              <a:t>store orders, best supplier, cover hours</a:t>
            </a:r>
            <a:endParaRPr lang="en-US" sz="1500" dirty="0"/>
          </a:p>
        </p:txBody>
      </p:sp>
      <p:sp>
        <p:nvSpPr>
          <p:cNvPr id="21" name="Trigger code panel"/>
          <p:cNvSpPr/>
          <p:nvPr/>
        </p:nvSpPr>
        <p:spPr>
          <a:xfrm>
            <a:off x="5943600" y="1417320"/>
            <a:ext cx="5696712" cy="4023360"/>
          </a:xfrm>
          <a:prstGeom prst="roundRect">
            <a:avLst>
              <a:gd name="adj" fmla="val 2273"/>
            </a:avLst>
          </a:prstGeom>
          <a:solidFill>
            <a:srgbClr val="0B1F3A"/>
          </a:solidFill>
          <a:ln w="12700">
            <a:solidFill>
              <a:srgbClr val="0B1F3A"/>
            </a:solidFill>
            <a:prstDash val="solid"/>
          </a:ln>
        </p:spPr>
      </p:sp>
      <p:sp>
        <p:nvSpPr>
          <p:cNvPr id="22" name="Text 20"/>
          <p:cNvSpPr txBox="1"/>
          <p:nvPr/>
        </p:nvSpPr>
        <p:spPr>
          <a:xfrm>
            <a:off x="6217920" y="1600200"/>
            <a:ext cx="5212080" cy="3657600"/>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CREATE OR REPLACE TRIGGER trg_container_moves_ai</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AFTER INSERT ON container_moves FOR EACH ROW</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BEGIN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IF :NEW.move_type IN ('DISCHARGE', 'GATE_IN') THEN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MERGE INTO yard_containers y</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USING (SELECT :NEW.container_no AS container_no</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FROM dual) 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ON (y.container_no = s.container_no)</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WHEN NOT MATCHED THEN INSERT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ELSE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DELETE FROM yard_containers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WHERE container_no = :NEW.container_no;</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END IF;</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END;</a:t>
            </a:r>
            <a:endParaRPr lang="en-US" sz="1250" dirty="0"/>
          </a:p>
        </p:txBody>
      </p:sp>
      <p:sp>
        <p:nvSpPr>
          <p:cNvPr id="23" name="Text 21"/>
          <p:cNvSpPr txBox="1"/>
          <p:nvPr/>
        </p:nvSpPr>
        <p:spPr>
          <a:xfrm>
            <a:off x="5943600" y="5532120"/>
            <a:ext cx="5696712" cy="411480"/>
          </a:xfrm>
          <a:prstGeom prst="rect">
            <a:avLst/>
          </a:prstGeom>
          <a:noFill/>
          <a:ln/>
        </p:spPr>
        <p:txBody>
          <a:bodyPr wrap="square" lIns="0" tIns="0" rIns="0" bIns="0" rtlCol="0" anchor="t"/>
          <a:lstStyle/>
          <a:p>
            <a:pPr indent="0" marL="0">
              <a:buNone/>
            </a:pPr>
            <a:r>
              <a:rPr lang="en-US" sz="1300" i="1" dirty="0">
                <a:solidFill>
                  <a:schemeClr val="accent5"/>
                </a:solidFill>
              </a:rPr>
              <a:t>Example trigger: each crane move keeps the yard stock up to date automatically</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Three roles, and every change is traceable</a:t>
            </a:r>
            <a:endParaRPr lang="en-US" sz="3400" dirty="0"/>
          </a:p>
        </p:txBody>
      </p:sp>
      <p:sp>
        <p:nvSpPr>
          <p:cNvPr id="3" name="Administrator card"/>
          <p:cNvSpPr/>
          <p:nvPr/>
        </p:nvSpPr>
        <p:spPr>
          <a:xfrm>
            <a:off x="548640" y="1417320"/>
            <a:ext cx="3520440" cy="2514600"/>
          </a:xfrm>
          <a:prstGeom prst="roundRect">
            <a:avLst>
              <a:gd name="adj" fmla="val 4364"/>
            </a:avLst>
          </a:prstGeom>
          <a:solidFill>
            <a:schemeClr val="bg2"/>
          </a:solidFill>
          <a:ln w="12700">
            <a:solidFill>
              <a:schemeClr val="bg2"/>
            </a:solidFill>
            <a:prstDash val="solid"/>
          </a:ln>
        </p:spPr>
      </p:sp>
      <p:sp>
        <p:nvSpPr>
          <p:cNvPr id="4" name="Administrator circle"/>
          <p:cNvSpPr/>
          <p:nvPr/>
        </p:nvSpPr>
        <p:spPr>
          <a:xfrm>
            <a:off x="822960" y="1691640"/>
            <a:ext cx="685800" cy="685800"/>
          </a:xfrm>
          <a:prstGeom prst="ellipse">
            <a:avLst/>
          </a:prstGeom>
          <a:solidFill>
            <a:schemeClr val="accent4"/>
          </a:solidFill>
          <a:ln w="12700">
            <a:solidFill>
              <a:schemeClr val="accent4"/>
            </a:solidFill>
            <a:prstDash val="solid"/>
          </a:ln>
        </p:spPr>
      </p:sp>
      <p:pic>
        <p:nvPicPr>
          <p:cNvPr id="5" name="Administrator icon" descr="preencoded.png">    </p:cNvPr>
          <p:cNvPicPr>
            <a:picLocks noChangeAspect="1"/>
          </p:cNvPicPr>
          <p:nvPr/>
        </p:nvPicPr>
        <p:blipFill>
          <a:blip r:embed="rId1"/>
          <a:stretch>
            <a:fillRect/>
          </a:stretch>
        </p:blipFill>
        <p:spPr>
          <a:xfrm>
            <a:off x="994410" y="1863090"/>
            <a:ext cx="342900" cy="342900"/>
          </a:xfrm>
          <a:prstGeom prst="rect">
            <a:avLst/>
          </a:prstGeom>
        </p:spPr>
      </p:pic>
      <p:sp>
        <p:nvSpPr>
          <p:cNvPr id="6" name="Text 3"/>
          <p:cNvSpPr txBox="1"/>
          <p:nvPr/>
        </p:nvSpPr>
        <p:spPr>
          <a:xfrm>
            <a:off x="1645920" y="1737360"/>
            <a:ext cx="2240280" cy="594360"/>
          </a:xfrm>
          <a:prstGeom prst="rect">
            <a:avLst/>
          </a:prstGeom>
          <a:noFill/>
          <a:ln/>
        </p:spPr>
        <p:txBody>
          <a:bodyPr wrap="square" lIns="0" tIns="0" rIns="0" bIns="0" rtlCol="0" anchor="ctr"/>
          <a:lstStyle/>
          <a:p>
            <a:pPr indent="0" marL="0">
              <a:buNone/>
            </a:pPr>
            <a:r>
              <a:rPr lang="en-US" sz="1900" b="1" dirty="0">
                <a:solidFill>
                  <a:schemeClr val="tx2"/>
                </a:solidFill>
              </a:rPr>
              <a:t>Administrator</a:t>
            </a:r>
            <a:endParaRPr lang="en-US" sz="1900" dirty="0"/>
          </a:p>
        </p:txBody>
      </p:sp>
      <p:sp>
        <p:nvSpPr>
          <p:cNvPr id="7" name="Text 4"/>
          <p:cNvSpPr txBox="1"/>
          <p:nvPr/>
        </p:nvSpPr>
        <p:spPr>
          <a:xfrm>
            <a:off x="822960" y="2606040"/>
            <a:ext cx="2971800" cy="1188720"/>
          </a:xfrm>
          <a:prstGeom prst="rect">
            <a:avLst/>
          </a:prstGeom>
          <a:noFill/>
          <a:ln/>
        </p:spPr>
        <p:txBody>
          <a:bodyPr wrap="square" lIns="0" tIns="0" rIns="0" bIns="0" rtlCol="0" anchor="t"/>
          <a:lstStyle/>
          <a:p>
            <a:pPr indent="0" marL="0">
              <a:buNone/>
            </a:pPr>
            <a:r>
              <a:rPr lang="en-US" sz="1500" dirty="0">
                <a:solidFill>
                  <a:schemeClr val="tx1"/>
                </a:solidFill>
              </a:rPr>
              <a:t>All 14 permissions: user accounts and site access, all sites, audit trail, run SQL, park, port and stores</a:t>
            </a:r>
            <a:endParaRPr lang="en-US" sz="1500" dirty="0"/>
          </a:p>
        </p:txBody>
      </p:sp>
      <p:sp>
        <p:nvSpPr>
          <p:cNvPr id="8" name="Operations Manager card"/>
          <p:cNvSpPr/>
          <p:nvPr/>
        </p:nvSpPr>
        <p:spPr>
          <a:xfrm>
            <a:off x="4425696" y="1417320"/>
            <a:ext cx="3520440" cy="2514600"/>
          </a:xfrm>
          <a:prstGeom prst="roundRect">
            <a:avLst>
              <a:gd name="adj" fmla="val 4364"/>
            </a:avLst>
          </a:prstGeom>
          <a:solidFill>
            <a:schemeClr val="bg2"/>
          </a:solidFill>
          <a:ln w="12700">
            <a:solidFill>
              <a:schemeClr val="bg2"/>
            </a:solidFill>
            <a:prstDash val="solid"/>
          </a:ln>
        </p:spPr>
      </p:sp>
      <p:sp>
        <p:nvSpPr>
          <p:cNvPr id="9" name="Operations Manager circle"/>
          <p:cNvSpPr/>
          <p:nvPr/>
        </p:nvSpPr>
        <p:spPr>
          <a:xfrm>
            <a:off x="4700016" y="1691640"/>
            <a:ext cx="685800" cy="685800"/>
          </a:xfrm>
          <a:prstGeom prst="ellipse">
            <a:avLst/>
          </a:prstGeom>
          <a:solidFill>
            <a:schemeClr val="accent2"/>
          </a:solidFill>
          <a:ln w="12700">
            <a:solidFill>
              <a:schemeClr val="accent2"/>
            </a:solidFill>
            <a:prstDash val="solid"/>
          </a:ln>
        </p:spPr>
      </p:sp>
      <p:pic>
        <p:nvPicPr>
          <p:cNvPr id="10" name="Operations Manager icon" descr="preencoded.png">    </p:cNvPr>
          <p:cNvPicPr>
            <a:picLocks noChangeAspect="1"/>
          </p:cNvPicPr>
          <p:nvPr/>
        </p:nvPicPr>
        <p:blipFill>
          <a:blip r:embed="rId2"/>
          <a:stretch>
            <a:fillRect/>
          </a:stretch>
        </p:blipFill>
        <p:spPr>
          <a:xfrm>
            <a:off x="4871466" y="1863090"/>
            <a:ext cx="342900" cy="342900"/>
          </a:xfrm>
          <a:prstGeom prst="rect">
            <a:avLst/>
          </a:prstGeom>
        </p:spPr>
      </p:pic>
      <p:sp>
        <p:nvSpPr>
          <p:cNvPr id="11" name="Text 7"/>
          <p:cNvSpPr txBox="1"/>
          <p:nvPr/>
        </p:nvSpPr>
        <p:spPr>
          <a:xfrm>
            <a:off x="5522976" y="1737360"/>
            <a:ext cx="2240280" cy="594360"/>
          </a:xfrm>
          <a:prstGeom prst="rect">
            <a:avLst/>
          </a:prstGeom>
          <a:noFill/>
          <a:ln/>
        </p:spPr>
        <p:txBody>
          <a:bodyPr wrap="square" lIns="0" tIns="0" rIns="0" bIns="0" rtlCol="0" anchor="ctr"/>
          <a:lstStyle/>
          <a:p>
            <a:pPr indent="0" marL="0">
              <a:buNone/>
            </a:pPr>
            <a:r>
              <a:rPr lang="en-US" sz="1900" b="1" dirty="0">
                <a:solidFill>
                  <a:schemeClr val="tx2"/>
                </a:solidFill>
              </a:rPr>
              <a:t>Operations Manager</a:t>
            </a:r>
            <a:endParaRPr lang="en-US" sz="1900" dirty="0"/>
          </a:p>
        </p:txBody>
      </p:sp>
      <p:sp>
        <p:nvSpPr>
          <p:cNvPr id="12" name="Text 8"/>
          <p:cNvSpPr txBox="1"/>
          <p:nvPr/>
        </p:nvSpPr>
        <p:spPr>
          <a:xfrm>
            <a:off x="4700016" y="2606040"/>
            <a:ext cx="2971800" cy="1188720"/>
          </a:xfrm>
          <a:prstGeom prst="rect">
            <a:avLst/>
          </a:prstGeom>
          <a:noFill/>
          <a:ln/>
        </p:spPr>
        <p:txBody>
          <a:bodyPr wrap="square" lIns="0" tIns="0" rIns="0" bIns="0" rtlCol="0" anchor="t"/>
          <a:lstStyle/>
          <a:p>
            <a:pPr indent="0" marL="0">
              <a:buNone/>
            </a:pPr>
            <a:r>
              <a:rPr lang="en-US" sz="1500" dirty="0">
                <a:solidFill>
                  <a:schemeClr val="tx1"/>
                </a:solidFill>
              </a:rPr>
              <a:t>Assign tasks, reports, team, audit trail, hold ships, close berths, place store orders</a:t>
            </a:r>
            <a:endParaRPr lang="en-US" sz="1500" dirty="0"/>
          </a:p>
        </p:txBody>
      </p:sp>
      <p:sp>
        <p:nvSpPr>
          <p:cNvPr id="13" name="Operator card"/>
          <p:cNvSpPr/>
          <p:nvPr/>
        </p:nvSpPr>
        <p:spPr>
          <a:xfrm>
            <a:off x="8302752" y="1417320"/>
            <a:ext cx="3520440" cy="2514600"/>
          </a:xfrm>
          <a:prstGeom prst="roundRect">
            <a:avLst>
              <a:gd name="adj" fmla="val 4364"/>
            </a:avLst>
          </a:prstGeom>
          <a:solidFill>
            <a:schemeClr val="bg2"/>
          </a:solidFill>
          <a:ln w="12700">
            <a:solidFill>
              <a:schemeClr val="bg2"/>
            </a:solidFill>
            <a:prstDash val="solid"/>
          </a:ln>
        </p:spPr>
      </p:sp>
      <p:sp>
        <p:nvSpPr>
          <p:cNvPr id="14" name="Operator circle"/>
          <p:cNvSpPr/>
          <p:nvPr/>
        </p:nvSpPr>
        <p:spPr>
          <a:xfrm>
            <a:off x="8577072" y="1691640"/>
            <a:ext cx="685800" cy="685800"/>
          </a:xfrm>
          <a:prstGeom prst="ellipse">
            <a:avLst/>
          </a:prstGeom>
          <a:solidFill>
            <a:schemeClr val="accent1"/>
          </a:solidFill>
          <a:ln w="12700">
            <a:solidFill>
              <a:schemeClr val="accent1"/>
            </a:solidFill>
            <a:prstDash val="solid"/>
          </a:ln>
        </p:spPr>
      </p:sp>
      <p:pic>
        <p:nvPicPr>
          <p:cNvPr id="15" name="Operator icon" descr="preencoded.png">    </p:cNvPr>
          <p:cNvPicPr>
            <a:picLocks noChangeAspect="1"/>
          </p:cNvPicPr>
          <p:nvPr/>
        </p:nvPicPr>
        <p:blipFill>
          <a:blip r:embed="rId3"/>
          <a:stretch>
            <a:fillRect/>
          </a:stretch>
        </p:blipFill>
        <p:spPr>
          <a:xfrm>
            <a:off x="8748522" y="1863090"/>
            <a:ext cx="342900" cy="342900"/>
          </a:xfrm>
          <a:prstGeom prst="rect">
            <a:avLst/>
          </a:prstGeom>
        </p:spPr>
      </p:pic>
      <p:sp>
        <p:nvSpPr>
          <p:cNvPr id="16" name="Text 11"/>
          <p:cNvSpPr txBox="1"/>
          <p:nvPr/>
        </p:nvSpPr>
        <p:spPr>
          <a:xfrm>
            <a:off x="9400032" y="1737360"/>
            <a:ext cx="2240280" cy="594360"/>
          </a:xfrm>
          <a:prstGeom prst="rect">
            <a:avLst/>
          </a:prstGeom>
          <a:noFill/>
          <a:ln/>
        </p:spPr>
        <p:txBody>
          <a:bodyPr wrap="square" lIns="0" tIns="0" rIns="0" bIns="0" rtlCol="0" anchor="ctr"/>
          <a:lstStyle/>
          <a:p>
            <a:pPr indent="0" marL="0">
              <a:buNone/>
            </a:pPr>
            <a:r>
              <a:rPr lang="en-US" sz="1900" b="1" dirty="0">
                <a:solidFill>
                  <a:schemeClr val="tx2"/>
                </a:solidFill>
              </a:rPr>
              <a:t>Operator</a:t>
            </a:r>
            <a:endParaRPr lang="en-US" sz="1900" dirty="0"/>
          </a:p>
        </p:txBody>
      </p:sp>
      <p:sp>
        <p:nvSpPr>
          <p:cNvPr id="17" name="Text 12"/>
          <p:cNvSpPr txBox="1"/>
          <p:nvPr/>
        </p:nvSpPr>
        <p:spPr>
          <a:xfrm>
            <a:off x="8577072" y="2606040"/>
            <a:ext cx="2971800" cy="1188720"/>
          </a:xfrm>
          <a:prstGeom prst="rect">
            <a:avLst/>
          </a:prstGeom>
          <a:noFill/>
          <a:ln/>
        </p:spPr>
        <p:txBody>
          <a:bodyPr wrap="square" lIns="0" tIns="0" rIns="0" bIns="0" rtlCol="0" anchor="t"/>
          <a:lstStyle/>
          <a:p>
            <a:pPr indent="0" marL="0">
              <a:buNone/>
            </a:pPr>
            <a:r>
              <a:rPr lang="en-US" sz="1500" dirty="0">
                <a:solidFill>
                  <a:schemeClr val="tx1"/>
                </a:solidFill>
              </a:rPr>
              <a:t>Dashboard and their own tasks only: forklift operators, dock supervisors, inventory clerks</a:t>
            </a:r>
            <a:endParaRPr lang="en-US" sz="1500" dirty="0"/>
          </a:p>
        </p:txBody>
      </p:sp>
      <p:sp>
        <p:nvSpPr>
          <p:cNvPr id="18" name="Text 13"/>
          <p:cNvSpPr txBox="1"/>
          <p:nvPr/>
        </p:nvSpPr>
        <p:spPr>
          <a:xfrm>
            <a:off x="548640" y="4251960"/>
            <a:ext cx="2651760" cy="365760"/>
          </a:xfrm>
          <a:prstGeom prst="rect">
            <a:avLst/>
          </a:prstGeom>
          <a:noFill/>
          <a:ln/>
        </p:spPr>
        <p:txBody>
          <a:bodyPr wrap="square" lIns="0" tIns="0" rIns="0" bIns="0" rtlCol="0" anchor="t"/>
          <a:lstStyle/>
          <a:p>
            <a:pPr indent="0" marL="0">
              <a:buNone/>
            </a:pPr>
            <a:r>
              <a:rPr lang="en-US" sz="1600" b="1" dirty="0">
                <a:solidFill>
                  <a:schemeClr val="tx2"/>
                </a:solidFill>
              </a:rPr>
              <a:t>Hashed passwords</a:t>
            </a:r>
            <a:endParaRPr lang="en-US" sz="1600" dirty="0"/>
          </a:p>
        </p:txBody>
      </p:sp>
      <p:sp>
        <p:nvSpPr>
          <p:cNvPr id="19" name="Text 14"/>
          <p:cNvSpPr txBox="1"/>
          <p:nvPr/>
        </p:nvSpPr>
        <p:spPr>
          <a:xfrm>
            <a:off x="548640" y="4636008"/>
            <a:ext cx="2651760" cy="731520"/>
          </a:xfrm>
          <a:prstGeom prst="rect">
            <a:avLst/>
          </a:prstGeom>
          <a:noFill/>
          <a:ln/>
        </p:spPr>
        <p:txBody>
          <a:bodyPr wrap="square" lIns="0" tIns="0" rIns="0" bIns="0" rtlCol="0" anchor="t"/>
          <a:lstStyle/>
          <a:p>
            <a:pPr indent="0" marL="0">
              <a:buNone/>
            </a:pPr>
            <a:r>
              <a:rPr lang="en-US" sz="1400" dirty="0">
                <a:solidFill>
                  <a:schemeClr val="accent5"/>
                </a:solidFill>
              </a:rPr>
              <a:t>salted scrypt, never plain text</a:t>
            </a:r>
            <a:endParaRPr lang="en-US" sz="1400" dirty="0"/>
          </a:p>
        </p:txBody>
      </p:sp>
      <p:sp>
        <p:nvSpPr>
          <p:cNvPr id="20" name="Text 15"/>
          <p:cNvSpPr txBox="1"/>
          <p:nvPr/>
        </p:nvSpPr>
        <p:spPr>
          <a:xfrm>
            <a:off x="3355848" y="4251960"/>
            <a:ext cx="2651760" cy="365760"/>
          </a:xfrm>
          <a:prstGeom prst="rect">
            <a:avLst/>
          </a:prstGeom>
          <a:noFill/>
          <a:ln/>
        </p:spPr>
        <p:txBody>
          <a:bodyPr wrap="square" lIns="0" tIns="0" rIns="0" bIns="0" rtlCol="0" anchor="t"/>
          <a:lstStyle/>
          <a:p>
            <a:pPr indent="0" marL="0">
              <a:buNone/>
            </a:pPr>
            <a:r>
              <a:rPr lang="en-US" sz="1600" b="1" dirty="0">
                <a:solidFill>
                  <a:schemeClr val="tx2"/>
                </a:solidFill>
              </a:rPr>
              <a:t>Signed sessions</a:t>
            </a:r>
            <a:endParaRPr lang="en-US" sz="1600" dirty="0"/>
          </a:p>
        </p:txBody>
      </p:sp>
      <p:sp>
        <p:nvSpPr>
          <p:cNvPr id="21" name="Text 16"/>
          <p:cNvSpPr txBox="1"/>
          <p:nvPr/>
        </p:nvSpPr>
        <p:spPr>
          <a:xfrm>
            <a:off x="3355848" y="4636008"/>
            <a:ext cx="2651760" cy="731520"/>
          </a:xfrm>
          <a:prstGeom prst="rect">
            <a:avLst/>
          </a:prstGeom>
          <a:noFill/>
          <a:ln/>
        </p:spPr>
        <p:txBody>
          <a:bodyPr wrap="square" lIns="0" tIns="0" rIns="0" bIns="0" rtlCol="0" anchor="t"/>
          <a:lstStyle/>
          <a:p>
            <a:pPr indent="0" marL="0">
              <a:buNone/>
            </a:pPr>
            <a:r>
              <a:rPr lang="en-US" sz="1400" dirty="0">
                <a:solidFill>
                  <a:schemeClr val="accent5"/>
                </a:solidFill>
              </a:rPr>
              <a:t>expiring tokens, logged in USER_SESSIONS</a:t>
            </a:r>
            <a:endParaRPr lang="en-US" sz="1400" dirty="0"/>
          </a:p>
        </p:txBody>
      </p:sp>
      <p:sp>
        <p:nvSpPr>
          <p:cNvPr id="22" name="Text 17"/>
          <p:cNvSpPr txBox="1"/>
          <p:nvPr/>
        </p:nvSpPr>
        <p:spPr>
          <a:xfrm>
            <a:off x="6163056" y="4251960"/>
            <a:ext cx="2651760" cy="365760"/>
          </a:xfrm>
          <a:prstGeom prst="rect">
            <a:avLst/>
          </a:prstGeom>
          <a:noFill/>
          <a:ln/>
        </p:spPr>
        <p:txBody>
          <a:bodyPr wrap="square" lIns="0" tIns="0" rIns="0" bIns="0" rtlCol="0" anchor="t"/>
          <a:lstStyle/>
          <a:p>
            <a:pPr indent="0" marL="0">
              <a:buNone/>
            </a:pPr>
            <a:r>
              <a:rPr lang="en-US" sz="1600" b="1" dirty="0">
                <a:solidFill>
                  <a:schemeClr val="tx2"/>
                </a:solidFill>
              </a:rPr>
              <a:t>Site access</a:t>
            </a:r>
            <a:endParaRPr lang="en-US" sz="1600" dirty="0"/>
          </a:p>
        </p:txBody>
      </p:sp>
      <p:sp>
        <p:nvSpPr>
          <p:cNvPr id="23" name="Text 18"/>
          <p:cNvSpPr txBox="1"/>
          <p:nvPr/>
        </p:nvSpPr>
        <p:spPr>
          <a:xfrm>
            <a:off x="6163056" y="4636008"/>
            <a:ext cx="2651760" cy="731520"/>
          </a:xfrm>
          <a:prstGeom prst="rect">
            <a:avLst/>
          </a:prstGeom>
          <a:noFill/>
          <a:ln/>
        </p:spPr>
        <p:txBody>
          <a:bodyPr wrap="square" lIns="0" tIns="0" rIns="0" bIns="0" rtlCol="0" anchor="t"/>
          <a:lstStyle/>
          <a:p>
            <a:pPr indent="0" marL="0">
              <a:buNone/>
            </a:pPr>
            <a:r>
              <a:rPr lang="en-US" sz="1400" dirty="0">
                <a:solidFill>
                  <a:schemeClr val="accent5"/>
                </a:solidFill>
              </a:rPr>
              <a:t>users see only their sites</a:t>
            </a:r>
            <a:endParaRPr lang="en-US" sz="1400" dirty="0"/>
          </a:p>
        </p:txBody>
      </p:sp>
      <p:sp>
        <p:nvSpPr>
          <p:cNvPr id="24" name="Text 19"/>
          <p:cNvSpPr txBox="1"/>
          <p:nvPr/>
        </p:nvSpPr>
        <p:spPr>
          <a:xfrm>
            <a:off x="8970264" y="4251960"/>
            <a:ext cx="2651760" cy="365760"/>
          </a:xfrm>
          <a:prstGeom prst="rect">
            <a:avLst/>
          </a:prstGeom>
          <a:noFill/>
          <a:ln/>
        </p:spPr>
        <p:txBody>
          <a:bodyPr wrap="square" lIns="0" tIns="0" rIns="0" bIns="0" rtlCol="0" anchor="t"/>
          <a:lstStyle/>
          <a:p>
            <a:pPr indent="0" marL="0">
              <a:buNone/>
            </a:pPr>
            <a:r>
              <a:rPr lang="en-US" sz="1600" b="1" dirty="0">
                <a:solidFill>
                  <a:schemeClr val="tx2"/>
                </a:solidFill>
              </a:rPr>
              <a:t>Audit trail</a:t>
            </a:r>
            <a:endParaRPr lang="en-US" sz="1600" dirty="0"/>
          </a:p>
        </p:txBody>
      </p:sp>
      <p:sp>
        <p:nvSpPr>
          <p:cNvPr id="25" name="Text 20"/>
          <p:cNvSpPr txBox="1"/>
          <p:nvPr/>
        </p:nvSpPr>
        <p:spPr>
          <a:xfrm>
            <a:off x="8970264" y="4636008"/>
            <a:ext cx="2651760" cy="731520"/>
          </a:xfrm>
          <a:prstGeom prst="rect">
            <a:avLst/>
          </a:prstGeom>
          <a:noFill/>
          <a:ln/>
        </p:spPr>
        <p:txBody>
          <a:bodyPr wrap="square" lIns="0" tIns="0" rIns="0" bIns="0" rtlCol="0" anchor="t"/>
          <a:lstStyle/>
          <a:p>
            <a:pPr indent="0" marL="0">
              <a:buNone/>
            </a:pPr>
            <a:r>
              <a:rPr lang="en-US" sz="1400" dirty="0">
                <a:solidFill>
                  <a:schemeClr val="accent5"/>
                </a:solidFill>
              </a:rPr>
              <a:t>DBMS_SESSION identifier → AUDIT_LOG</a:t>
            </a:r>
            <a:endParaRPr lang="en-US" sz="1400" dirty="0"/>
          </a:p>
        </p:txBody>
      </p:sp>
      <p:sp>
        <p:nvSpPr>
          <p:cNvPr id="26" name="Text 21"/>
          <p:cNvSpPr txBox="1"/>
          <p:nvPr/>
        </p:nvSpPr>
        <p:spPr>
          <a:xfrm>
            <a:off x="548640" y="5440680"/>
            <a:ext cx="11094415" cy="365760"/>
          </a:xfrm>
          <a:prstGeom prst="rect">
            <a:avLst/>
          </a:prstGeom>
          <a:noFill/>
          <a:ln/>
        </p:spPr>
        <p:txBody>
          <a:bodyPr wrap="square" lIns="0" tIns="0" rIns="0" bIns="0" rtlCol="0" anchor="t"/>
          <a:lstStyle/>
          <a:p>
            <a:pPr indent="0" marL="0">
              <a:buNone/>
            </a:pPr>
            <a:r>
              <a:rPr lang="en-US" sz="1500" i="1" dirty="0">
                <a:solidFill>
                  <a:schemeClr val="accent5"/>
                </a:solidFill>
              </a:rPr>
              <a:t>All queries use bind variables, which prevents SQL injection.</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live system: warehouse, port and stores</a:t>
            </a:r>
            <a:endParaRPr lang="en-US" sz="3400" dirty="0"/>
          </a:p>
        </p:txBody>
      </p:sp>
      <p:pic>
        <p:nvPicPr>
          <p:cNvPr id="3" name="warehouse.png screenshot" descr="/home/claude/pv/deck/warehouse.png">    </p:cNvPr>
          <p:cNvPicPr>
            <a:picLocks noChangeAspect="1"/>
          </p:cNvPicPr>
          <p:nvPr/>
        </p:nvPicPr>
        <p:blipFill>
          <a:blip r:embed="rId1"/>
          <a:stretch>
            <a:fillRect/>
          </a:stretch>
        </p:blipFill>
        <p:spPr>
          <a:xfrm>
            <a:off x="548640" y="1600200"/>
            <a:ext cx="3520440" cy="1980248"/>
          </a:xfrm>
          <a:prstGeom prst="rect">
            <a:avLst/>
          </a:prstGeom>
          <a:effectLst>
            <a:outerShdw sx="100000" sy="100000" kx="0" ky="0" algn="bl" rotWithShape="0" blurRad="101600" dist="25400" dir="5400000">
              <a:srgbClr val="0B1F3A">
                <a:alpha val="12000"/>
              </a:srgbClr>
            </a:outerShdw>
          </a:effectLst>
        </p:spPr>
      </p:pic>
      <p:sp>
        <p:nvSpPr>
          <p:cNvPr id="4" name="Text 1"/>
          <p:cNvSpPr txBox="1"/>
          <p:nvPr/>
        </p:nvSpPr>
        <p:spPr>
          <a:xfrm>
            <a:off x="548640" y="3763327"/>
            <a:ext cx="3520440" cy="548640"/>
          </a:xfrm>
          <a:prstGeom prst="rect">
            <a:avLst/>
          </a:prstGeom>
          <a:noFill/>
          <a:ln/>
        </p:spPr>
        <p:txBody>
          <a:bodyPr wrap="square" lIns="0" tIns="0" rIns="0" bIns="0" rtlCol="0" anchor="t"/>
          <a:lstStyle/>
          <a:p>
            <a:pPr indent="0" marL="0">
              <a:buNone/>
            </a:pPr>
            <a:r>
              <a:rPr lang="en-US" sz="1400" b="1" dirty="0">
                <a:solidFill>
                  <a:schemeClr val="tx2"/>
                </a:solidFill>
              </a:rPr>
              <a:t>Warehouse: docks, trucks, forklifts and stock</a:t>
            </a:r>
            <a:endParaRPr lang="en-US" sz="1400" dirty="0"/>
          </a:p>
        </p:txBody>
      </p:sp>
      <p:pic>
        <p:nvPicPr>
          <p:cNvPr id="5" name="port.png screenshot" descr="/home/claude/pv/deck/port.png">    </p:cNvPr>
          <p:cNvPicPr>
            <a:picLocks noChangeAspect="1"/>
          </p:cNvPicPr>
          <p:nvPr/>
        </p:nvPicPr>
        <p:blipFill>
          <a:blip r:embed="rId2"/>
          <a:stretch>
            <a:fillRect/>
          </a:stretch>
        </p:blipFill>
        <p:spPr>
          <a:xfrm>
            <a:off x="4425696" y="1600200"/>
            <a:ext cx="3520440" cy="1980248"/>
          </a:xfrm>
          <a:prstGeom prst="rect">
            <a:avLst/>
          </a:prstGeom>
          <a:effectLst>
            <a:outerShdw sx="100000" sy="100000" kx="0" ky="0" algn="bl" rotWithShape="0" blurRad="101600" dist="25400" dir="5400000">
              <a:srgbClr val="0B1F3A">
                <a:alpha val="12000"/>
              </a:srgbClr>
            </a:outerShdw>
          </a:effectLst>
        </p:spPr>
      </p:pic>
      <p:sp>
        <p:nvSpPr>
          <p:cNvPr id="6" name="Text 2"/>
          <p:cNvSpPr txBox="1"/>
          <p:nvPr/>
        </p:nvSpPr>
        <p:spPr>
          <a:xfrm>
            <a:off x="4425696" y="3763327"/>
            <a:ext cx="3520440" cy="548640"/>
          </a:xfrm>
          <a:prstGeom prst="rect">
            <a:avLst/>
          </a:prstGeom>
          <a:noFill/>
          <a:ln/>
        </p:spPr>
        <p:txBody>
          <a:bodyPr wrap="square" lIns="0" tIns="0" rIns="0" bIns="0" rtlCol="0" anchor="t"/>
          <a:lstStyle/>
          <a:p>
            <a:pPr indent="0" marL="0">
              <a:buNone/>
            </a:pPr>
            <a:r>
              <a:rPr lang="en-US" sz="1400" b="1" dirty="0">
                <a:solidFill>
                  <a:schemeClr val="tx2"/>
                </a:solidFill>
              </a:rPr>
              <a:t>Port: ships, cranes and the container yard</a:t>
            </a:r>
            <a:endParaRPr lang="en-US" sz="1400" dirty="0"/>
          </a:p>
        </p:txBody>
      </p:sp>
      <p:pic>
        <p:nvPicPr>
          <p:cNvPr id="7" name="store.png screenshot" descr="/home/claude/pv/deck/store.png">    </p:cNvPr>
          <p:cNvPicPr>
            <a:picLocks noChangeAspect="1"/>
          </p:cNvPicPr>
          <p:nvPr/>
        </p:nvPicPr>
        <p:blipFill>
          <a:blip r:embed="rId3"/>
          <a:stretch>
            <a:fillRect/>
          </a:stretch>
        </p:blipFill>
        <p:spPr>
          <a:xfrm>
            <a:off x="8302752" y="1600200"/>
            <a:ext cx="3520440" cy="1980248"/>
          </a:xfrm>
          <a:prstGeom prst="rect">
            <a:avLst/>
          </a:prstGeom>
          <a:effectLst>
            <a:outerShdw sx="100000" sy="100000" kx="0" ky="0" algn="bl" rotWithShape="0" blurRad="101600" dist="25400" dir="5400000">
              <a:srgbClr val="0B1F3A">
                <a:alpha val="12000"/>
              </a:srgbClr>
            </a:outerShdw>
          </a:effectLst>
        </p:spPr>
      </p:pic>
      <p:sp>
        <p:nvSpPr>
          <p:cNvPr id="8" name="Text 3"/>
          <p:cNvSpPr txBox="1"/>
          <p:nvPr/>
        </p:nvSpPr>
        <p:spPr>
          <a:xfrm>
            <a:off x="8302752" y="3763327"/>
            <a:ext cx="3520440" cy="548640"/>
          </a:xfrm>
          <a:prstGeom prst="rect">
            <a:avLst/>
          </a:prstGeom>
          <a:noFill/>
          <a:ln/>
        </p:spPr>
        <p:txBody>
          <a:bodyPr wrap="square" lIns="0" tIns="0" rIns="0" bIns="0" rtlCol="0" anchor="t"/>
          <a:lstStyle/>
          <a:p>
            <a:pPr indent="0" marL="0">
              <a:buNone/>
            </a:pPr>
            <a:r>
              <a:rPr lang="en-US" sz="1400" b="1" dirty="0">
                <a:solidFill>
                  <a:schemeClr val="tx2"/>
                </a:solidFill>
              </a:rPr>
              <a:t>Stores: shelf stock and automatic reorders</a:t>
            </a:r>
            <a:endParaRPr lang="en-US" sz="1400" dirty="0"/>
          </a:p>
        </p:txBody>
      </p:sp>
      <p:pic>
        <p:nvPicPr>
          <p:cNvPr id="9" name="Houses screenshot" descr="/home/claude/pv/deck/houses.png">    </p:cNvPr>
          <p:cNvPicPr>
            <a:picLocks noChangeAspect="1"/>
          </p:cNvPicPr>
          <p:nvPr/>
        </p:nvPicPr>
        <p:blipFill>
          <a:blip r:embed="rId4"/>
          <a:stretch>
            <a:fillRect/>
          </a:stretch>
        </p:blipFill>
        <p:spPr>
          <a:xfrm>
            <a:off x="548640" y="4114800"/>
            <a:ext cx="3520440" cy="1980248"/>
          </a:xfrm>
          <a:prstGeom prst="rect">
            <a:avLst/>
          </a:prstGeom>
          <a:effectLst>
            <a:outerShdw sx="100000" sy="100000" kx="0" ky="0" algn="bl" rotWithShape="0" blurRad="101600" dist="25400" dir="5400000">
              <a:srgbClr val="0B1F3A">
                <a:alpha val="12000"/>
              </a:srgbClr>
            </a:outerShdw>
          </a:effectLst>
        </p:spPr>
      </p:pic>
      <p:sp>
        <p:nvSpPr>
          <p:cNvPr id="10" name="Text 4"/>
          <p:cNvSpPr txBox="1"/>
          <p:nvPr/>
        </p:nvSpPr>
        <p:spPr>
          <a:xfrm>
            <a:off x="4425696" y="4206240"/>
            <a:ext cx="7217359" cy="1280160"/>
          </a:xfrm>
          <a:prstGeom prst="rect">
            <a:avLst/>
          </a:prstGeom>
          <a:noFill/>
          <a:ln/>
        </p:spPr>
        <p:txBody>
          <a:bodyPr wrap="square" lIns="0" tIns="0" rIns="0" bIns="0" rtlCol="0" anchor="t"/>
          <a:lstStyle/>
          <a:p>
            <a:pPr indent="0" marL="0">
              <a:buNone/>
            </a:pPr>
            <a:r>
              <a:rPr lang="en-US" sz="1600" b="1" dirty="0">
                <a:solidFill>
                  <a:schemeClr val="tx2"/>
                </a:solidFill>
              </a:rPr>
              <a:t>A whole small city. </a:t>
            </a:r>
            <a:pPr indent="0" marL="0">
              <a:buNone/>
            </a:pPr>
            <a:r>
              <a:rPr lang="en-US" sz="1600" dirty="0">
                <a:solidFill>
                  <a:schemeClr val="tx1"/>
                </a:solidFill>
              </a:rPr>
              <a:t>Two housing estates, 11 vendor stores, a school, hospital, police and fire stations, a beach, people walking and over 100 vehicles. Click anything to see its database record.</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26 reports put advanced SQL to work</a:t>
            </a:r>
            <a:endParaRPr lang="en-US" sz="3400" dirty="0"/>
          </a:p>
        </p:txBody>
      </p:sp>
      <p:graphicFrame>
        <p:nvGraphicFramePr>
          <p:cNvPr id="14" name="Reports table"/>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377440"/>
                <a:gridCol w="3657600"/>
              </a:tblGrid>
              <a:tr h="47548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SQL technique</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B1F3A"/>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Example report</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B1F3A"/>
                    </a:solidFill>
                  </a:tcPr>
                </a:tc>
              </a:tr>
              <a:tr h="475488">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GROUP BY ROLLUP</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EEF3F8"/>
                    </a:solidFill>
                  </a:tcPr>
                </a:tc>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On-time delivery by site, with subtotals</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EEF3F8"/>
                    </a:solidFill>
                  </a:tcPr>
                </a:tc>
              </a:tr>
              <a:tr h="475488">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Analytic window functions</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Running stock level per site from the ledger</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PIVOT</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EEF3F8"/>
                    </a:solidFill>
                  </a:tcPr>
                </a:tc>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Gate traffic per hour; store deliveries by status</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EEF3F8"/>
                    </a:solidFill>
                  </a:tcPr>
                </a:tc>
              </a:tr>
              <a:tr h="475488">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MINUS set operation</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Trucks that came in but have not left yet</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NOT EXISTS anti-join</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EEF3F8"/>
                    </a:solidFill>
                  </a:tcPr>
                </a:tc>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Employees with no open work</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EEF3F8"/>
                    </a:solidFill>
                  </a:tcPr>
                </a:tc>
              </a:tr>
              <a:tr h="475488">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Self-join of a ledger</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Trace a container from ship to warehouse</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Interval arithmetic</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EEF3F8"/>
                    </a:solidFill>
                  </a:tcPr>
                </a:tc>
                <a:tc>
                  <a:txBody>
                    <a:bodyPr/>
                    <a:lstStyle/>
                    <a:p>
                      <a:pPr indent="0" marL="0">
                        <a:buNone/>
                      </a:pPr>
                      <a:r>
                        <a:rPr lang="en-US" sz="1350" dirty="0">
                          <a:solidFill>
                            <a:srgbClr val="16202E"/>
                          </a:solidFill>
                          <a:latin typeface="Calibri" pitchFamily="34" charset="0"/>
                          <a:ea typeface="Calibri" pitchFamily="34" charset="-122"/>
                          <a:cs typeface="Calibri" pitchFamily="34" charset="-120"/>
                        </a:rPr>
                        <a:t>Ship turnaround minutes per port call</a:t>
                      </a:r>
                      <a:endParaRPr lang="en-US" sz="1350" dirty="0">
                        <a:latin typeface="Calibri" charset="0"/>
                        <a:ea typeface="Calibri" charset="0"/>
                        <a:cs typeface="Calibri" charset="0"/>
                      </a:endParaRPr>
                    </a:p>
                  </a:txBody>
                  <a:tcPr marL="73152" marR="73152" marT="73152" marB="7315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EEF3F8"/>
                    </a:solidFill>
                  </a:tcPr>
                </a:tc>
              </a:tr>
            </a:tbl>
          </a:graphicData>
        </a:graphic>
      </p:graphicFrame>
      <p:sp>
        <p:nvSpPr>
          <p:cNvPr id="4" name="Report code panel"/>
          <p:cNvSpPr/>
          <p:nvPr/>
        </p:nvSpPr>
        <p:spPr>
          <a:xfrm>
            <a:off x="6903720" y="1417320"/>
            <a:ext cx="4736592" cy="3840480"/>
          </a:xfrm>
          <a:prstGeom prst="roundRect">
            <a:avLst>
              <a:gd name="adj" fmla="val 2381"/>
            </a:avLst>
          </a:prstGeom>
          <a:solidFill>
            <a:srgbClr val="0B1F3A"/>
          </a:solidFill>
          <a:ln w="12700">
            <a:solidFill>
              <a:srgbClr val="0B1F3A"/>
            </a:solidFill>
            <a:prstDash val="solid"/>
          </a:ln>
        </p:spPr>
      </p:sp>
      <p:sp>
        <p:nvSpPr>
          <p:cNvPr id="5" name="Text 2"/>
          <p:cNvSpPr txBox="1"/>
          <p:nvPr/>
        </p:nvSpPr>
        <p:spPr>
          <a:xfrm>
            <a:off x="7132320" y="1600200"/>
            <a:ext cx="4343400" cy="352044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SELECT d.container_no, v.name AS vessel,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g.facility_id AS delivered_to,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ROUND((CAST(g.created_at AS DATE)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CAST(d.created_at AS DATE))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24 * 60, 1) AS minutes_in_yard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FROM container_moves 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JOIN container_moves 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ON g.container_no = d.container_no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AND g.move_type = 'GATE_OUT'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JOIN vessels v ON v.vessel_id = d.vessel_id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WHERE d.move_type = 'DISCHARGE';</a:t>
            </a:r>
            <a:endParaRPr lang="en-US" sz="1200" dirty="0"/>
          </a:p>
        </p:txBody>
      </p:sp>
      <p:sp>
        <p:nvSpPr>
          <p:cNvPr id="6" name="Text 3"/>
          <p:cNvSpPr txBox="1"/>
          <p:nvPr/>
        </p:nvSpPr>
        <p:spPr>
          <a:xfrm>
            <a:off x="6903720" y="5349240"/>
            <a:ext cx="4736592" cy="411480"/>
          </a:xfrm>
          <a:prstGeom prst="rect">
            <a:avLst/>
          </a:prstGeom>
          <a:noFill/>
          <a:ln/>
        </p:spPr>
        <p:txBody>
          <a:bodyPr wrap="square" lIns="0" tIns="0" rIns="0" bIns="0" rtlCol="0" anchor="t"/>
          <a:lstStyle/>
          <a:p>
            <a:pPr indent="0" marL="0">
              <a:buNone/>
            </a:pPr>
            <a:r>
              <a:rPr lang="en-US" sz="1300" i="1" dirty="0">
                <a:solidFill>
                  <a:schemeClr val="accent5"/>
                </a:solidFill>
              </a:rPr>
              <a:t>Report 21: trace import containers from ship to warehouse</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Database Lab: four things only a database can do</a:t>
            </a:r>
            <a:endParaRPr lang="en-US" sz="3400" dirty="0"/>
          </a:p>
        </p:txBody>
      </p:sp>
      <p:sp>
        <p:nvSpPr>
          <p:cNvPr id="3" name="Control the city from SQL card"/>
          <p:cNvSpPr/>
          <p:nvPr/>
        </p:nvSpPr>
        <p:spPr>
          <a:xfrm>
            <a:off x="548640" y="1280160"/>
            <a:ext cx="5440680" cy="2286000"/>
          </a:xfrm>
          <a:prstGeom prst="roundRect">
            <a:avLst>
              <a:gd name="adj" fmla="val 4800"/>
            </a:avLst>
          </a:prstGeom>
          <a:solidFill>
            <a:schemeClr val="bg2"/>
          </a:solidFill>
          <a:ln w="12700">
            <a:solidFill>
              <a:schemeClr val="bg2"/>
            </a:solidFill>
            <a:prstDash val="solid"/>
          </a:ln>
        </p:spPr>
      </p:sp>
      <p:sp>
        <p:nvSpPr>
          <p:cNvPr id="4" name="Control the city from SQL accent"/>
          <p:cNvSpPr/>
          <p:nvPr/>
        </p:nvSpPr>
        <p:spPr>
          <a:xfrm>
            <a:off x="548640" y="1463040"/>
            <a:ext cx="73152" cy="1920240"/>
          </a:xfrm>
          <a:prstGeom prst="rect">
            <a:avLst/>
          </a:prstGeom>
          <a:solidFill>
            <a:schemeClr val="accent1"/>
          </a:solidFill>
          <a:ln w="12700">
            <a:solidFill>
              <a:schemeClr val="accent1"/>
            </a:solidFill>
            <a:prstDash val="solid"/>
          </a:ln>
        </p:spPr>
      </p:sp>
      <p:pic>
        <p:nvPicPr>
          <p:cNvPr id="5" name="Control the city from SQL screenshot" descr="preencoded.png">    </p:cNvPr>
          <p:cNvPicPr>
            <a:picLocks noChangeAspect="1"/>
          </p:cNvPicPr>
          <p:nvPr/>
        </p:nvPicPr>
        <p:blipFill>
          <a:blip r:embed="rId1"/>
          <a:stretch>
            <a:fillRect/>
          </a:stretch>
        </p:blipFill>
        <p:spPr>
          <a:xfrm>
            <a:off x="3566160" y="1804135"/>
            <a:ext cx="2240280" cy="1238049"/>
          </a:xfrm>
          <a:prstGeom prst="rect">
            <a:avLst/>
          </a:prstGeom>
          <a:effectLst>
            <a:outerShdw sx="100000" sy="100000" kx="0" ky="0" algn="bl" rotWithShape="0" blurRad="101600" dist="25400" dir="5400000">
              <a:srgbClr val="0B1F3A">
                <a:alpha val="12000"/>
              </a:srgbClr>
            </a:outerShdw>
          </a:effectLst>
        </p:spPr>
      </p:pic>
      <p:sp>
        <p:nvSpPr>
          <p:cNvPr id="6" name="Text 3"/>
          <p:cNvSpPr txBox="1"/>
          <p:nvPr/>
        </p:nvSpPr>
        <p:spPr>
          <a:xfrm>
            <a:off x="822960" y="1463040"/>
            <a:ext cx="2606040" cy="384048"/>
          </a:xfrm>
          <a:prstGeom prst="rect">
            <a:avLst/>
          </a:prstGeom>
          <a:noFill/>
          <a:ln/>
        </p:spPr>
        <p:txBody>
          <a:bodyPr wrap="square" lIns="0" tIns="0" rIns="0" bIns="0" rtlCol="0" anchor="t"/>
          <a:lstStyle/>
          <a:p>
            <a:pPr indent="0" marL="0">
              <a:buNone/>
            </a:pPr>
            <a:r>
              <a:rPr lang="en-US" sz="1700" b="1" dirty="0">
                <a:solidFill>
                  <a:schemeClr val="tx2"/>
                </a:solidFill>
              </a:rPr>
              <a:t>Control the city from SQL</a:t>
            </a:r>
            <a:endParaRPr lang="en-US" sz="1700" dirty="0"/>
          </a:p>
        </p:txBody>
      </p:sp>
      <p:sp>
        <p:nvSpPr>
          <p:cNvPr id="7" name="Text 4"/>
          <p:cNvSpPr txBox="1"/>
          <p:nvPr/>
        </p:nvSpPr>
        <p:spPr>
          <a:xfrm>
            <a:off x="822960" y="1901952"/>
            <a:ext cx="2606040" cy="457200"/>
          </a:xfrm>
          <a:prstGeom prst="rect">
            <a:avLst/>
          </a:prstGeom>
          <a:noFill/>
          <a:ln/>
        </p:spPr>
        <p:txBody>
          <a:bodyPr wrap="square" lIns="0" tIns="0" rIns="0" bIns="0" rtlCol="0" anchor="t"/>
          <a:lstStyle/>
          <a:p>
            <a:pPr indent="0" marL="0">
              <a:buNone/>
            </a:pPr>
            <a:r>
              <a:rPr lang="en-US" sz="1000" b="1" dirty="0">
                <a:solidFill>
                  <a:schemeClr val="accent2"/>
                </a:solidFill>
                <a:latin typeface="Courier New" pitchFamily="34" charset="0"/>
                <a:ea typeface="Courier New" pitchFamily="34" charset="-122"/>
                <a:cs typeface="Courier New" pitchFamily="34" charset="-120"/>
              </a:rPr>
              <a:t>UPDATE port_berths SET is_open = 'N' …</a:t>
            </a:r>
            <a:endParaRPr lang="en-US" sz="1000" dirty="0"/>
          </a:p>
        </p:txBody>
      </p:sp>
      <p:sp>
        <p:nvSpPr>
          <p:cNvPr id="8" name="Text 5"/>
          <p:cNvSpPr txBox="1"/>
          <p:nvPr/>
        </p:nvSpPr>
        <p:spPr>
          <a:xfrm>
            <a:off x="822960" y="2377440"/>
            <a:ext cx="2606040" cy="1051560"/>
          </a:xfrm>
          <a:prstGeom prst="rect">
            <a:avLst/>
          </a:prstGeom>
          <a:noFill/>
          <a:ln/>
        </p:spPr>
        <p:txBody>
          <a:bodyPr wrap="square" lIns="0" tIns="0" rIns="0" bIns="0" rtlCol="0" anchor="t"/>
          <a:lstStyle/>
          <a:p>
            <a:pPr indent="0" marL="0">
              <a:buNone/>
            </a:pPr>
            <a:r>
              <a:rPr lang="en-US" sz="1250" dirty="0">
                <a:solidFill>
                  <a:schemeClr val="tx1"/>
                </a:solidFill>
              </a:rPr>
              <a:t>Row triggers spot changes made outside the app and queue them; the berth closes in 3D within a second.</a:t>
            </a:r>
            <a:endParaRPr lang="en-US" sz="1250" dirty="0"/>
          </a:p>
        </p:txBody>
      </p:sp>
      <p:sp>
        <p:nvSpPr>
          <p:cNvPr id="9" name="Time machine card"/>
          <p:cNvSpPr/>
          <p:nvPr/>
        </p:nvSpPr>
        <p:spPr>
          <a:xfrm>
            <a:off x="6199632" y="1280160"/>
            <a:ext cx="5440680" cy="2286000"/>
          </a:xfrm>
          <a:prstGeom prst="roundRect">
            <a:avLst>
              <a:gd name="adj" fmla="val 4800"/>
            </a:avLst>
          </a:prstGeom>
          <a:solidFill>
            <a:schemeClr val="bg2"/>
          </a:solidFill>
          <a:ln w="12700">
            <a:solidFill>
              <a:schemeClr val="bg2"/>
            </a:solidFill>
            <a:prstDash val="solid"/>
          </a:ln>
        </p:spPr>
      </p:sp>
      <p:sp>
        <p:nvSpPr>
          <p:cNvPr id="10" name="Time machine accent"/>
          <p:cNvSpPr/>
          <p:nvPr/>
        </p:nvSpPr>
        <p:spPr>
          <a:xfrm>
            <a:off x="6199632" y="1463040"/>
            <a:ext cx="73152" cy="1920240"/>
          </a:xfrm>
          <a:prstGeom prst="rect">
            <a:avLst/>
          </a:prstGeom>
          <a:solidFill>
            <a:schemeClr val="accent2"/>
          </a:solidFill>
          <a:ln w="12700">
            <a:solidFill>
              <a:schemeClr val="accent2"/>
            </a:solidFill>
            <a:prstDash val="solid"/>
          </a:ln>
        </p:spPr>
      </p:sp>
      <p:pic>
        <p:nvPicPr>
          <p:cNvPr id="11" name="Time machine screenshot" descr="preencoded.png">    </p:cNvPr>
          <p:cNvPicPr>
            <a:picLocks noChangeAspect="1"/>
          </p:cNvPicPr>
          <p:nvPr/>
        </p:nvPicPr>
        <p:blipFill>
          <a:blip r:embed="rId2"/>
          <a:stretch>
            <a:fillRect/>
          </a:stretch>
        </p:blipFill>
        <p:spPr>
          <a:xfrm>
            <a:off x="9217152" y="1801419"/>
            <a:ext cx="2240280" cy="1243481"/>
          </a:xfrm>
          <a:prstGeom prst="rect">
            <a:avLst/>
          </a:prstGeom>
          <a:effectLst>
            <a:outerShdw sx="100000" sy="100000" kx="0" ky="0" algn="bl" rotWithShape="0" blurRad="101600" dist="25400" dir="5400000">
              <a:srgbClr val="0B1F3A">
                <a:alpha val="12000"/>
              </a:srgbClr>
            </a:outerShdw>
          </a:effectLst>
        </p:spPr>
      </p:pic>
      <p:sp>
        <p:nvSpPr>
          <p:cNvPr id="12" name="Text 8"/>
          <p:cNvSpPr txBox="1"/>
          <p:nvPr/>
        </p:nvSpPr>
        <p:spPr>
          <a:xfrm>
            <a:off x="6473952" y="1463040"/>
            <a:ext cx="2606040" cy="384048"/>
          </a:xfrm>
          <a:prstGeom prst="rect">
            <a:avLst/>
          </a:prstGeom>
          <a:noFill/>
          <a:ln/>
        </p:spPr>
        <p:txBody>
          <a:bodyPr wrap="square" lIns="0" tIns="0" rIns="0" bIns="0" rtlCol="0" anchor="t"/>
          <a:lstStyle/>
          <a:p>
            <a:pPr indent="0" marL="0">
              <a:buNone/>
            </a:pPr>
            <a:r>
              <a:rPr lang="en-US" sz="1700" b="1" dirty="0">
                <a:solidFill>
                  <a:schemeClr val="tx2"/>
                </a:solidFill>
              </a:rPr>
              <a:t>Time machine</a:t>
            </a:r>
            <a:endParaRPr lang="en-US" sz="1700" dirty="0"/>
          </a:p>
        </p:txBody>
      </p:sp>
      <p:sp>
        <p:nvSpPr>
          <p:cNvPr id="13" name="Text 9"/>
          <p:cNvSpPr txBox="1"/>
          <p:nvPr/>
        </p:nvSpPr>
        <p:spPr>
          <a:xfrm>
            <a:off x="6473952" y="1901952"/>
            <a:ext cx="2606040" cy="457200"/>
          </a:xfrm>
          <a:prstGeom prst="rect">
            <a:avLst/>
          </a:prstGeom>
          <a:noFill/>
          <a:ln/>
        </p:spPr>
        <p:txBody>
          <a:bodyPr wrap="square" lIns="0" tIns="0" rIns="0" bIns="0" rtlCol="0" anchor="t"/>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SELECT … FROM trucks AS OF SCN :scn</a:t>
            </a:r>
            <a:endParaRPr lang="en-US" sz="1000" dirty="0"/>
          </a:p>
        </p:txBody>
      </p:sp>
      <p:sp>
        <p:nvSpPr>
          <p:cNvPr id="14" name="Text 10"/>
          <p:cNvSpPr txBox="1"/>
          <p:nvPr/>
        </p:nvSpPr>
        <p:spPr>
          <a:xfrm>
            <a:off x="6473952" y="2377440"/>
            <a:ext cx="2606040" cy="1051560"/>
          </a:xfrm>
          <a:prstGeom prst="rect">
            <a:avLst/>
          </a:prstGeom>
          <a:noFill/>
          <a:ln/>
        </p:spPr>
        <p:txBody>
          <a:bodyPr wrap="square" lIns="0" tIns="0" rIns="0" bIns="0" rtlCol="0" anchor="t"/>
          <a:lstStyle/>
          <a:p>
            <a:pPr indent="0" marL="0">
              <a:buNone/>
            </a:pPr>
            <a:r>
              <a:rPr lang="en-US" sz="1250" dirty="0">
                <a:solidFill>
                  <a:schemeClr val="tx1"/>
                </a:solidFill>
              </a:rPr>
              <a:t>Oracle Flashback rewinds every ship, truck and pallet up to 10 minutes, with no history tables.</a:t>
            </a:r>
            <a:endParaRPr lang="en-US" sz="1250" dirty="0"/>
          </a:p>
        </p:txBody>
      </p:sp>
      <p:sp>
        <p:nvSpPr>
          <p:cNvPr id="15" name="Row-level security card"/>
          <p:cNvSpPr/>
          <p:nvPr/>
        </p:nvSpPr>
        <p:spPr>
          <a:xfrm>
            <a:off x="548640" y="3749040"/>
            <a:ext cx="5440680" cy="2286000"/>
          </a:xfrm>
          <a:prstGeom prst="roundRect">
            <a:avLst>
              <a:gd name="adj" fmla="val 4800"/>
            </a:avLst>
          </a:prstGeom>
          <a:solidFill>
            <a:schemeClr val="bg2"/>
          </a:solidFill>
          <a:ln w="12700">
            <a:solidFill>
              <a:schemeClr val="bg2"/>
            </a:solidFill>
            <a:prstDash val="solid"/>
          </a:ln>
        </p:spPr>
      </p:sp>
      <p:sp>
        <p:nvSpPr>
          <p:cNvPr id="16" name="Row-level security accent"/>
          <p:cNvSpPr/>
          <p:nvPr/>
        </p:nvSpPr>
        <p:spPr>
          <a:xfrm>
            <a:off x="548640" y="3931920"/>
            <a:ext cx="73152" cy="1920240"/>
          </a:xfrm>
          <a:prstGeom prst="rect">
            <a:avLst/>
          </a:prstGeom>
          <a:solidFill>
            <a:schemeClr val="accent3"/>
          </a:solidFill>
          <a:ln w="12700">
            <a:solidFill>
              <a:schemeClr val="accent3"/>
            </a:solidFill>
            <a:prstDash val="solid"/>
          </a:ln>
        </p:spPr>
      </p:sp>
      <p:pic>
        <p:nvPicPr>
          <p:cNvPr id="17" name="Row-level security screenshot" descr="preencoded.png">    </p:cNvPr>
          <p:cNvPicPr>
            <a:picLocks noChangeAspect="1"/>
          </p:cNvPicPr>
          <p:nvPr/>
        </p:nvPicPr>
        <p:blipFill>
          <a:blip r:embed="rId3"/>
          <a:stretch>
            <a:fillRect/>
          </a:stretch>
        </p:blipFill>
        <p:spPr>
          <a:xfrm>
            <a:off x="3566160" y="4270736"/>
            <a:ext cx="2240280" cy="1242609"/>
          </a:xfrm>
          <a:prstGeom prst="rect">
            <a:avLst/>
          </a:prstGeom>
          <a:effectLst>
            <a:outerShdw sx="100000" sy="100000" kx="0" ky="0" algn="bl" rotWithShape="0" blurRad="101600" dist="25400" dir="5400000">
              <a:srgbClr val="0B1F3A">
                <a:alpha val="12000"/>
              </a:srgbClr>
            </a:outerShdw>
          </a:effectLst>
        </p:spPr>
      </p:pic>
      <p:sp>
        <p:nvSpPr>
          <p:cNvPr id="18" name="Text 13"/>
          <p:cNvSpPr txBox="1"/>
          <p:nvPr/>
        </p:nvSpPr>
        <p:spPr>
          <a:xfrm>
            <a:off x="822960" y="3931920"/>
            <a:ext cx="2606040" cy="384048"/>
          </a:xfrm>
          <a:prstGeom prst="rect">
            <a:avLst/>
          </a:prstGeom>
          <a:noFill/>
          <a:ln/>
        </p:spPr>
        <p:txBody>
          <a:bodyPr wrap="square" lIns="0" tIns="0" rIns="0" bIns="0" rtlCol="0" anchor="t"/>
          <a:lstStyle/>
          <a:p>
            <a:pPr indent="0" marL="0">
              <a:buNone/>
            </a:pPr>
            <a:r>
              <a:rPr lang="en-US" sz="1700" b="1" dirty="0">
                <a:solidFill>
                  <a:schemeClr val="tx2"/>
                </a:solidFill>
              </a:rPr>
              <a:t>Row-level security</a:t>
            </a:r>
            <a:endParaRPr lang="en-US" sz="1700" dirty="0"/>
          </a:p>
        </p:txBody>
      </p:sp>
      <p:sp>
        <p:nvSpPr>
          <p:cNvPr id="19" name="Text 14"/>
          <p:cNvSpPr txBox="1"/>
          <p:nvPr/>
        </p:nvSpPr>
        <p:spPr>
          <a:xfrm>
            <a:off x="822960" y="4370832"/>
            <a:ext cx="2606040" cy="457200"/>
          </a:xfrm>
          <a:prstGeom prst="rect">
            <a:avLst/>
          </a:prstGeom>
          <a:noFill/>
          <a:ln/>
        </p:spPr>
        <p:txBody>
          <a:bodyPr wrap="square" lIns="0" tIns="0" rIns="0" bIns="0" rtlCol="0" anchor="t"/>
          <a:lstStyle/>
          <a:p>
            <a:pPr indent="0" marL="0">
              <a:buNone/>
            </a:pPr>
            <a:r>
              <a:rPr lang="en-US" sz="1000" b="1" dirty="0">
                <a:solidFill>
                  <a:schemeClr val="accent2"/>
                </a:solidFill>
                <a:latin typeface="Courier New" pitchFamily="34" charset="0"/>
                <a:ea typeface="Courier New" pitchFamily="34" charset="-122"/>
                <a:cs typeface="Courier New" pitchFamily="34" charset="-120"/>
              </a:rPr>
              <a:t>WHERE facility_id IN ('WH-04')</a:t>
            </a:r>
            <a:endParaRPr lang="en-US" sz="1000" dirty="0"/>
          </a:p>
        </p:txBody>
      </p:sp>
      <p:sp>
        <p:nvSpPr>
          <p:cNvPr id="20" name="Text 15"/>
          <p:cNvSpPr txBox="1"/>
          <p:nvPr/>
        </p:nvSpPr>
        <p:spPr>
          <a:xfrm>
            <a:off x="822960" y="4846320"/>
            <a:ext cx="2606040" cy="1051560"/>
          </a:xfrm>
          <a:prstGeom prst="rect">
            <a:avLst/>
          </a:prstGeom>
          <a:noFill/>
          <a:ln/>
        </p:spPr>
        <p:txBody>
          <a:bodyPr wrap="square" lIns="0" tIns="0" rIns="0" bIns="0" rtlCol="0" anchor="t"/>
          <a:lstStyle/>
          <a:p>
            <a:pPr indent="0" marL="0">
              <a:buNone/>
            </a:pPr>
            <a:r>
              <a:rPr lang="en-US" sz="1250" dirty="0">
                <a:solidFill>
                  <a:schemeClr val="tx1"/>
                </a:solidFill>
              </a:rPr>
              <a:t>A Virtual Private Database policy: each SQL Developer account sees only its own sites.</a:t>
            </a:r>
            <a:endParaRPr lang="en-US" sz="1250" dirty="0"/>
          </a:p>
        </p:txBody>
      </p:sp>
      <p:sp>
        <p:nvSpPr>
          <p:cNvPr id="21" name="Concurrency lab card"/>
          <p:cNvSpPr/>
          <p:nvPr/>
        </p:nvSpPr>
        <p:spPr>
          <a:xfrm>
            <a:off x="6199632" y="3749040"/>
            <a:ext cx="5440680" cy="2286000"/>
          </a:xfrm>
          <a:prstGeom prst="roundRect">
            <a:avLst>
              <a:gd name="adj" fmla="val 4800"/>
            </a:avLst>
          </a:prstGeom>
          <a:solidFill>
            <a:schemeClr val="bg2"/>
          </a:solidFill>
          <a:ln w="12700">
            <a:solidFill>
              <a:schemeClr val="bg2"/>
            </a:solidFill>
            <a:prstDash val="solid"/>
          </a:ln>
        </p:spPr>
      </p:sp>
      <p:sp>
        <p:nvSpPr>
          <p:cNvPr id="22" name="Concurrency lab accent"/>
          <p:cNvSpPr/>
          <p:nvPr/>
        </p:nvSpPr>
        <p:spPr>
          <a:xfrm>
            <a:off x="6199632" y="3931920"/>
            <a:ext cx="73152" cy="1920240"/>
          </a:xfrm>
          <a:prstGeom prst="rect">
            <a:avLst/>
          </a:prstGeom>
          <a:solidFill>
            <a:schemeClr val="accent4"/>
          </a:solidFill>
          <a:ln w="12700">
            <a:solidFill>
              <a:schemeClr val="accent4"/>
            </a:solidFill>
            <a:prstDash val="solid"/>
          </a:ln>
        </p:spPr>
      </p:sp>
      <p:pic>
        <p:nvPicPr>
          <p:cNvPr id="23" name="Concurrency lab screenshot" descr="preencoded.png">    </p:cNvPr>
          <p:cNvPicPr>
            <a:picLocks noChangeAspect="1"/>
          </p:cNvPicPr>
          <p:nvPr/>
        </p:nvPicPr>
        <p:blipFill>
          <a:blip r:embed="rId4"/>
          <a:stretch>
            <a:fillRect/>
          </a:stretch>
        </p:blipFill>
        <p:spPr>
          <a:xfrm>
            <a:off x="9217152" y="4270736"/>
            <a:ext cx="2240280" cy="1242609"/>
          </a:xfrm>
          <a:prstGeom prst="rect">
            <a:avLst/>
          </a:prstGeom>
          <a:effectLst>
            <a:outerShdw sx="100000" sy="100000" kx="0" ky="0" algn="bl" rotWithShape="0" blurRad="101600" dist="25400" dir="5400000">
              <a:srgbClr val="0B1F3A">
                <a:alpha val="12000"/>
              </a:srgbClr>
            </a:outerShdw>
          </a:effectLst>
        </p:spPr>
      </p:pic>
      <p:sp>
        <p:nvSpPr>
          <p:cNvPr id="24" name="Text 18"/>
          <p:cNvSpPr txBox="1"/>
          <p:nvPr/>
        </p:nvSpPr>
        <p:spPr>
          <a:xfrm>
            <a:off x="6473952" y="3931920"/>
            <a:ext cx="2606040" cy="384048"/>
          </a:xfrm>
          <a:prstGeom prst="rect">
            <a:avLst/>
          </a:prstGeom>
          <a:noFill/>
          <a:ln/>
        </p:spPr>
        <p:txBody>
          <a:bodyPr wrap="square" lIns="0" tIns="0" rIns="0" bIns="0" rtlCol="0" anchor="t"/>
          <a:lstStyle/>
          <a:p>
            <a:pPr indent="0" marL="0">
              <a:buNone/>
            </a:pPr>
            <a:r>
              <a:rPr lang="en-US" sz="1700" b="1" dirty="0">
                <a:solidFill>
                  <a:schemeClr val="tx2"/>
                </a:solidFill>
              </a:rPr>
              <a:t>Concurrency lab</a:t>
            </a:r>
            <a:endParaRPr lang="en-US" sz="1700" dirty="0"/>
          </a:p>
        </p:txBody>
      </p:sp>
      <p:sp>
        <p:nvSpPr>
          <p:cNvPr id="25" name="Text 19"/>
          <p:cNvSpPr txBox="1"/>
          <p:nvPr/>
        </p:nvSpPr>
        <p:spPr>
          <a:xfrm>
            <a:off x="6473952" y="4370832"/>
            <a:ext cx="2606040" cy="457200"/>
          </a:xfrm>
          <a:prstGeom prst="rect">
            <a:avLst/>
          </a:prstGeom>
          <a:noFill/>
          <a:ln/>
        </p:spPr>
        <p:txBody>
          <a:bodyPr wrap="square" lIns="0" tIns="0" rIns="0" bIns="0" rtlCol="0" anchor="t"/>
          <a:lstStyle/>
          <a:p>
            <a:pPr indent="0" marL="0">
              <a:buNone/>
            </a:pPr>
            <a:r>
              <a:rPr lang="en-US" sz="1000" b="1" dirty="0">
                <a:solidFill>
                  <a:schemeClr val="accent2"/>
                </a:solidFill>
                <a:latin typeface="Courier New" pitchFamily="34" charset="0"/>
                <a:ea typeface="Courier New" pitchFamily="34" charset="-122"/>
                <a:cs typeface="Courier New" pitchFamily="34" charset="-120"/>
              </a:rPr>
              <a:t>ORA-00060: deadlock detected</a:t>
            </a:r>
            <a:endParaRPr lang="en-US" sz="1000" dirty="0"/>
          </a:p>
        </p:txBody>
      </p:sp>
      <p:sp>
        <p:nvSpPr>
          <p:cNvPr id="26" name="Text 20"/>
          <p:cNvSpPr txBox="1"/>
          <p:nvPr/>
        </p:nvSpPr>
        <p:spPr>
          <a:xfrm>
            <a:off x="6473952" y="4846320"/>
            <a:ext cx="2606040" cy="1051560"/>
          </a:xfrm>
          <a:prstGeom prst="rect">
            <a:avLst/>
          </a:prstGeom>
          <a:noFill/>
          <a:ln/>
        </p:spPr>
        <p:txBody>
          <a:bodyPr wrap="square" lIns="0" tIns="0" rIns="0" bIns="0" rtlCol="0" anchor="t"/>
          <a:lstStyle/>
          <a:p>
            <a:pPr indent="0" marL="0">
              <a:buNone/>
            </a:pPr>
            <a:r>
              <a:rPr lang="en-US" sz="1250" dirty="0">
                <a:solidFill>
                  <a:schemeClr val="tx1"/>
                </a:solidFill>
              </a:rPr>
              <a:t>Two real sessions: double booking prevented, lost update shown and fixed with FOR UPDATE.</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Smart Warehouse: the database runs the building</a:t>
            </a:r>
            <a:endParaRPr lang="en-US" sz="3400" dirty="0"/>
          </a:p>
        </p:txBody>
      </p:sp>
      <p:pic>
        <p:nvPicPr>
          <p:cNvPr id="3" name="X-ray view screenshot" descr="preencoded.png">    </p:cNvPr>
          <p:cNvPicPr>
            <a:picLocks noChangeAspect="1"/>
          </p:cNvPicPr>
          <p:nvPr/>
        </p:nvPicPr>
        <p:blipFill>
          <a:blip r:embed="rId1"/>
          <a:stretch>
            <a:fillRect/>
          </a:stretch>
        </p:blipFill>
        <p:spPr>
          <a:xfrm>
            <a:off x="548640" y="1325880"/>
            <a:ext cx="4892040" cy="3818178"/>
          </a:xfrm>
          <a:prstGeom prst="rect">
            <a:avLst/>
          </a:prstGeom>
          <a:effectLst>
            <a:outerShdw sx="100000" sy="100000" kx="0" ky="0" algn="bl" rotWithShape="0" blurRad="101600" dist="25400" dir="5400000">
              <a:srgbClr val="0B1F3A">
                <a:alpha val="12000"/>
              </a:srgbClr>
            </a:outerShdw>
          </a:effectLst>
        </p:spPr>
      </p:pic>
      <p:sp>
        <p:nvSpPr>
          <p:cNvPr id="4" name="Text 1"/>
          <p:cNvSpPr txBox="1"/>
          <p:nvPr/>
        </p:nvSpPr>
        <p:spPr>
          <a:xfrm>
            <a:off x="548640" y="5253786"/>
            <a:ext cx="4892040" cy="457200"/>
          </a:xfrm>
          <a:prstGeom prst="rect">
            <a:avLst/>
          </a:prstGeom>
          <a:noFill/>
          <a:ln/>
        </p:spPr>
        <p:txBody>
          <a:bodyPr wrap="square" lIns="0" tIns="0" rIns="0" bIns="0" rtlCol="0" anchor="t"/>
          <a:lstStyle/>
          <a:p>
            <a:pPr indent="0" marL="0">
              <a:buNone/>
            </a:pPr>
            <a:r>
              <a:rPr lang="en-US" sz="1200" i="1" dirty="0">
                <a:solidFill>
                  <a:schemeClr val="accent5"/>
                </a:solidFill>
              </a:rPr>
              <a:t>X-ray: every pallet in its rack bin, coloured by product, ABC class, expiry or hold</a:t>
            </a:r>
            <a:endParaRPr lang="en-US" sz="1200" dirty="0"/>
          </a:p>
        </p:txBody>
      </p:sp>
      <p:sp>
        <p:nvSpPr>
          <p:cNvPr id="5" name="ABC slotting card"/>
          <p:cNvSpPr/>
          <p:nvPr/>
        </p:nvSpPr>
        <p:spPr>
          <a:xfrm>
            <a:off x="5806440" y="1325880"/>
            <a:ext cx="2826868" cy="822960"/>
          </a:xfrm>
          <a:prstGeom prst="roundRect">
            <a:avLst>
              <a:gd name="adj" fmla="val 13333"/>
            </a:avLst>
          </a:prstGeom>
          <a:solidFill>
            <a:schemeClr val="bg2"/>
          </a:solidFill>
          <a:ln w="12700">
            <a:solidFill>
              <a:schemeClr val="bg2"/>
            </a:solidFill>
            <a:prstDash val="solid"/>
          </a:ln>
        </p:spPr>
      </p:sp>
      <p:sp>
        <p:nvSpPr>
          <p:cNvPr id="6" name="ABC slotting accent"/>
          <p:cNvSpPr/>
          <p:nvPr/>
        </p:nvSpPr>
        <p:spPr>
          <a:xfrm>
            <a:off x="5806440" y="1463040"/>
            <a:ext cx="64008" cy="548640"/>
          </a:xfrm>
          <a:prstGeom prst="rect">
            <a:avLst/>
          </a:prstGeom>
          <a:solidFill>
            <a:srgbClr val="E8792B"/>
          </a:solidFill>
          <a:ln w="12700">
            <a:solidFill>
              <a:srgbClr val="E8792B"/>
            </a:solidFill>
            <a:prstDash val="solid"/>
          </a:ln>
        </p:spPr>
      </p:sp>
      <p:sp>
        <p:nvSpPr>
          <p:cNvPr id="7" name="Text 4"/>
          <p:cNvSpPr txBox="1"/>
          <p:nvPr/>
        </p:nvSpPr>
        <p:spPr>
          <a:xfrm>
            <a:off x="6035040" y="1435608"/>
            <a:ext cx="2461108" cy="329184"/>
          </a:xfrm>
          <a:prstGeom prst="rect">
            <a:avLst/>
          </a:prstGeom>
          <a:noFill/>
          <a:ln/>
        </p:spPr>
        <p:txBody>
          <a:bodyPr wrap="square" lIns="0" tIns="0" rIns="0" bIns="0" rtlCol="0" anchor="t"/>
          <a:lstStyle/>
          <a:p>
            <a:pPr indent="0" marL="0">
              <a:buNone/>
            </a:pPr>
            <a:r>
              <a:rPr lang="en-US" sz="1500" b="1" dirty="0">
                <a:solidFill>
                  <a:schemeClr val="tx2"/>
                </a:solidFill>
              </a:rPr>
              <a:t>ABC slotting</a:t>
            </a:r>
            <a:endParaRPr lang="en-US" sz="1500" dirty="0"/>
          </a:p>
        </p:txBody>
      </p:sp>
      <p:sp>
        <p:nvSpPr>
          <p:cNvPr id="8" name="Text 5"/>
          <p:cNvSpPr txBox="1"/>
          <p:nvPr/>
        </p:nvSpPr>
        <p:spPr>
          <a:xfrm>
            <a:off x="6035040" y="1783080"/>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RATIO_TO_REPORT · running SUM() OVER</a:t>
            </a:r>
            <a:endParaRPr lang="en-US" sz="1050" dirty="0"/>
          </a:p>
        </p:txBody>
      </p:sp>
      <p:sp>
        <p:nvSpPr>
          <p:cNvPr id="9" name="FEFO picking card"/>
          <p:cNvSpPr/>
          <p:nvPr/>
        </p:nvSpPr>
        <p:spPr>
          <a:xfrm>
            <a:off x="8816188" y="1325880"/>
            <a:ext cx="2826868" cy="822960"/>
          </a:xfrm>
          <a:prstGeom prst="roundRect">
            <a:avLst>
              <a:gd name="adj" fmla="val 13333"/>
            </a:avLst>
          </a:prstGeom>
          <a:solidFill>
            <a:schemeClr val="bg2"/>
          </a:solidFill>
          <a:ln w="12700">
            <a:solidFill>
              <a:schemeClr val="bg2"/>
            </a:solidFill>
            <a:prstDash val="solid"/>
          </a:ln>
        </p:spPr>
      </p:sp>
      <p:sp>
        <p:nvSpPr>
          <p:cNvPr id="10" name="FEFO picking accent"/>
          <p:cNvSpPr/>
          <p:nvPr/>
        </p:nvSpPr>
        <p:spPr>
          <a:xfrm>
            <a:off x="8816188" y="1463040"/>
            <a:ext cx="64008" cy="548640"/>
          </a:xfrm>
          <a:prstGeom prst="rect">
            <a:avLst/>
          </a:prstGeom>
          <a:solidFill>
            <a:srgbClr val="1F5FA8"/>
          </a:solidFill>
          <a:ln w="12700">
            <a:solidFill>
              <a:srgbClr val="1F5FA8"/>
            </a:solidFill>
            <a:prstDash val="solid"/>
          </a:ln>
        </p:spPr>
      </p:sp>
      <p:sp>
        <p:nvSpPr>
          <p:cNvPr id="11" name="Text 8"/>
          <p:cNvSpPr txBox="1"/>
          <p:nvPr/>
        </p:nvSpPr>
        <p:spPr>
          <a:xfrm>
            <a:off x="9044788" y="1435608"/>
            <a:ext cx="2461108" cy="329184"/>
          </a:xfrm>
          <a:prstGeom prst="rect">
            <a:avLst/>
          </a:prstGeom>
          <a:noFill/>
          <a:ln/>
        </p:spPr>
        <p:txBody>
          <a:bodyPr wrap="square" lIns="0" tIns="0" rIns="0" bIns="0" rtlCol="0" anchor="t"/>
          <a:lstStyle/>
          <a:p>
            <a:pPr indent="0" marL="0">
              <a:buNone/>
            </a:pPr>
            <a:r>
              <a:rPr lang="en-US" sz="1500" b="1" dirty="0">
                <a:solidFill>
                  <a:schemeClr val="tx2"/>
                </a:solidFill>
              </a:rPr>
              <a:t>FEFO picking</a:t>
            </a:r>
            <a:endParaRPr lang="en-US" sz="1500" dirty="0"/>
          </a:p>
        </p:txBody>
      </p:sp>
      <p:sp>
        <p:nvSpPr>
          <p:cNvPr id="12" name="Text 9"/>
          <p:cNvSpPr txBox="1"/>
          <p:nvPr/>
        </p:nvSpPr>
        <p:spPr>
          <a:xfrm>
            <a:off x="9044788" y="1783080"/>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RANK() OVER · audit of every pick</a:t>
            </a:r>
            <a:endParaRPr lang="en-US" sz="1050" dirty="0"/>
          </a:p>
        </p:txBody>
      </p:sp>
      <p:sp>
        <p:nvSpPr>
          <p:cNvPr id="13" name="Recall trace card"/>
          <p:cNvSpPr/>
          <p:nvPr/>
        </p:nvSpPr>
        <p:spPr>
          <a:xfrm>
            <a:off x="5806440" y="2267712"/>
            <a:ext cx="2826868" cy="822960"/>
          </a:xfrm>
          <a:prstGeom prst="roundRect">
            <a:avLst>
              <a:gd name="adj" fmla="val 13333"/>
            </a:avLst>
          </a:prstGeom>
          <a:solidFill>
            <a:schemeClr val="bg2"/>
          </a:solidFill>
          <a:ln w="12700">
            <a:solidFill>
              <a:schemeClr val="bg2"/>
            </a:solidFill>
            <a:prstDash val="solid"/>
          </a:ln>
        </p:spPr>
      </p:sp>
      <p:sp>
        <p:nvSpPr>
          <p:cNvPr id="14" name="Recall trace accent"/>
          <p:cNvSpPr/>
          <p:nvPr/>
        </p:nvSpPr>
        <p:spPr>
          <a:xfrm>
            <a:off x="5806440" y="2404872"/>
            <a:ext cx="64008" cy="548640"/>
          </a:xfrm>
          <a:prstGeom prst="rect">
            <a:avLst/>
          </a:prstGeom>
          <a:solidFill>
            <a:srgbClr val="E8792B"/>
          </a:solidFill>
          <a:ln w="12700">
            <a:solidFill>
              <a:srgbClr val="E8792B"/>
            </a:solidFill>
            <a:prstDash val="solid"/>
          </a:ln>
        </p:spPr>
      </p:sp>
      <p:sp>
        <p:nvSpPr>
          <p:cNvPr id="15" name="Text 12"/>
          <p:cNvSpPr txBox="1"/>
          <p:nvPr/>
        </p:nvSpPr>
        <p:spPr>
          <a:xfrm>
            <a:off x="6035040" y="2377440"/>
            <a:ext cx="2461108" cy="329184"/>
          </a:xfrm>
          <a:prstGeom prst="rect">
            <a:avLst/>
          </a:prstGeom>
          <a:noFill/>
          <a:ln/>
        </p:spPr>
        <p:txBody>
          <a:bodyPr wrap="square" lIns="0" tIns="0" rIns="0" bIns="0" rtlCol="0" anchor="t"/>
          <a:lstStyle/>
          <a:p>
            <a:pPr indent="0" marL="0">
              <a:buNone/>
            </a:pPr>
            <a:r>
              <a:rPr lang="en-US" sz="1500" b="1" dirty="0">
                <a:solidFill>
                  <a:schemeClr val="tx2"/>
                </a:solidFill>
              </a:rPr>
              <a:t>Recall trace</a:t>
            </a:r>
            <a:endParaRPr lang="en-US" sz="1500" dirty="0"/>
          </a:p>
        </p:txBody>
      </p:sp>
      <p:sp>
        <p:nvSpPr>
          <p:cNvPr id="16" name="Text 13"/>
          <p:cNvSpPr txBox="1"/>
          <p:nvPr/>
        </p:nvSpPr>
        <p:spPr>
          <a:xfrm>
            <a:off x="6035040" y="2724912"/>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recursive WITH … SEARCH DEPTH FIRST</a:t>
            </a:r>
            <a:endParaRPr lang="en-US" sz="1050" dirty="0"/>
          </a:p>
        </p:txBody>
      </p:sp>
      <p:sp>
        <p:nvSpPr>
          <p:cNvPr id="17" name="Cold chain card"/>
          <p:cNvSpPr/>
          <p:nvPr/>
        </p:nvSpPr>
        <p:spPr>
          <a:xfrm>
            <a:off x="8816188" y="2267712"/>
            <a:ext cx="2826868" cy="822960"/>
          </a:xfrm>
          <a:prstGeom prst="roundRect">
            <a:avLst>
              <a:gd name="adj" fmla="val 13333"/>
            </a:avLst>
          </a:prstGeom>
          <a:solidFill>
            <a:schemeClr val="bg2"/>
          </a:solidFill>
          <a:ln w="12700">
            <a:solidFill>
              <a:schemeClr val="bg2"/>
            </a:solidFill>
            <a:prstDash val="solid"/>
          </a:ln>
        </p:spPr>
      </p:sp>
      <p:sp>
        <p:nvSpPr>
          <p:cNvPr id="18" name="Cold chain accent"/>
          <p:cNvSpPr/>
          <p:nvPr/>
        </p:nvSpPr>
        <p:spPr>
          <a:xfrm>
            <a:off x="8816188" y="2404872"/>
            <a:ext cx="64008" cy="548640"/>
          </a:xfrm>
          <a:prstGeom prst="rect">
            <a:avLst/>
          </a:prstGeom>
          <a:solidFill>
            <a:srgbClr val="1F5FA8"/>
          </a:solidFill>
          <a:ln w="12700">
            <a:solidFill>
              <a:srgbClr val="1F5FA8"/>
            </a:solidFill>
            <a:prstDash val="solid"/>
          </a:ln>
        </p:spPr>
      </p:sp>
      <p:sp>
        <p:nvSpPr>
          <p:cNvPr id="19" name="Text 16"/>
          <p:cNvSpPr txBox="1"/>
          <p:nvPr/>
        </p:nvSpPr>
        <p:spPr>
          <a:xfrm>
            <a:off x="9044788" y="2377440"/>
            <a:ext cx="2461108" cy="329184"/>
          </a:xfrm>
          <a:prstGeom prst="rect">
            <a:avLst/>
          </a:prstGeom>
          <a:noFill/>
          <a:ln/>
        </p:spPr>
        <p:txBody>
          <a:bodyPr wrap="square" lIns="0" tIns="0" rIns="0" bIns="0" rtlCol="0" anchor="t"/>
          <a:lstStyle/>
          <a:p>
            <a:pPr indent="0" marL="0">
              <a:buNone/>
            </a:pPr>
            <a:r>
              <a:rPr lang="en-US" sz="1500" b="1" dirty="0">
                <a:solidFill>
                  <a:schemeClr val="tx2"/>
                </a:solidFill>
              </a:rPr>
              <a:t>Cold chain</a:t>
            </a:r>
            <a:endParaRPr lang="en-US" sz="1500" dirty="0"/>
          </a:p>
        </p:txBody>
      </p:sp>
      <p:sp>
        <p:nvSpPr>
          <p:cNvPr id="20" name="Text 17"/>
          <p:cNvSpPr txBox="1"/>
          <p:nvPr/>
        </p:nvSpPr>
        <p:spPr>
          <a:xfrm>
            <a:off x="9044788" y="2724912"/>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MATCH_RECOGNIZE on sensor readings</a:t>
            </a:r>
            <a:endParaRPr lang="en-US" sz="1050" dirty="0"/>
          </a:p>
        </p:txBody>
      </p:sp>
      <p:sp>
        <p:nvSpPr>
          <p:cNvPr id="21" name="Tamper-proof ledger card"/>
          <p:cNvSpPr/>
          <p:nvPr/>
        </p:nvSpPr>
        <p:spPr>
          <a:xfrm>
            <a:off x="5806440" y="3209544"/>
            <a:ext cx="2826868" cy="822960"/>
          </a:xfrm>
          <a:prstGeom prst="roundRect">
            <a:avLst>
              <a:gd name="adj" fmla="val 13333"/>
            </a:avLst>
          </a:prstGeom>
          <a:solidFill>
            <a:schemeClr val="bg2"/>
          </a:solidFill>
          <a:ln w="12700">
            <a:solidFill>
              <a:schemeClr val="bg2"/>
            </a:solidFill>
            <a:prstDash val="solid"/>
          </a:ln>
        </p:spPr>
      </p:sp>
      <p:sp>
        <p:nvSpPr>
          <p:cNvPr id="22" name="Tamper-proof ledger accent"/>
          <p:cNvSpPr/>
          <p:nvPr/>
        </p:nvSpPr>
        <p:spPr>
          <a:xfrm>
            <a:off x="5806440" y="3346704"/>
            <a:ext cx="64008" cy="548640"/>
          </a:xfrm>
          <a:prstGeom prst="rect">
            <a:avLst/>
          </a:prstGeom>
          <a:solidFill>
            <a:srgbClr val="E8792B"/>
          </a:solidFill>
          <a:ln w="12700">
            <a:solidFill>
              <a:srgbClr val="E8792B"/>
            </a:solidFill>
            <a:prstDash val="solid"/>
          </a:ln>
        </p:spPr>
      </p:sp>
      <p:sp>
        <p:nvSpPr>
          <p:cNvPr id="23" name="Text 20"/>
          <p:cNvSpPr txBox="1"/>
          <p:nvPr/>
        </p:nvSpPr>
        <p:spPr>
          <a:xfrm>
            <a:off x="6035040" y="3319272"/>
            <a:ext cx="2461108" cy="329184"/>
          </a:xfrm>
          <a:prstGeom prst="rect">
            <a:avLst/>
          </a:prstGeom>
          <a:noFill/>
          <a:ln/>
        </p:spPr>
        <p:txBody>
          <a:bodyPr wrap="square" lIns="0" tIns="0" rIns="0" bIns="0" rtlCol="0" anchor="t"/>
          <a:lstStyle/>
          <a:p>
            <a:pPr indent="0" marL="0">
              <a:buNone/>
            </a:pPr>
            <a:r>
              <a:rPr lang="en-US" sz="1500" b="1" dirty="0">
                <a:solidFill>
                  <a:schemeClr val="tx2"/>
                </a:solidFill>
              </a:rPr>
              <a:t>Tamper-proof ledger</a:t>
            </a:r>
            <a:endParaRPr lang="en-US" sz="1500" dirty="0"/>
          </a:p>
        </p:txBody>
      </p:sp>
      <p:sp>
        <p:nvSpPr>
          <p:cNvPr id="24" name="Text 21"/>
          <p:cNvSpPr txBox="1"/>
          <p:nvPr/>
        </p:nvSpPr>
        <p:spPr>
          <a:xfrm>
            <a:off x="6035040" y="3666744"/>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BLOCKCHAIN TABLE · VERIFY_ROWS</a:t>
            </a:r>
            <a:endParaRPr lang="en-US" sz="1050" dirty="0"/>
          </a:p>
        </p:txBody>
      </p:sp>
      <p:sp>
        <p:nvSpPr>
          <p:cNvPr id="25" name="Forecast and reorder card"/>
          <p:cNvSpPr/>
          <p:nvPr/>
        </p:nvSpPr>
        <p:spPr>
          <a:xfrm>
            <a:off x="8816188" y="3209544"/>
            <a:ext cx="2826868" cy="822960"/>
          </a:xfrm>
          <a:prstGeom prst="roundRect">
            <a:avLst>
              <a:gd name="adj" fmla="val 13333"/>
            </a:avLst>
          </a:prstGeom>
          <a:solidFill>
            <a:schemeClr val="bg2"/>
          </a:solidFill>
          <a:ln w="12700">
            <a:solidFill>
              <a:schemeClr val="bg2"/>
            </a:solidFill>
            <a:prstDash val="solid"/>
          </a:ln>
        </p:spPr>
      </p:sp>
      <p:sp>
        <p:nvSpPr>
          <p:cNvPr id="26" name="Forecast and reorder accent"/>
          <p:cNvSpPr/>
          <p:nvPr/>
        </p:nvSpPr>
        <p:spPr>
          <a:xfrm>
            <a:off x="8816188" y="3346704"/>
            <a:ext cx="64008" cy="548640"/>
          </a:xfrm>
          <a:prstGeom prst="rect">
            <a:avLst/>
          </a:prstGeom>
          <a:solidFill>
            <a:srgbClr val="1F5FA8"/>
          </a:solidFill>
          <a:ln w="12700">
            <a:solidFill>
              <a:srgbClr val="1F5FA8"/>
            </a:solidFill>
            <a:prstDash val="solid"/>
          </a:ln>
        </p:spPr>
      </p:sp>
      <p:sp>
        <p:nvSpPr>
          <p:cNvPr id="27" name="Text 24"/>
          <p:cNvSpPr txBox="1"/>
          <p:nvPr/>
        </p:nvSpPr>
        <p:spPr>
          <a:xfrm>
            <a:off x="9044788" y="3319272"/>
            <a:ext cx="2461108" cy="329184"/>
          </a:xfrm>
          <a:prstGeom prst="rect">
            <a:avLst/>
          </a:prstGeom>
          <a:noFill/>
          <a:ln/>
        </p:spPr>
        <p:txBody>
          <a:bodyPr wrap="square" lIns="0" tIns="0" rIns="0" bIns="0" rtlCol="0" anchor="t"/>
          <a:lstStyle/>
          <a:p>
            <a:pPr indent="0" marL="0">
              <a:buNone/>
            </a:pPr>
            <a:r>
              <a:rPr lang="en-US" sz="1500" b="1" dirty="0">
                <a:solidFill>
                  <a:schemeClr val="tx2"/>
                </a:solidFill>
              </a:rPr>
              <a:t>Forecast and reorder</a:t>
            </a:r>
            <a:endParaRPr lang="en-US" sz="1500" dirty="0"/>
          </a:p>
        </p:txBody>
      </p:sp>
      <p:sp>
        <p:nvSpPr>
          <p:cNvPr id="28" name="Text 25"/>
          <p:cNvSpPr txBox="1"/>
          <p:nvPr/>
        </p:nvSpPr>
        <p:spPr>
          <a:xfrm>
            <a:off x="9044788" y="3666744"/>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MODEL clause · REGR_SLOPE · EOQ</a:t>
            </a:r>
            <a:endParaRPr lang="en-US" sz="1050" dirty="0"/>
          </a:p>
        </p:txBody>
      </p:sp>
      <p:sp>
        <p:nvSpPr>
          <p:cNvPr id="29" name="GS1 pallet labels card"/>
          <p:cNvSpPr/>
          <p:nvPr/>
        </p:nvSpPr>
        <p:spPr>
          <a:xfrm>
            <a:off x="5806440" y="4151376"/>
            <a:ext cx="2826868" cy="822960"/>
          </a:xfrm>
          <a:prstGeom prst="roundRect">
            <a:avLst>
              <a:gd name="adj" fmla="val 13333"/>
            </a:avLst>
          </a:prstGeom>
          <a:solidFill>
            <a:schemeClr val="bg2"/>
          </a:solidFill>
          <a:ln w="12700">
            <a:solidFill>
              <a:schemeClr val="bg2"/>
            </a:solidFill>
            <a:prstDash val="solid"/>
          </a:ln>
        </p:spPr>
      </p:sp>
      <p:sp>
        <p:nvSpPr>
          <p:cNvPr id="30" name="GS1 pallet labels accent"/>
          <p:cNvSpPr/>
          <p:nvPr/>
        </p:nvSpPr>
        <p:spPr>
          <a:xfrm>
            <a:off x="5806440" y="4288536"/>
            <a:ext cx="64008" cy="548640"/>
          </a:xfrm>
          <a:prstGeom prst="rect">
            <a:avLst/>
          </a:prstGeom>
          <a:solidFill>
            <a:srgbClr val="E8792B"/>
          </a:solidFill>
          <a:ln w="12700">
            <a:solidFill>
              <a:srgbClr val="E8792B"/>
            </a:solidFill>
            <a:prstDash val="solid"/>
          </a:ln>
        </p:spPr>
      </p:sp>
      <p:sp>
        <p:nvSpPr>
          <p:cNvPr id="31" name="Text 28"/>
          <p:cNvSpPr txBox="1"/>
          <p:nvPr/>
        </p:nvSpPr>
        <p:spPr>
          <a:xfrm>
            <a:off x="6035040" y="4261104"/>
            <a:ext cx="2461108" cy="329184"/>
          </a:xfrm>
          <a:prstGeom prst="rect">
            <a:avLst/>
          </a:prstGeom>
          <a:noFill/>
          <a:ln/>
        </p:spPr>
        <p:txBody>
          <a:bodyPr wrap="square" lIns="0" tIns="0" rIns="0" bIns="0" rtlCol="0" anchor="t"/>
          <a:lstStyle/>
          <a:p>
            <a:pPr indent="0" marL="0">
              <a:buNone/>
            </a:pPr>
            <a:r>
              <a:rPr lang="en-US" sz="1500" b="1" dirty="0">
                <a:solidFill>
                  <a:schemeClr val="tx2"/>
                </a:solidFill>
              </a:rPr>
              <a:t>GS1 pallet labels</a:t>
            </a:r>
            <a:endParaRPr lang="en-US" sz="1500" dirty="0"/>
          </a:p>
        </p:txBody>
      </p:sp>
      <p:sp>
        <p:nvSpPr>
          <p:cNvPr id="32" name="Text 29"/>
          <p:cNvSpPr txBox="1"/>
          <p:nvPr/>
        </p:nvSpPr>
        <p:spPr>
          <a:xfrm>
            <a:off x="6035040" y="4608576"/>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SSCC check digit as a CHECK constraint</a:t>
            </a:r>
            <a:endParaRPr lang="en-US" sz="1050" dirty="0"/>
          </a:p>
        </p:txBody>
      </p:sp>
      <p:sp>
        <p:nvSpPr>
          <p:cNvPr id="33" name="Event stream card"/>
          <p:cNvSpPr/>
          <p:nvPr/>
        </p:nvSpPr>
        <p:spPr>
          <a:xfrm>
            <a:off x="8816188" y="4151376"/>
            <a:ext cx="2826868" cy="822960"/>
          </a:xfrm>
          <a:prstGeom prst="roundRect">
            <a:avLst>
              <a:gd name="adj" fmla="val 13333"/>
            </a:avLst>
          </a:prstGeom>
          <a:solidFill>
            <a:schemeClr val="bg2"/>
          </a:solidFill>
          <a:ln w="12700">
            <a:solidFill>
              <a:schemeClr val="bg2"/>
            </a:solidFill>
            <a:prstDash val="solid"/>
          </a:ln>
        </p:spPr>
      </p:sp>
      <p:sp>
        <p:nvSpPr>
          <p:cNvPr id="34" name="Event stream accent"/>
          <p:cNvSpPr/>
          <p:nvPr/>
        </p:nvSpPr>
        <p:spPr>
          <a:xfrm>
            <a:off x="8816188" y="4288536"/>
            <a:ext cx="64008" cy="548640"/>
          </a:xfrm>
          <a:prstGeom prst="rect">
            <a:avLst/>
          </a:prstGeom>
          <a:solidFill>
            <a:srgbClr val="1F5FA8"/>
          </a:solidFill>
          <a:ln w="12700">
            <a:solidFill>
              <a:srgbClr val="1F5FA8"/>
            </a:solidFill>
            <a:prstDash val="solid"/>
          </a:ln>
        </p:spPr>
      </p:sp>
      <p:sp>
        <p:nvSpPr>
          <p:cNvPr id="35" name="Text 32"/>
          <p:cNvSpPr txBox="1"/>
          <p:nvPr/>
        </p:nvSpPr>
        <p:spPr>
          <a:xfrm>
            <a:off x="9044788" y="4261104"/>
            <a:ext cx="2461108" cy="329184"/>
          </a:xfrm>
          <a:prstGeom prst="rect">
            <a:avLst/>
          </a:prstGeom>
          <a:noFill/>
          <a:ln/>
        </p:spPr>
        <p:txBody>
          <a:bodyPr wrap="square" lIns="0" tIns="0" rIns="0" bIns="0" rtlCol="0" anchor="t"/>
          <a:lstStyle/>
          <a:p>
            <a:pPr indent="0" marL="0">
              <a:buNone/>
            </a:pPr>
            <a:r>
              <a:rPr lang="en-US" sz="1500" b="1" dirty="0">
                <a:solidFill>
                  <a:schemeClr val="tx2"/>
                </a:solidFill>
              </a:rPr>
              <a:t>Event stream</a:t>
            </a:r>
            <a:endParaRPr lang="en-US" sz="1500" dirty="0"/>
          </a:p>
        </p:txBody>
      </p:sp>
      <p:sp>
        <p:nvSpPr>
          <p:cNvPr id="36" name="Text 33"/>
          <p:cNvSpPr txBox="1"/>
          <p:nvPr/>
        </p:nvSpPr>
        <p:spPr>
          <a:xfrm>
            <a:off x="9044788" y="4608576"/>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Transactional Event Queue</a:t>
            </a:r>
            <a:endParaRPr lang="en-US" sz="1050" dirty="0"/>
          </a:p>
        </p:txBody>
      </p:sp>
      <p:sp>
        <p:nvSpPr>
          <p:cNvPr id="37" name="Shortest pick route card"/>
          <p:cNvSpPr/>
          <p:nvPr/>
        </p:nvSpPr>
        <p:spPr>
          <a:xfrm>
            <a:off x="5806440" y="5093208"/>
            <a:ext cx="2826868" cy="822960"/>
          </a:xfrm>
          <a:prstGeom prst="roundRect">
            <a:avLst>
              <a:gd name="adj" fmla="val 13333"/>
            </a:avLst>
          </a:prstGeom>
          <a:solidFill>
            <a:schemeClr val="bg2"/>
          </a:solidFill>
          <a:ln w="12700">
            <a:solidFill>
              <a:schemeClr val="bg2"/>
            </a:solidFill>
            <a:prstDash val="solid"/>
          </a:ln>
        </p:spPr>
      </p:sp>
      <p:sp>
        <p:nvSpPr>
          <p:cNvPr id="38" name="Shortest pick route accent"/>
          <p:cNvSpPr/>
          <p:nvPr/>
        </p:nvSpPr>
        <p:spPr>
          <a:xfrm>
            <a:off x="5806440" y="5230368"/>
            <a:ext cx="64008" cy="548640"/>
          </a:xfrm>
          <a:prstGeom prst="rect">
            <a:avLst/>
          </a:prstGeom>
          <a:solidFill>
            <a:srgbClr val="E8792B"/>
          </a:solidFill>
          <a:ln w="12700">
            <a:solidFill>
              <a:srgbClr val="E8792B"/>
            </a:solidFill>
            <a:prstDash val="solid"/>
          </a:ln>
        </p:spPr>
      </p:sp>
      <p:sp>
        <p:nvSpPr>
          <p:cNvPr id="39" name="Text 36"/>
          <p:cNvSpPr txBox="1"/>
          <p:nvPr/>
        </p:nvSpPr>
        <p:spPr>
          <a:xfrm>
            <a:off x="6035040" y="5202936"/>
            <a:ext cx="2461108" cy="329184"/>
          </a:xfrm>
          <a:prstGeom prst="rect">
            <a:avLst/>
          </a:prstGeom>
          <a:noFill/>
          <a:ln/>
        </p:spPr>
        <p:txBody>
          <a:bodyPr wrap="square" lIns="0" tIns="0" rIns="0" bIns="0" rtlCol="0" anchor="t"/>
          <a:lstStyle/>
          <a:p>
            <a:pPr indent="0" marL="0">
              <a:buNone/>
            </a:pPr>
            <a:r>
              <a:rPr lang="en-US" sz="1500" b="1" dirty="0">
                <a:solidFill>
                  <a:schemeClr val="tx2"/>
                </a:solidFill>
              </a:rPr>
              <a:t>Shortest pick route</a:t>
            </a:r>
            <a:endParaRPr lang="en-US" sz="1500" dirty="0"/>
          </a:p>
        </p:txBody>
      </p:sp>
      <p:sp>
        <p:nvSpPr>
          <p:cNvPr id="40" name="Text 37"/>
          <p:cNvSpPr txBox="1"/>
          <p:nvPr/>
        </p:nvSpPr>
        <p:spPr>
          <a:xfrm>
            <a:off x="6035040" y="5550408"/>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Dijkstra in PL/SQL · GRAPH_TABLE</a:t>
            </a:r>
            <a:endParaRPr lang="en-US" sz="1050" dirty="0"/>
          </a:p>
        </p:txBody>
      </p:sp>
      <p:sp>
        <p:nvSpPr>
          <p:cNvPr id="41" name="Semantic search card"/>
          <p:cNvSpPr/>
          <p:nvPr/>
        </p:nvSpPr>
        <p:spPr>
          <a:xfrm>
            <a:off x="8816188" y="5093208"/>
            <a:ext cx="2826868" cy="822960"/>
          </a:xfrm>
          <a:prstGeom prst="roundRect">
            <a:avLst>
              <a:gd name="adj" fmla="val 13333"/>
            </a:avLst>
          </a:prstGeom>
          <a:solidFill>
            <a:schemeClr val="bg2"/>
          </a:solidFill>
          <a:ln w="12700">
            <a:solidFill>
              <a:schemeClr val="bg2"/>
            </a:solidFill>
            <a:prstDash val="solid"/>
          </a:ln>
        </p:spPr>
      </p:sp>
      <p:sp>
        <p:nvSpPr>
          <p:cNvPr id="42" name="Semantic search accent"/>
          <p:cNvSpPr/>
          <p:nvPr/>
        </p:nvSpPr>
        <p:spPr>
          <a:xfrm>
            <a:off x="8816188" y="5230368"/>
            <a:ext cx="64008" cy="548640"/>
          </a:xfrm>
          <a:prstGeom prst="rect">
            <a:avLst/>
          </a:prstGeom>
          <a:solidFill>
            <a:srgbClr val="1F5FA8"/>
          </a:solidFill>
          <a:ln w="12700">
            <a:solidFill>
              <a:srgbClr val="1F5FA8"/>
            </a:solidFill>
            <a:prstDash val="solid"/>
          </a:ln>
        </p:spPr>
      </p:sp>
      <p:sp>
        <p:nvSpPr>
          <p:cNvPr id="43" name="Text 40"/>
          <p:cNvSpPr txBox="1"/>
          <p:nvPr/>
        </p:nvSpPr>
        <p:spPr>
          <a:xfrm>
            <a:off x="9044788" y="5202936"/>
            <a:ext cx="2461108" cy="329184"/>
          </a:xfrm>
          <a:prstGeom prst="rect">
            <a:avLst/>
          </a:prstGeom>
          <a:noFill/>
          <a:ln/>
        </p:spPr>
        <p:txBody>
          <a:bodyPr wrap="square" lIns="0" tIns="0" rIns="0" bIns="0" rtlCol="0" anchor="t"/>
          <a:lstStyle/>
          <a:p>
            <a:pPr indent="0" marL="0">
              <a:buNone/>
            </a:pPr>
            <a:r>
              <a:rPr lang="en-US" sz="1500" b="1" dirty="0">
                <a:solidFill>
                  <a:schemeClr val="tx2"/>
                </a:solidFill>
              </a:rPr>
              <a:t>Semantic search</a:t>
            </a:r>
            <a:endParaRPr lang="en-US" sz="1500" dirty="0"/>
          </a:p>
        </p:txBody>
      </p:sp>
      <p:sp>
        <p:nvSpPr>
          <p:cNvPr id="44" name="Text 41"/>
          <p:cNvSpPr txBox="1"/>
          <p:nvPr/>
        </p:nvSpPr>
        <p:spPr>
          <a:xfrm>
            <a:off x="9044788" y="5550408"/>
            <a:ext cx="2461108" cy="27432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VECTOR(384) · VECTOR_DISTANCE</a:t>
            </a:r>
            <a:endParaRPr lang="en-US" sz="10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Smart Warehouse in action</a:t>
            </a:r>
            <a:endParaRPr lang="en-US" sz="3400" dirty="0"/>
          </a:p>
        </p:txBody>
      </p:sp>
      <p:sp>
        <p:nvSpPr>
          <p:cNvPr id="3" name="Cold chain card"/>
          <p:cNvSpPr/>
          <p:nvPr/>
        </p:nvSpPr>
        <p:spPr>
          <a:xfrm>
            <a:off x="548640" y="1325880"/>
            <a:ext cx="3520440" cy="3928488"/>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777240" y="1508760"/>
            <a:ext cx="3063240" cy="365760"/>
          </a:xfrm>
          <a:prstGeom prst="rect">
            <a:avLst/>
          </a:prstGeom>
          <a:noFill/>
          <a:ln/>
        </p:spPr>
        <p:txBody>
          <a:bodyPr wrap="square" lIns="0" tIns="0" rIns="0" bIns="0" rtlCol="0" anchor="t"/>
          <a:lstStyle/>
          <a:p>
            <a:pPr indent="0" marL="0">
              <a:buNone/>
            </a:pPr>
            <a:r>
              <a:rPr lang="en-US" sz="1700" b="1" dirty="0">
                <a:solidFill>
                  <a:schemeClr val="tx2"/>
                </a:solidFill>
              </a:rPr>
              <a:t>Cold chain</a:t>
            </a:r>
            <a:endParaRPr lang="en-US" sz="1700" dirty="0"/>
          </a:p>
        </p:txBody>
      </p:sp>
      <p:pic>
        <p:nvPicPr>
          <p:cNvPr id="5" name="Cold chain screenshot" descr="preencoded.png">    </p:cNvPr>
          <p:cNvPicPr>
            <a:picLocks noChangeAspect="1"/>
          </p:cNvPicPr>
          <p:nvPr/>
        </p:nvPicPr>
        <p:blipFill>
          <a:blip r:embed="rId1"/>
          <a:stretch>
            <a:fillRect/>
          </a:stretch>
        </p:blipFill>
        <p:spPr>
          <a:xfrm>
            <a:off x="777240" y="1984248"/>
            <a:ext cx="3063240" cy="1642488"/>
          </a:xfrm>
          <a:prstGeom prst="rect">
            <a:avLst/>
          </a:prstGeom>
          <a:effectLst>
            <a:outerShdw sx="100000" sy="100000" kx="0" ky="0" algn="bl" rotWithShape="0" blurRad="101600" dist="25400" dir="5400000">
              <a:srgbClr val="0B1F3A">
                <a:alpha val="12000"/>
              </a:srgbClr>
            </a:outerShdw>
          </a:effectLst>
        </p:spPr>
      </p:pic>
      <p:sp>
        <p:nvSpPr>
          <p:cNvPr id="6" name="Text 3"/>
          <p:cNvSpPr txBox="1"/>
          <p:nvPr/>
        </p:nvSpPr>
        <p:spPr>
          <a:xfrm>
            <a:off x="777240" y="3809616"/>
            <a:ext cx="3063240" cy="41148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PATTERN (out_of_range{3,})</a:t>
            </a:r>
            <a:endParaRPr lang="en-US" sz="1050" dirty="0"/>
          </a:p>
        </p:txBody>
      </p:sp>
      <p:sp>
        <p:nvSpPr>
          <p:cNvPr id="7" name="Text 4"/>
          <p:cNvSpPr txBox="1"/>
          <p:nvPr/>
        </p:nvSpPr>
        <p:spPr>
          <a:xfrm>
            <a:off x="777240" y="4248528"/>
            <a:ext cx="3063240" cy="868680"/>
          </a:xfrm>
          <a:prstGeom prst="rect">
            <a:avLst/>
          </a:prstGeom>
          <a:noFill/>
          <a:ln/>
        </p:spPr>
        <p:txBody>
          <a:bodyPr wrap="square" lIns="0" tIns="0" rIns="0" bIns="0" rtlCol="0" anchor="t"/>
          <a:lstStyle/>
          <a:p>
            <a:pPr indent="0" marL="0">
              <a:buNone/>
            </a:pPr>
            <a:r>
              <a:rPr lang="en-US" sz="1300" dirty="0">
                <a:solidFill>
                  <a:schemeClr val="tx1"/>
                </a:solidFill>
              </a:rPr>
              <a:t>A door left open: three warm readings in a row → insulin lots on hold and an urgent task, raised by the database itself</a:t>
            </a:r>
            <a:endParaRPr lang="en-US" sz="1300" dirty="0"/>
          </a:p>
        </p:txBody>
      </p:sp>
      <p:sp>
        <p:nvSpPr>
          <p:cNvPr id="8" name="Tamper-proof ledger card"/>
          <p:cNvSpPr/>
          <p:nvPr/>
        </p:nvSpPr>
        <p:spPr>
          <a:xfrm>
            <a:off x="4425696" y="1325880"/>
            <a:ext cx="3520440" cy="3928488"/>
          </a:xfrm>
          <a:prstGeom prst="roundRect">
            <a:avLst>
              <a:gd name="adj" fmla="val 3117"/>
            </a:avLst>
          </a:prstGeom>
          <a:solidFill>
            <a:schemeClr val="bg2"/>
          </a:solidFill>
          <a:ln w="12700">
            <a:solidFill>
              <a:schemeClr val="bg2"/>
            </a:solidFill>
            <a:prstDash val="solid"/>
          </a:ln>
        </p:spPr>
      </p:sp>
      <p:sp>
        <p:nvSpPr>
          <p:cNvPr id="9" name="Text 6"/>
          <p:cNvSpPr txBox="1"/>
          <p:nvPr/>
        </p:nvSpPr>
        <p:spPr>
          <a:xfrm>
            <a:off x="4654296" y="1508760"/>
            <a:ext cx="3063240" cy="365760"/>
          </a:xfrm>
          <a:prstGeom prst="rect">
            <a:avLst/>
          </a:prstGeom>
          <a:noFill/>
          <a:ln/>
        </p:spPr>
        <p:txBody>
          <a:bodyPr wrap="square" lIns="0" tIns="0" rIns="0" bIns="0" rtlCol="0" anchor="t"/>
          <a:lstStyle/>
          <a:p>
            <a:pPr indent="0" marL="0">
              <a:buNone/>
            </a:pPr>
            <a:r>
              <a:rPr lang="en-US" sz="1700" b="1" dirty="0">
                <a:solidFill>
                  <a:schemeClr val="tx2"/>
                </a:solidFill>
              </a:rPr>
              <a:t>Tamper-proof ledger</a:t>
            </a:r>
            <a:endParaRPr lang="en-US" sz="1700" dirty="0"/>
          </a:p>
        </p:txBody>
      </p:sp>
      <p:pic>
        <p:nvPicPr>
          <p:cNvPr id="10" name="Tamper-proof ledger screenshot" descr="preencoded.png">    </p:cNvPr>
          <p:cNvPicPr>
            <a:picLocks noChangeAspect="1"/>
          </p:cNvPicPr>
          <p:nvPr/>
        </p:nvPicPr>
        <p:blipFill>
          <a:blip r:embed="rId2"/>
          <a:stretch>
            <a:fillRect/>
          </a:stretch>
        </p:blipFill>
        <p:spPr>
          <a:xfrm>
            <a:off x="4654296" y="1984248"/>
            <a:ext cx="3063240" cy="1642488"/>
          </a:xfrm>
          <a:prstGeom prst="rect">
            <a:avLst/>
          </a:prstGeom>
          <a:effectLst>
            <a:outerShdw sx="100000" sy="100000" kx="0" ky="0" algn="bl" rotWithShape="0" blurRad="101600" dist="25400" dir="5400000">
              <a:srgbClr val="0B1F3A">
                <a:alpha val="12000"/>
              </a:srgbClr>
            </a:outerShdw>
          </a:effectLst>
        </p:spPr>
      </p:pic>
      <p:sp>
        <p:nvSpPr>
          <p:cNvPr id="11" name="Text 7"/>
          <p:cNvSpPr txBox="1"/>
          <p:nvPr/>
        </p:nvSpPr>
        <p:spPr>
          <a:xfrm>
            <a:off x="4654296" y="3809616"/>
            <a:ext cx="3063240" cy="41148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ORA-05715: operation not allowed on the blockchain table</a:t>
            </a:r>
            <a:endParaRPr lang="en-US" sz="1050" dirty="0"/>
          </a:p>
        </p:txBody>
      </p:sp>
      <p:sp>
        <p:nvSpPr>
          <p:cNvPr id="12" name="Text 8"/>
          <p:cNvSpPr txBox="1"/>
          <p:nvPr/>
        </p:nvSpPr>
        <p:spPr>
          <a:xfrm>
            <a:off x="4654296" y="4248528"/>
            <a:ext cx="3063240" cy="868680"/>
          </a:xfrm>
          <a:prstGeom prst="rect">
            <a:avLst/>
          </a:prstGeom>
          <a:noFill/>
          <a:ln/>
        </p:spPr>
        <p:txBody>
          <a:bodyPr wrap="square" lIns="0" tIns="0" rIns="0" bIns="0" rtlCol="0" anchor="t"/>
          <a:lstStyle/>
          <a:p>
            <a:pPr indent="0" marL="0">
              <a:buNone/>
            </a:pPr>
            <a:r>
              <a:rPr lang="en-US" sz="1300" dirty="0">
                <a:solidFill>
                  <a:schemeClr val="tx1"/>
                </a:solidFill>
              </a:rPr>
              <a:t>Any UPDATE of the stock ledger is refused; the chain of hashes is verified on demand</a:t>
            </a:r>
            <a:endParaRPr lang="en-US" sz="1300" dirty="0"/>
          </a:p>
        </p:txBody>
      </p:sp>
      <p:sp>
        <p:nvSpPr>
          <p:cNvPr id="13" name="Forecast and reorder card"/>
          <p:cNvSpPr/>
          <p:nvPr/>
        </p:nvSpPr>
        <p:spPr>
          <a:xfrm>
            <a:off x="8302752" y="1325880"/>
            <a:ext cx="3520440" cy="3928488"/>
          </a:xfrm>
          <a:prstGeom prst="roundRect">
            <a:avLst>
              <a:gd name="adj" fmla="val 3117"/>
            </a:avLst>
          </a:prstGeom>
          <a:solidFill>
            <a:schemeClr val="bg2"/>
          </a:solidFill>
          <a:ln w="12700">
            <a:solidFill>
              <a:schemeClr val="bg2"/>
            </a:solidFill>
            <a:prstDash val="solid"/>
          </a:ln>
        </p:spPr>
      </p:sp>
      <p:sp>
        <p:nvSpPr>
          <p:cNvPr id="14" name="Text 10"/>
          <p:cNvSpPr txBox="1"/>
          <p:nvPr/>
        </p:nvSpPr>
        <p:spPr>
          <a:xfrm>
            <a:off x="8531352" y="1508760"/>
            <a:ext cx="3063240" cy="365760"/>
          </a:xfrm>
          <a:prstGeom prst="rect">
            <a:avLst/>
          </a:prstGeom>
          <a:noFill/>
          <a:ln/>
        </p:spPr>
        <p:txBody>
          <a:bodyPr wrap="square" lIns="0" tIns="0" rIns="0" bIns="0" rtlCol="0" anchor="t"/>
          <a:lstStyle/>
          <a:p>
            <a:pPr indent="0" marL="0">
              <a:buNone/>
            </a:pPr>
            <a:r>
              <a:rPr lang="en-US" sz="1700" b="1" dirty="0">
                <a:solidFill>
                  <a:schemeClr val="tx2"/>
                </a:solidFill>
              </a:rPr>
              <a:t>Forecast and reorder</a:t>
            </a:r>
            <a:endParaRPr lang="en-US" sz="1700" dirty="0"/>
          </a:p>
        </p:txBody>
      </p:sp>
      <p:pic>
        <p:nvPicPr>
          <p:cNvPr id="15" name="Forecast and reorder screenshot" descr="preencoded.png">    </p:cNvPr>
          <p:cNvPicPr>
            <a:picLocks noChangeAspect="1"/>
          </p:cNvPicPr>
          <p:nvPr/>
        </p:nvPicPr>
        <p:blipFill>
          <a:blip r:embed="rId3"/>
          <a:stretch>
            <a:fillRect/>
          </a:stretch>
        </p:blipFill>
        <p:spPr>
          <a:xfrm>
            <a:off x="8531352" y="1984248"/>
            <a:ext cx="3063240" cy="1642488"/>
          </a:xfrm>
          <a:prstGeom prst="rect">
            <a:avLst/>
          </a:prstGeom>
          <a:effectLst>
            <a:outerShdw sx="100000" sy="100000" kx="0" ky="0" algn="bl" rotWithShape="0" blurRad="101600" dist="25400" dir="5400000">
              <a:srgbClr val="0B1F3A">
                <a:alpha val="12000"/>
              </a:srgbClr>
            </a:outerShdw>
          </a:effectLst>
        </p:spPr>
      </p:pic>
      <p:sp>
        <p:nvSpPr>
          <p:cNvPr id="16" name="Text 11"/>
          <p:cNvSpPr txBox="1"/>
          <p:nvPr/>
        </p:nvSpPr>
        <p:spPr>
          <a:xfrm>
            <a:off x="8531352" y="3809616"/>
            <a:ext cx="3063240" cy="41148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MODEL … RULES (trend[ANY] = …)</a:t>
            </a:r>
            <a:endParaRPr lang="en-US" sz="1050" dirty="0"/>
          </a:p>
        </p:txBody>
      </p:sp>
      <p:sp>
        <p:nvSpPr>
          <p:cNvPr id="17" name="Text 12"/>
          <p:cNvSpPr txBox="1"/>
          <p:nvPr/>
        </p:nvSpPr>
        <p:spPr>
          <a:xfrm>
            <a:off x="8531352" y="4248528"/>
            <a:ext cx="3063240" cy="868680"/>
          </a:xfrm>
          <a:prstGeom prst="rect">
            <a:avLst/>
          </a:prstGeom>
          <a:noFill/>
          <a:ln/>
        </p:spPr>
        <p:txBody>
          <a:bodyPr wrap="square" lIns="0" tIns="0" rIns="0" bIns="0" rtlCol="0" anchor="t"/>
          <a:lstStyle/>
          <a:p>
            <a:pPr indent="0" marL="0">
              <a:buNone/>
            </a:pPr>
            <a:r>
              <a:rPr lang="en-US" sz="1300" dirty="0">
                <a:solidFill>
                  <a:schemeClr val="tx1"/>
                </a:solidFill>
              </a:rPr>
              <a:t>Trend and weekday pattern from the demand history; reorder point and order size for every product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Built in ten steps</a:t>
            </a:r>
            <a:endParaRPr lang="en-US" sz="3400" dirty="0"/>
          </a:p>
        </p:txBody>
      </p:sp>
      <p:sp>
        <p:nvSpPr>
          <p:cNvPr id="3" name="Step 1 marker"/>
          <p:cNvSpPr/>
          <p:nvPr/>
        </p:nvSpPr>
        <p:spPr>
          <a:xfrm>
            <a:off x="548640" y="1508760"/>
            <a:ext cx="548640" cy="548640"/>
          </a:xfrm>
          <a:prstGeom prst="ellipse">
            <a:avLst/>
          </a:prstGeom>
          <a:solidFill>
            <a:srgbClr val="E8792B"/>
          </a:solidFill>
          <a:ln w="12700">
            <a:solidFill>
              <a:srgbClr val="E8792B"/>
            </a:solidFill>
            <a:prstDash val="solid"/>
          </a:ln>
        </p:spPr>
      </p:sp>
      <p:sp>
        <p:nvSpPr>
          <p:cNvPr id="4" name="Text 2"/>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548640" y="2194560"/>
            <a:ext cx="2057400" cy="411480"/>
          </a:xfrm>
          <a:prstGeom prst="rect">
            <a:avLst/>
          </a:prstGeom>
          <a:noFill/>
          <a:ln/>
        </p:spPr>
        <p:txBody>
          <a:bodyPr wrap="square" lIns="0" tIns="0" rIns="0" bIns="0" rtlCol="0" anchor="t"/>
          <a:lstStyle/>
          <a:p>
            <a:pPr indent="0" marL="0">
              <a:buNone/>
            </a:pPr>
            <a:r>
              <a:rPr lang="en-US" sz="1600" b="1" dirty="0">
                <a:solidFill>
                  <a:schemeClr val="tx2"/>
                </a:solidFill>
              </a:rPr>
              <a:t>Requirements</a:t>
            </a:r>
            <a:endParaRPr lang="en-US" sz="1600" dirty="0"/>
          </a:p>
        </p:txBody>
      </p:sp>
      <p:sp>
        <p:nvSpPr>
          <p:cNvPr id="6" name="Text 4"/>
          <p:cNvSpPr txBox="1"/>
          <p:nvPr/>
        </p:nvSpPr>
        <p:spPr>
          <a:xfrm>
            <a:off x="548640" y="260604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entities, events, roles</a:t>
            </a:r>
            <a:endParaRPr lang="en-US" sz="1350" dirty="0"/>
          </a:p>
        </p:txBody>
      </p:sp>
      <p:sp>
        <p:nvSpPr>
          <p:cNvPr id="7" name="Step 2 marker"/>
          <p:cNvSpPr/>
          <p:nvPr/>
        </p:nvSpPr>
        <p:spPr>
          <a:xfrm>
            <a:off x="2807894" y="1508760"/>
            <a:ext cx="548640" cy="548640"/>
          </a:xfrm>
          <a:prstGeom prst="ellipse">
            <a:avLst/>
          </a:prstGeom>
          <a:solidFill>
            <a:srgbClr val="E8792B"/>
          </a:solidFill>
          <a:ln w="12700">
            <a:solidFill>
              <a:srgbClr val="E8792B"/>
            </a:solidFill>
            <a:prstDash val="solid"/>
          </a:ln>
        </p:spPr>
      </p:sp>
      <p:sp>
        <p:nvSpPr>
          <p:cNvPr id="8" name="Text 6"/>
          <p:cNvSpPr txBox="1"/>
          <p:nvPr/>
        </p:nvSpPr>
        <p:spPr>
          <a:xfrm>
            <a:off x="2807894"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2807894" y="2194560"/>
            <a:ext cx="2057400" cy="411480"/>
          </a:xfrm>
          <a:prstGeom prst="rect">
            <a:avLst/>
          </a:prstGeom>
          <a:noFill/>
          <a:ln/>
        </p:spPr>
        <p:txBody>
          <a:bodyPr wrap="square" lIns="0" tIns="0" rIns="0" bIns="0" rtlCol="0" anchor="t"/>
          <a:lstStyle/>
          <a:p>
            <a:pPr indent="0" marL="0">
              <a:buNone/>
            </a:pPr>
            <a:r>
              <a:rPr lang="en-US" sz="1600" b="1" dirty="0">
                <a:solidFill>
                  <a:schemeClr val="tx2"/>
                </a:solidFill>
              </a:rPr>
              <a:t>ER model and 3NF</a:t>
            </a:r>
            <a:endParaRPr lang="en-US" sz="1600" dirty="0"/>
          </a:p>
        </p:txBody>
      </p:sp>
      <p:sp>
        <p:nvSpPr>
          <p:cNvPr id="10" name="Text 8"/>
          <p:cNvSpPr txBox="1"/>
          <p:nvPr/>
        </p:nvSpPr>
        <p:spPr>
          <a:xfrm>
            <a:off x="2807894" y="260604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normalised design</a:t>
            </a:r>
            <a:endParaRPr lang="en-US" sz="1350" dirty="0"/>
          </a:p>
        </p:txBody>
      </p:sp>
      <p:sp>
        <p:nvSpPr>
          <p:cNvPr id="11" name="Step 3 marker"/>
          <p:cNvSpPr/>
          <p:nvPr/>
        </p:nvSpPr>
        <p:spPr>
          <a:xfrm>
            <a:off x="5067148" y="1508760"/>
            <a:ext cx="548640" cy="548640"/>
          </a:xfrm>
          <a:prstGeom prst="ellipse">
            <a:avLst/>
          </a:prstGeom>
          <a:solidFill>
            <a:srgbClr val="E8792B"/>
          </a:solidFill>
          <a:ln w="12700">
            <a:solidFill>
              <a:srgbClr val="E8792B"/>
            </a:solidFill>
            <a:prstDash val="solid"/>
          </a:ln>
        </p:spPr>
      </p:sp>
      <p:sp>
        <p:nvSpPr>
          <p:cNvPr id="12" name="Text 10"/>
          <p:cNvSpPr txBox="1"/>
          <p:nvPr/>
        </p:nvSpPr>
        <p:spPr>
          <a:xfrm>
            <a:off x="5067148"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5067148" y="2194560"/>
            <a:ext cx="2057400" cy="411480"/>
          </a:xfrm>
          <a:prstGeom prst="rect">
            <a:avLst/>
          </a:prstGeom>
          <a:noFill/>
          <a:ln/>
        </p:spPr>
        <p:txBody>
          <a:bodyPr wrap="square" lIns="0" tIns="0" rIns="0" bIns="0" rtlCol="0" anchor="t"/>
          <a:lstStyle/>
          <a:p>
            <a:pPr indent="0" marL="0">
              <a:buNone/>
            </a:pPr>
            <a:r>
              <a:rPr lang="en-US" sz="1600" b="1" dirty="0">
                <a:solidFill>
                  <a:schemeClr val="tx2"/>
                </a:solidFill>
              </a:rPr>
              <a:t>Schema DDL</a:t>
            </a:r>
            <a:endParaRPr lang="en-US" sz="1600" dirty="0"/>
          </a:p>
        </p:txBody>
      </p:sp>
      <p:sp>
        <p:nvSpPr>
          <p:cNvPr id="14" name="Text 12"/>
          <p:cNvSpPr txBox="1"/>
          <p:nvPr/>
        </p:nvSpPr>
        <p:spPr>
          <a:xfrm>
            <a:off x="5067148" y="260604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keys, constraints, comments</a:t>
            </a:r>
            <a:endParaRPr lang="en-US" sz="1350" dirty="0"/>
          </a:p>
        </p:txBody>
      </p:sp>
      <p:sp>
        <p:nvSpPr>
          <p:cNvPr id="15" name="Step 4 marker"/>
          <p:cNvSpPr/>
          <p:nvPr/>
        </p:nvSpPr>
        <p:spPr>
          <a:xfrm>
            <a:off x="7326401" y="1508760"/>
            <a:ext cx="548640" cy="548640"/>
          </a:xfrm>
          <a:prstGeom prst="ellipse">
            <a:avLst/>
          </a:prstGeom>
          <a:solidFill>
            <a:srgbClr val="E8792B"/>
          </a:solidFill>
          <a:ln w="12700">
            <a:solidFill>
              <a:srgbClr val="E8792B"/>
            </a:solidFill>
            <a:prstDash val="solid"/>
          </a:ln>
        </p:spPr>
      </p:sp>
      <p:sp>
        <p:nvSpPr>
          <p:cNvPr id="16" name="Text 14"/>
          <p:cNvSpPr txBox="1"/>
          <p:nvPr/>
        </p:nvSpPr>
        <p:spPr>
          <a:xfrm>
            <a:off x="7326401"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7326401" y="2194560"/>
            <a:ext cx="2057400" cy="411480"/>
          </a:xfrm>
          <a:prstGeom prst="rect">
            <a:avLst/>
          </a:prstGeom>
          <a:noFill/>
          <a:ln/>
        </p:spPr>
        <p:txBody>
          <a:bodyPr wrap="square" lIns="0" tIns="0" rIns="0" bIns="0" rtlCol="0" anchor="t"/>
          <a:lstStyle/>
          <a:p>
            <a:pPr indent="0" marL="0">
              <a:buNone/>
            </a:pPr>
            <a:r>
              <a:rPr lang="en-US" sz="1600" b="1" dirty="0">
                <a:solidFill>
                  <a:schemeClr val="tx2"/>
                </a:solidFill>
              </a:rPr>
              <a:t>PL/SQL and triggers</a:t>
            </a:r>
            <a:endParaRPr lang="en-US" sz="1600" dirty="0"/>
          </a:p>
        </p:txBody>
      </p:sp>
      <p:sp>
        <p:nvSpPr>
          <p:cNvPr id="18" name="Text 16"/>
          <p:cNvSpPr txBox="1"/>
          <p:nvPr/>
        </p:nvSpPr>
        <p:spPr>
          <a:xfrm>
            <a:off x="7326401" y="260604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rules in the database</a:t>
            </a:r>
            <a:endParaRPr lang="en-US" sz="1350" dirty="0"/>
          </a:p>
        </p:txBody>
      </p:sp>
      <p:sp>
        <p:nvSpPr>
          <p:cNvPr id="19" name="Step 5 marker"/>
          <p:cNvSpPr/>
          <p:nvPr/>
        </p:nvSpPr>
        <p:spPr>
          <a:xfrm>
            <a:off x="9585655" y="1508760"/>
            <a:ext cx="548640" cy="548640"/>
          </a:xfrm>
          <a:prstGeom prst="ellipse">
            <a:avLst/>
          </a:prstGeom>
          <a:solidFill>
            <a:srgbClr val="E8792B"/>
          </a:solidFill>
          <a:ln w="12700">
            <a:solidFill>
              <a:srgbClr val="E8792B"/>
            </a:solidFill>
            <a:prstDash val="solid"/>
          </a:ln>
        </p:spPr>
      </p:sp>
      <p:sp>
        <p:nvSpPr>
          <p:cNvPr id="20" name="Text 18"/>
          <p:cNvSpPr txBox="1"/>
          <p:nvPr/>
        </p:nvSpPr>
        <p:spPr>
          <a:xfrm>
            <a:off x="9585655"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Text 19"/>
          <p:cNvSpPr txBox="1"/>
          <p:nvPr/>
        </p:nvSpPr>
        <p:spPr>
          <a:xfrm>
            <a:off x="9585655" y="2194560"/>
            <a:ext cx="2057400" cy="411480"/>
          </a:xfrm>
          <a:prstGeom prst="rect">
            <a:avLst/>
          </a:prstGeom>
          <a:noFill/>
          <a:ln/>
        </p:spPr>
        <p:txBody>
          <a:bodyPr wrap="square" lIns="0" tIns="0" rIns="0" bIns="0" rtlCol="0" anchor="t"/>
          <a:lstStyle/>
          <a:p>
            <a:pPr indent="0" marL="0">
              <a:buNone/>
            </a:pPr>
            <a:r>
              <a:rPr lang="en-US" sz="1600" b="1" dirty="0">
                <a:solidFill>
                  <a:schemeClr val="tx2"/>
                </a:solidFill>
              </a:rPr>
              <a:t>Views and reports</a:t>
            </a:r>
            <a:endParaRPr lang="en-US" sz="1600" dirty="0"/>
          </a:p>
        </p:txBody>
      </p:sp>
      <p:sp>
        <p:nvSpPr>
          <p:cNvPr id="22" name="Text 20"/>
          <p:cNvSpPr txBox="1"/>
          <p:nvPr/>
        </p:nvSpPr>
        <p:spPr>
          <a:xfrm>
            <a:off x="9585655" y="260604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17 views, 26 queries</a:t>
            </a:r>
            <a:endParaRPr lang="en-US" sz="1350" dirty="0"/>
          </a:p>
        </p:txBody>
      </p:sp>
      <p:sp>
        <p:nvSpPr>
          <p:cNvPr id="23" name="Step 6 marker"/>
          <p:cNvSpPr/>
          <p:nvPr/>
        </p:nvSpPr>
        <p:spPr>
          <a:xfrm>
            <a:off x="548640" y="3703320"/>
            <a:ext cx="548640" cy="548640"/>
          </a:xfrm>
          <a:prstGeom prst="ellipse">
            <a:avLst/>
          </a:prstGeom>
          <a:solidFill>
            <a:srgbClr val="E8792B"/>
          </a:solidFill>
          <a:ln w="12700">
            <a:solidFill>
              <a:srgbClr val="E8792B"/>
            </a:solidFill>
            <a:prstDash val="solid"/>
          </a:ln>
        </p:spPr>
      </p:sp>
      <p:sp>
        <p:nvSpPr>
          <p:cNvPr id="24" name="Text 22"/>
          <p:cNvSpPr txBox="1"/>
          <p:nvPr/>
        </p:nvSpPr>
        <p:spPr>
          <a:xfrm>
            <a:off x="548640"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5" name="Text 23"/>
          <p:cNvSpPr txBox="1"/>
          <p:nvPr/>
        </p:nvSpPr>
        <p:spPr>
          <a:xfrm>
            <a:off x="548640" y="4389120"/>
            <a:ext cx="2057400" cy="411480"/>
          </a:xfrm>
          <a:prstGeom prst="rect">
            <a:avLst/>
          </a:prstGeom>
          <a:noFill/>
          <a:ln/>
        </p:spPr>
        <p:txBody>
          <a:bodyPr wrap="square" lIns="0" tIns="0" rIns="0" bIns="0" rtlCol="0" anchor="t"/>
          <a:lstStyle/>
          <a:p>
            <a:pPr indent="0" marL="0">
              <a:buNone/>
            </a:pPr>
            <a:r>
              <a:rPr lang="en-US" sz="1600" b="1" dirty="0">
                <a:solidFill>
                  <a:schemeClr val="tx2"/>
                </a:solidFill>
              </a:rPr>
              <a:t>Seed data</a:t>
            </a:r>
            <a:endParaRPr lang="en-US" sz="1600" dirty="0"/>
          </a:p>
        </p:txBody>
      </p:sp>
      <p:sp>
        <p:nvSpPr>
          <p:cNvPr id="26" name="Text 24"/>
          <p:cNvSpPr txBox="1"/>
          <p:nvPr/>
        </p:nvSpPr>
        <p:spPr>
          <a:xfrm>
            <a:off x="548640" y="480060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realistic starting data</a:t>
            </a:r>
            <a:endParaRPr lang="en-US" sz="1350" dirty="0"/>
          </a:p>
        </p:txBody>
      </p:sp>
      <p:sp>
        <p:nvSpPr>
          <p:cNvPr id="27" name="Step 7 marker"/>
          <p:cNvSpPr/>
          <p:nvPr/>
        </p:nvSpPr>
        <p:spPr>
          <a:xfrm>
            <a:off x="2807894" y="3703320"/>
            <a:ext cx="548640" cy="548640"/>
          </a:xfrm>
          <a:prstGeom prst="ellipse">
            <a:avLst/>
          </a:prstGeom>
          <a:solidFill>
            <a:srgbClr val="E8792B"/>
          </a:solidFill>
          <a:ln w="12700">
            <a:solidFill>
              <a:srgbClr val="E8792B"/>
            </a:solidFill>
            <a:prstDash val="solid"/>
          </a:ln>
        </p:spPr>
      </p:sp>
      <p:sp>
        <p:nvSpPr>
          <p:cNvPr id="28" name="Text 26"/>
          <p:cNvSpPr txBox="1"/>
          <p:nvPr/>
        </p:nvSpPr>
        <p:spPr>
          <a:xfrm>
            <a:off x="2807894"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29" name="Text 27"/>
          <p:cNvSpPr txBox="1"/>
          <p:nvPr/>
        </p:nvSpPr>
        <p:spPr>
          <a:xfrm>
            <a:off x="2807894" y="4389120"/>
            <a:ext cx="2057400" cy="411480"/>
          </a:xfrm>
          <a:prstGeom prst="rect">
            <a:avLst/>
          </a:prstGeom>
          <a:noFill/>
          <a:ln/>
        </p:spPr>
        <p:txBody>
          <a:bodyPr wrap="square" lIns="0" tIns="0" rIns="0" bIns="0" rtlCol="0" anchor="t"/>
          <a:lstStyle/>
          <a:p>
            <a:pPr indent="0" marL="0">
              <a:buNone/>
            </a:pPr>
            <a:r>
              <a:rPr lang="en-US" sz="1600" b="1" dirty="0">
                <a:solidFill>
                  <a:schemeClr val="tx2"/>
                </a:solidFill>
              </a:rPr>
              <a:t>Server and 3D interface</a:t>
            </a:r>
            <a:endParaRPr lang="en-US" sz="1600" dirty="0"/>
          </a:p>
        </p:txBody>
      </p:sp>
      <p:sp>
        <p:nvSpPr>
          <p:cNvPr id="30" name="Text 28"/>
          <p:cNvSpPr txBox="1"/>
          <p:nvPr/>
        </p:nvSpPr>
        <p:spPr>
          <a:xfrm>
            <a:off x="2807894" y="480060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Node.js, React, Three.js</a:t>
            </a:r>
            <a:endParaRPr lang="en-US" sz="1350" dirty="0"/>
          </a:p>
        </p:txBody>
      </p:sp>
      <p:sp>
        <p:nvSpPr>
          <p:cNvPr id="31" name="Step 8 marker"/>
          <p:cNvSpPr/>
          <p:nvPr/>
        </p:nvSpPr>
        <p:spPr>
          <a:xfrm>
            <a:off x="5067148" y="3703320"/>
            <a:ext cx="548640" cy="548640"/>
          </a:xfrm>
          <a:prstGeom prst="ellipse">
            <a:avLst/>
          </a:prstGeom>
          <a:solidFill>
            <a:srgbClr val="E8792B"/>
          </a:solidFill>
          <a:ln w="12700">
            <a:solidFill>
              <a:srgbClr val="E8792B"/>
            </a:solidFill>
            <a:prstDash val="solid"/>
          </a:ln>
        </p:spPr>
      </p:sp>
      <p:sp>
        <p:nvSpPr>
          <p:cNvPr id="32" name="Text 30"/>
          <p:cNvSpPr txBox="1"/>
          <p:nvPr/>
        </p:nvSpPr>
        <p:spPr>
          <a:xfrm>
            <a:off x="5067148"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33" name="Text 31"/>
          <p:cNvSpPr txBox="1"/>
          <p:nvPr/>
        </p:nvSpPr>
        <p:spPr>
          <a:xfrm>
            <a:off x="5067148" y="4389120"/>
            <a:ext cx="2057400" cy="411480"/>
          </a:xfrm>
          <a:prstGeom prst="rect">
            <a:avLst/>
          </a:prstGeom>
          <a:noFill/>
          <a:ln/>
        </p:spPr>
        <p:txBody>
          <a:bodyPr wrap="square" lIns="0" tIns="0" rIns="0" bIns="0" rtlCol="0" anchor="t"/>
          <a:lstStyle/>
          <a:p>
            <a:pPr indent="0" marL="0">
              <a:buNone/>
            </a:pPr>
            <a:r>
              <a:rPr lang="en-US" sz="1600" b="1" dirty="0">
                <a:solidFill>
                  <a:schemeClr val="tx2"/>
                </a:solidFill>
              </a:rPr>
              <a:t>Simulation</a:t>
            </a:r>
            <a:endParaRPr lang="en-US" sz="1600" dirty="0"/>
          </a:p>
        </p:txBody>
      </p:sp>
      <p:sp>
        <p:nvSpPr>
          <p:cNvPr id="34" name="Text 32"/>
          <p:cNvSpPr txBox="1"/>
          <p:nvPr/>
        </p:nvSpPr>
        <p:spPr>
          <a:xfrm>
            <a:off x="5067148" y="480060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saves to Oracle every 2 s</a:t>
            </a:r>
            <a:endParaRPr lang="en-US" sz="1350" dirty="0"/>
          </a:p>
        </p:txBody>
      </p:sp>
      <p:sp>
        <p:nvSpPr>
          <p:cNvPr id="35" name="Step 9 marker"/>
          <p:cNvSpPr/>
          <p:nvPr/>
        </p:nvSpPr>
        <p:spPr>
          <a:xfrm>
            <a:off x="7326401" y="3703320"/>
            <a:ext cx="548640" cy="548640"/>
          </a:xfrm>
          <a:prstGeom prst="ellipse">
            <a:avLst/>
          </a:prstGeom>
          <a:solidFill>
            <a:srgbClr val="0E7C7B"/>
          </a:solidFill>
          <a:ln w="12700">
            <a:solidFill>
              <a:srgbClr val="0E7C7B"/>
            </a:solidFill>
            <a:prstDash val="solid"/>
          </a:ln>
        </p:spPr>
      </p:sp>
      <p:sp>
        <p:nvSpPr>
          <p:cNvPr id="36" name="Text 34"/>
          <p:cNvSpPr txBox="1"/>
          <p:nvPr/>
        </p:nvSpPr>
        <p:spPr>
          <a:xfrm>
            <a:off x="7326401"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37" name="Text 35"/>
          <p:cNvSpPr txBox="1"/>
          <p:nvPr/>
        </p:nvSpPr>
        <p:spPr>
          <a:xfrm>
            <a:off x="7326401" y="4389120"/>
            <a:ext cx="2057400" cy="411480"/>
          </a:xfrm>
          <a:prstGeom prst="rect">
            <a:avLst/>
          </a:prstGeom>
          <a:noFill/>
          <a:ln/>
        </p:spPr>
        <p:txBody>
          <a:bodyPr wrap="square" lIns="0" tIns="0" rIns="0" bIns="0" rtlCol="0" anchor="t"/>
          <a:lstStyle/>
          <a:p>
            <a:pPr indent="0" marL="0">
              <a:buNone/>
            </a:pPr>
            <a:r>
              <a:rPr lang="en-US" sz="1600" b="1" dirty="0">
                <a:solidFill>
                  <a:schemeClr val="tx2"/>
                </a:solidFill>
              </a:rPr>
              <a:t>Database Lab and tests</a:t>
            </a:r>
            <a:endParaRPr lang="en-US" sz="1600" dirty="0"/>
          </a:p>
        </p:txBody>
      </p:sp>
      <p:sp>
        <p:nvSpPr>
          <p:cNvPr id="38" name="Text 36"/>
          <p:cNvSpPr txBox="1"/>
          <p:nvPr/>
        </p:nvSpPr>
        <p:spPr>
          <a:xfrm>
            <a:off x="7326401" y="480060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Flashback, VPD, locks; db:selftest</a:t>
            </a:r>
            <a:endParaRPr lang="en-US" sz="1350" dirty="0"/>
          </a:p>
        </p:txBody>
      </p:sp>
      <p:sp>
        <p:nvSpPr>
          <p:cNvPr id="39" name="Step 10 marker"/>
          <p:cNvSpPr/>
          <p:nvPr/>
        </p:nvSpPr>
        <p:spPr>
          <a:xfrm>
            <a:off x="9585655" y="3703320"/>
            <a:ext cx="548640" cy="548640"/>
          </a:xfrm>
          <a:prstGeom prst="ellipse">
            <a:avLst/>
          </a:prstGeom>
          <a:solidFill>
            <a:srgbClr val="0E7C7B"/>
          </a:solidFill>
          <a:ln w="12700">
            <a:solidFill>
              <a:srgbClr val="0E7C7B"/>
            </a:solidFill>
            <a:prstDash val="solid"/>
          </a:ln>
        </p:spPr>
      </p:sp>
      <p:sp>
        <p:nvSpPr>
          <p:cNvPr id="40" name="Text 38"/>
          <p:cNvSpPr txBox="1"/>
          <p:nvPr/>
        </p:nvSpPr>
        <p:spPr>
          <a:xfrm>
            <a:off x="9585655"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41" name="Text 39"/>
          <p:cNvSpPr txBox="1"/>
          <p:nvPr/>
        </p:nvSpPr>
        <p:spPr>
          <a:xfrm>
            <a:off x="9585655" y="4389120"/>
            <a:ext cx="2057400" cy="411480"/>
          </a:xfrm>
          <a:prstGeom prst="rect">
            <a:avLst/>
          </a:prstGeom>
          <a:noFill/>
          <a:ln/>
        </p:spPr>
        <p:txBody>
          <a:bodyPr wrap="square" lIns="0" tIns="0" rIns="0" bIns="0" rtlCol="0" anchor="t"/>
          <a:lstStyle/>
          <a:p>
            <a:pPr indent="0" marL="0">
              <a:buNone/>
            </a:pPr>
            <a:r>
              <a:rPr lang="en-US" sz="1600" b="1" dirty="0">
                <a:solidFill>
                  <a:schemeClr val="tx2"/>
                </a:solidFill>
              </a:rPr>
              <a:t>Smart Warehouse</a:t>
            </a:r>
            <a:endParaRPr lang="en-US" sz="1600" dirty="0"/>
          </a:p>
        </p:txBody>
      </p:sp>
      <p:sp>
        <p:nvSpPr>
          <p:cNvPr id="42" name="Text 40"/>
          <p:cNvSpPr txBox="1"/>
          <p:nvPr/>
        </p:nvSpPr>
        <p:spPr>
          <a:xfrm>
            <a:off x="9585655" y="4800600"/>
            <a:ext cx="2057400" cy="594360"/>
          </a:xfrm>
          <a:prstGeom prst="rect">
            <a:avLst/>
          </a:prstGeom>
          <a:noFill/>
          <a:ln/>
        </p:spPr>
        <p:txBody>
          <a:bodyPr wrap="square" lIns="0" tIns="0" rIns="0" bIns="0" rtlCol="0" anchor="t"/>
          <a:lstStyle/>
          <a:p>
            <a:pPr indent="0" marL="0">
              <a:buNone/>
            </a:pPr>
            <a:r>
              <a:rPr lang="en-US" sz="1350" dirty="0">
                <a:solidFill>
                  <a:schemeClr val="accent5"/>
                </a:solidFill>
              </a:rPr>
              <a:t>lots, bins, sensors, graph</a:t>
            </a:r>
            <a:endParaRPr lang="en-US" sz="1350" dirty="0"/>
          </a:p>
        </p:txBody>
      </p:sp>
      <p:sp>
        <p:nvSpPr>
          <p:cNvPr id="43" name="Text 41"/>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500" b="1" dirty="0">
                <a:solidFill>
                  <a:schemeClr val="tx2"/>
                </a:solidFill>
              </a:rPr>
              <a:t>Setup is scripted: </a:t>
            </a:r>
            <a:pPr indent="0" marL="0">
              <a:buNone/>
            </a:pPr>
            <a:r>
              <a:rPr lang="en-US" sz="1500" dirty="0">
                <a:solidFill>
                  <a:schemeClr val="tx1"/>
                </a:solidFill>
                <a:latin typeface="Courier New" pitchFamily="34" charset="0"/>
                <a:ea typeface="Courier New" pitchFamily="34" charset="-122"/>
                <a:cs typeface="Courier New" pitchFamily="34" charset="-120"/>
              </a:rPr>
              <a:t>npm run db:up</a:t>
            </a:r>
            <a:pPr indent="0" marL="0">
              <a:buNone/>
            </a:pPr>
            <a:r>
              <a:rPr lang="en-US" sz="1500" dirty="0">
                <a:solidFill>
                  <a:schemeClr val="tx1"/>
                </a:solidFill>
              </a:rPr>
              <a:t> starts Oracle, </a:t>
            </a:r>
            <a:pPr indent="0" marL="0">
              <a:buNone/>
            </a:pPr>
            <a:r>
              <a:rPr lang="en-US" sz="1500" dirty="0">
                <a:solidFill>
                  <a:schemeClr val="tx1"/>
                </a:solidFill>
                <a:latin typeface="Courier New" pitchFamily="34" charset="0"/>
                <a:ea typeface="Courier New" pitchFamily="34" charset="-122"/>
                <a:cs typeface="Courier New" pitchFamily="34" charset="-120"/>
              </a:rPr>
              <a:t>npm run db:reset</a:t>
            </a:r>
            <a:pPr indent="0" marL="0">
              <a:buNone/>
            </a:pPr>
            <a:r>
              <a:rPr lang="en-US" sz="1500" dirty="0">
                <a:solidFill>
                  <a:schemeClr val="tx1"/>
                </a:solidFill>
              </a:rPr>
              <a:t> loads the schema, </a:t>
            </a:r>
            <a:pPr indent="0" marL="0">
              <a:buNone/>
            </a:pPr>
            <a:r>
              <a:rPr lang="en-US" sz="1500" dirty="0">
                <a:solidFill>
                  <a:schemeClr val="tx1"/>
                </a:solidFill>
                <a:latin typeface="Courier New" pitchFamily="34" charset="0"/>
                <a:ea typeface="Courier New" pitchFamily="34" charset="-122"/>
                <a:cs typeface="Courier New" pitchFamily="34" charset="-120"/>
              </a:rPr>
              <a:t>npm run dev</a:t>
            </a:r>
            <a:pPr indent="0" marL="0">
              <a:buNone/>
            </a:pPr>
            <a:r>
              <a:rPr lang="en-US" sz="1500" dirty="0">
                <a:solidFill>
                  <a:schemeClr val="tx1"/>
                </a:solidFill>
              </a:rPr>
              <a:t> starts the app.</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Results</a:t>
            </a:r>
            <a:endParaRPr lang="en-US" sz="3400" dirty="0"/>
          </a:p>
        </p:txBody>
      </p:sp>
      <p:sp>
        <p:nvSpPr>
          <p:cNvPr id="3" name="Complete working system circle"/>
          <p:cNvSpPr/>
          <p:nvPr/>
        </p:nvSpPr>
        <p:spPr>
          <a:xfrm>
            <a:off x="548640" y="1325880"/>
            <a:ext cx="658368" cy="658368"/>
          </a:xfrm>
          <a:prstGeom prst="ellipse">
            <a:avLst/>
          </a:prstGeom>
          <a:solidFill>
            <a:schemeClr val="accent3"/>
          </a:solidFill>
          <a:ln w="12700">
            <a:solidFill>
              <a:schemeClr val="accent3"/>
            </a:solidFill>
            <a:prstDash val="solid"/>
          </a:ln>
        </p:spPr>
      </p:sp>
      <p:pic>
        <p:nvPicPr>
          <p:cNvPr id="4" name="Complete working system icon" descr="preencoded.png">    </p:cNvPr>
          <p:cNvPicPr>
            <a:picLocks noChangeAspect="1"/>
          </p:cNvPicPr>
          <p:nvPr/>
        </p:nvPicPr>
        <p:blipFill>
          <a:blip r:embed="rId1"/>
          <a:stretch>
            <a:fillRect/>
          </a:stretch>
        </p:blipFill>
        <p:spPr>
          <a:xfrm>
            <a:off x="713232" y="1490472"/>
            <a:ext cx="329184" cy="329184"/>
          </a:xfrm>
          <a:prstGeom prst="rect">
            <a:avLst/>
          </a:prstGeom>
        </p:spPr>
      </p:pic>
      <p:sp>
        <p:nvSpPr>
          <p:cNvPr id="5" name="Text 2"/>
          <p:cNvSpPr txBox="1"/>
          <p:nvPr/>
        </p:nvSpPr>
        <p:spPr>
          <a:xfrm>
            <a:off x="1417320" y="1307592"/>
            <a:ext cx="5669280" cy="384048"/>
          </a:xfrm>
          <a:prstGeom prst="rect">
            <a:avLst/>
          </a:prstGeom>
          <a:noFill/>
          <a:ln/>
        </p:spPr>
        <p:txBody>
          <a:bodyPr wrap="square" lIns="0" tIns="0" rIns="0" bIns="0" rtlCol="0" anchor="t"/>
          <a:lstStyle/>
          <a:p>
            <a:pPr indent="0" marL="0">
              <a:buNone/>
            </a:pPr>
            <a:r>
              <a:rPr lang="en-US" sz="1800" b="1" dirty="0">
                <a:solidFill>
                  <a:schemeClr val="tx2"/>
                </a:solidFill>
              </a:rPr>
              <a:t>Complete working system</a:t>
            </a:r>
            <a:endParaRPr lang="en-US" sz="1800" dirty="0"/>
          </a:p>
        </p:txBody>
      </p:sp>
      <p:sp>
        <p:nvSpPr>
          <p:cNvPr id="6" name="Text 3"/>
          <p:cNvSpPr txBox="1"/>
          <p:nvPr/>
        </p:nvSpPr>
        <p:spPr>
          <a:xfrm>
            <a:off x="1417320" y="1691640"/>
            <a:ext cx="5669280" cy="411480"/>
          </a:xfrm>
          <a:prstGeom prst="rect">
            <a:avLst/>
          </a:prstGeom>
          <a:noFill/>
          <a:ln/>
        </p:spPr>
        <p:txBody>
          <a:bodyPr wrap="square" lIns="0" tIns="0" rIns="0" bIns="0" rtlCol="0" anchor="t"/>
          <a:lstStyle/>
          <a:p>
            <a:pPr indent="0" marL="0">
              <a:buNone/>
            </a:pPr>
            <a:r>
              <a:rPr lang="en-US" sz="1500" dirty="0">
                <a:solidFill>
                  <a:schemeClr val="tx1"/>
                </a:solidFill>
              </a:rPr>
              <a:t>Ship to shelf, stored in one Oracle schema and running live</a:t>
            </a:r>
            <a:endParaRPr lang="en-US" sz="1500" dirty="0"/>
          </a:p>
        </p:txBody>
      </p:sp>
      <p:sp>
        <p:nvSpPr>
          <p:cNvPr id="7" name="Integrity enforced in the database circle"/>
          <p:cNvSpPr/>
          <p:nvPr/>
        </p:nvSpPr>
        <p:spPr>
          <a:xfrm>
            <a:off x="548640" y="2093976"/>
            <a:ext cx="658368" cy="658368"/>
          </a:xfrm>
          <a:prstGeom prst="ellipse">
            <a:avLst/>
          </a:prstGeom>
          <a:solidFill>
            <a:schemeClr val="accent3"/>
          </a:solidFill>
          <a:ln w="12700">
            <a:solidFill>
              <a:schemeClr val="accent3"/>
            </a:solidFill>
            <a:prstDash val="solid"/>
          </a:ln>
        </p:spPr>
      </p:sp>
      <p:pic>
        <p:nvPicPr>
          <p:cNvPr id="8" name="Integrity enforced in the database icon" descr="preencoded.png">    </p:cNvPr>
          <p:cNvPicPr>
            <a:picLocks noChangeAspect="1"/>
          </p:cNvPicPr>
          <p:nvPr/>
        </p:nvPicPr>
        <p:blipFill>
          <a:blip r:embed="rId2"/>
          <a:stretch>
            <a:fillRect/>
          </a:stretch>
        </p:blipFill>
        <p:spPr>
          <a:xfrm>
            <a:off x="713232" y="2258568"/>
            <a:ext cx="329184" cy="329184"/>
          </a:xfrm>
          <a:prstGeom prst="rect">
            <a:avLst/>
          </a:prstGeom>
        </p:spPr>
      </p:pic>
      <p:sp>
        <p:nvSpPr>
          <p:cNvPr id="9" name="Text 5"/>
          <p:cNvSpPr txBox="1"/>
          <p:nvPr/>
        </p:nvSpPr>
        <p:spPr>
          <a:xfrm>
            <a:off x="1417320" y="2075688"/>
            <a:ext cx="5669280" cy="384048"/>
          </a:xfrm>
          <a:prstGeom prst="rect">
            <a:avLst/>
          </a:prstGeom>
          <a:noFill/>
          <a:ln/>
        </p:spPr>
        <p:txBody>
          <a:bodyPr wrap="square" lIns="0" tIns="0" rIns="0" bIns="0" rtlCol="0" anchor="t"/>
          <a:lstStyle/>
          <a:p>
            <a:pPr indent="0" marL="0">
              <a:buNone/>
            </a:pPr>
            <a:r>
              <a:rPr lang="en-US" sz="1800" b="1" dirty="0">
                <a:solidFill>
                  <a:schemeClr val="tx2"/>
                </a:solidFill>
              </a:rPr>
              <a:t>Integrity enforced in the database</a:t>
            </a:r>
            <a:endParaRPr lang="en-US" sz="1800" dirty="0"/>
          </a:p>
        </p:txBody>
      </p:sp>
      <p:sp>
        <p:nvSpPr>
          <p:cNvPr id="10" name="Text 6"/>
          <p:cNvSpPr txBox="1"/>
          <p:nvPr/>
        </p:nvSpPr>
        <p:spPr>
          <a:xfrm>
            <a:off x="1417320" y="2459736"/>
            <a:ext cx="5669280" cy="411480"/>
          </a:xfrm>
          <a:prstGeom prst="rect">
            <a:avLst/>
          </a:prstGeom>
          <a:noFill/>
          <a:ln/>
        </p:spPr>
        <p:txBody>
          <a:bodyPr wrap="square" lIns="0" tIns="0" rIns="0" bIns="0" rtlCol="0" anchor="t"/>
          <a:lstStyle/>
          <a:p>
            <a:pPr indent="0" marL="0">
              <a:buNone/>
            </a:pPr>
            <a:r>
              <a:rPr lang="en-US" sz="1500" dirty="0">
                <a:solidFill>
                  <a:schemeClr val="tx1"/>
                </a:solidFill>
              </a:rPr>
              <a:t>Invalid data is refused, whatever program sends it</a:t>
            </a:r>
            <a:endParaRPr lang="en-US" sz="1500" dirty="0"/>
          </a:p>
        </p:txBody>
      </p:sp>
      <p:sp>
        <p:nvSpPr>
          <p:cNvPr id="11" name="Full traceability circle"/>
          <p:cNvSpPr/>
          <p:nvPr/>
        </p:nvSpPr>
        <p:spPr>
          <a:xfrm>
            <a:off x="548640" y="2862072"/>
            <a:ext cx="658368" cy="658368"/>
          </a:xfrm>
          <a:prstGeom prst="ellipse">
            <a:avLst/>
          </a:prstGeom>
          <a:solidFill>
            <a:schemeClr val="accent3"/>
          </a:solidFill>
          <a:ln w="12700">
            <a:solidFill>
              <a:schemeClr val="accent3"/>
            </a:solidFill>
            <a:prstDash val="solid"/>
          </a:ln>
        </p:spPr>
      </p:sp>
      <p:pic>
        <p:nvPicPr>
          <p:cNvPr id="12" name="Full traceability icon" descr="preencoded.png">    </p:cNvPr>
          <p:cNvPicPr>
            <a:picLocks noChangeAspect="1"/>
          </p:cNvPicPr>
          <p:nvPr/>
        </p:nvPicPr>
        <p:blipFill>
          <a:blip r:embed="rId3"/>
          <a:stretch>
            <a:fillRect/>
          </a:stretch>
        </p:blipFill>
        <p:spPr>
          <a:xfrm>
            <a:off x="713232" y="3026664"/>
            <a:ext cx="329184" cy="329184"/>
          </a:xfrm>
          <a:prstGeom prst="rect">
            <a:avLst/>
          </a:prstGeom>
        </p:spPr>
      </p:pic>
      <p:sp>
        <p:nvSpPr>
          <p:cNvPr id="13" name="Text 8"/>
          <p:cNvSpPr txBox="1"/>
          <p:nvPr/>
        </p:nvSpPr>
        <p:spPr>
          <a:xfrm>
            <a:off x="1417320" y="2843784"/>
            <a:ext cx="5669280" cy="384048"/>
          </a:xfrm>
          <a:prstGeom prst="rect">
            <a:avLst/>
          </a:prstGeom>
          <a:noFill/>
          <a:ln/>
        </p:spPr>
        <p:txBody>
          <a:bodyPr wrap="square" lIns="0" tIns="0" rIns="0" bIns="0" rtlCol="0" anchor="t"/>
          <a:lstStyle/>
          <a:p>
            <a:pPr indent="0" marL="0">
              <a:buNone/>
            </a:pPr>
            <a:r>
              <a:rPr lang="en-US" sz="1800" b="1" dirty="0">
                <a:solidFill>
                  <a:schemeClr val="tx2"/>
                </a:solidFill>
              </a:rPr>
              <a:t>Full traceability</a:t>
            </a:r>
            <a:endParaRPr lang="en-US" sz="1800" dirty="0"/>
          </a:p>
        </p:txBody>
      </p:sp>
      <p:sp>
        <p:nvSpPr>
          <p:cNvPr id="14" name="Text 9"/>
          <p:cNvSpPr txBox="1"/>
          <p:nvPr/>
        </p:nvSpPr>
        <p:spPr>
          <a:xfrm>
            <a:off x="1417320" y="3227832"/>
            <a:ext cx="5669280" cy="411480"/>
          </a:xfrm>
          <a:prstGeom prst="rect">
            <a:avLst/>
          </a:prstGeom>
          <a:noFill/>
          <a:ln/>
        </p:spPr>
        <p:txBody>
          <a:bodyPr wrap="square" lIns="0" tIns="0" rIns="0" bIns="0" rtlCol="0" anchor="t"/>
          <a:lstStyle/>
          <a:p>
            <a:pPr indent="0" marL="0">
              <a:buNone/>
            </a:pPr>
            <a:r>
              <a:rPr lang="en-US" sz="1500" dirty="0">
                <a:solidFill>
                  <a:schemeClr val="tx1"/>
                </a:solidFill>
              </a:rPr>
              <a:t>Any container, any change, back to a user and a time</a:t>
            </a:r>
            <a:endParaRPr lang="en-US" sz="1500" dirty="0"/>
          </a:p>
        </p:txBody>
      </p:sp>
      <p:sp>
        <p:nvSpPr>
          <p:cNvPr id="15" name="Open to other tools circle"/>
          <p:cNvSpPr/>
          <p:nvPr/>
        </p:nvSpPr>
        <p:spPr>
          <a:xfrm>
            <a:off x="548640" y="3630168"/>
            <a:ext cx="658368" cy="658368"/>
          </a:xfrm>
          <a:prstGeom prst="ellipse">
            <a:avLst/>
          </a:prstGeom>
          <a:solidFill>
            <a:schemeClr val="accent3"/>
          </a:solidFill>
          <a:ln w="12700">
            <a:solidFill>
              <a:schemeClr val="accent3"/>
            </a:solidFill>
            <a:prstDash val="solid"/>
          </a:ln>
        </p:spPr>
      </p:sp>
      <p:pic>
        <p:nvPicPr>
          <p:cNvPr id="16" name="Open to other tools icon" descr="preencoded.png">    </p:cNvPr>
          <p:cNvPicPr>
            <a:picLocks noChangeAspect="1"/>
          </p:cNvPicPr>
          <p:nvPr/>
        </p:nvPicPr>
        <p:blipFill>
          <a:blip r:embed="rId4"/>
          <a:stretch>
            <a:fillRect/>
          </a:stretch>
        </p:blipFill>
        <p:spPr>
          <a:xfrm>
            <a:off x="713232" y="3794760"/>
            <a:ext cx="329184" cy="329184"/>
          </a:xfrm>
          <a:prstGeom prst="rect">
            <a:avLst/>
          </a:prstGeom>
        </p:spPr>
      </p:pic>
      <p:sp>
        <p:nvSpPr>
          <p:cNvPr id="17" name="Text 11"/>
          <p:cNvSpPr txBox="1"/>
          <p:nvPr/>
        </p:nvSpPr>
        <p:spPr>
          <a:xfrm>
            <a:off x="1417320" y="3611880"/>
            <a:ext cx="5669280" cy="384048"/>
          </a:xfrm>
          <a:prstGeom prst="rect">
            <a:avLst/>
          </a:prstGeom>
          <a:noFill/>
          <a:ln/>
        </p:spPr>
        <p:txBody>
          <a:bodyPr wrap="square" lIns="0" tIns="0" rIns="0" bIns="0" rtlCol="0" anchor="t"/>
          <a:lstStyle/>
          <a:p>
            <a:pPr indent="0" marL="0">
              <a:buNone/>
            </a:pPr>
            <a:r>
              <a:rPr lang="en-US" sz="1800" b="1" dirty="0">
                <a:solidFill>
                  <a:schemeClr val="tx2"/>
                </a:solidFill>
              </a:rPr>
              <a:t>Open to other tools</a:t>
            </a:r>
            <a:endParaRPr lang="en-US" sz="1800" dirty="0"/>
          </a:p>
        </p:txBody>
      </p:sp>
      <p:sp>
        <p:nvSpPr>
          <p:cNvPr id="18" name="Text 12"/>
          <p:cNvSpPr txBox="1"/>
          <p:nvPr/>
        </p:nvSpPr>
        <p:spPr>
          <a:xfrm>
            <a:off x="1417320" y="3995928"/>
            <a:ext cx="5669280" cy="411480"/>
          </a:xfrm>
          <a:prstGeom prst="rect">
            <a:avLst/>
          </a:prstGeom>
          <a:noFill/>
          <a:ln/>
        </p:spPr>
        <p:txBody>
          <a:bodyPr wrap="square" lIns="0" tIns="0" rIns="0" bIns="0" rtlCol="0" anchor="t"/>
          <a:lstStyle/>
          <a:p>
            <a:pPr indent="0" marL="0">
              <a:buNone/>
            </a:pPr>
            <a:r>
              <a:rPr lang="en-US" sz="1500" dirty="0">
                <a:solidFill>
                  <a:schemeClr val="tx1"/>
                </a:solidFill>
              </a:rPr>
              <a:t>An UPDATE in SQL Developer changes the live city</a:t>
            </a:r>
            <a:endParaRPr lang="en-US" sz="1500" dirty="0"/>
          </a:p>
        </p:txBody>
      </p:sp>
      <p:sp>
        <p:nvSpPr>
          <p:cNvPr id="19" name="The database remembers circle"/>
          <p:cNvSpPr/>
          <p:nvPr/>
        </p:nvSpPr>
        <p:spPr>
          <a:xfrm>
            <a:off x="548640" y="4398264"/>
            <a:ext cx="658368" cy="658368"/>
          </a:xfrm>
          <a:prstGeom prst="ellipse">
            <a:avLst/>
          </a:prstGeom>
          <a:solidFill>
            <a:schemeClr val="accent3"/>
          </a:solidFill>
          <a:ln w="12700">
            <a:solidFill>
              <a:schemeClr val="accent3"/>
            </a:solidFill>
            <a:prstDash val="solid"/>
          </a:ln>
        </p:spPr>
      </p:sp>
      <p:pic>
        <p:nvPicPr>
          <p:cNvPr id="20" name="The database remembers icon" descr="preencoded.png">    </p:cNvPr>
          <p:cNvPicPr>
            <a:picLocks noChangeAspect="1"/>
          </p:cNvPicPr>
          <p:nvPr/>
        </p:nvPicPr>
        <p:blipFill>
          <a:blip r:embed="rId5"/>
          <a:stretch>
            <a:fillRect/>
          </a:stretch>
        </p:blipFill>
        <p:spPr>
          <a:xfrm>
            <a:off x="713232" y="4562856"/>
            <a:ext cx="329184" cy="329184"/>
          </a:xfrm>
          <a:prstGeom prst="rect">
            <a:avLst/>
          </a:prstGeom>
        </p:spPr>
      </p:pic>
      <p:sp>
        <p:nvSpPr>
          <p:cNvPr id="21" name="Text 14"/>
          <p:cNvSpPr txBox="1"/>
          <p:nvPr/>
        </p:nvSpPr>
        <p:spPr>
          <a:xfrm>
            <a:off x="1417320" y="4379976"/>
            <a:ext cx="5669280" cy="384048"/>
          </a:xfrm>
          <a:prstGeom prst="rect">
            <a:avLst/>
          </a:prstGeom>
          <a:noFill/>
          <a:ln/>
        </p:spPr>
        <p:txBody>
          <a:bodyPr wrap="square" lIns="0" tIns="0" rIns="0" bIns="0" rtlCol="0" anchor="t"/>
          <a:lstStyle/>
          <a:p>
            <a:pPr indent="0" marL="0">
              <a:buNone/>
            </a:pPr>
            <a:r>
              <a:rPr lang="en-US" sz="1800" b="1" dirty="0">
                <a:solidFill>
                  <a:schemeClr val="tx2"/>
                </a:solidFill>
              </a:rPr>
              <a:t>The database remembers</a:t>
            </a:r>
            <a:endParaRPr lang="en-US" sz="1800" dirty="0"/>
          </a:p>
        </p:txBody>
      </p:sp>
      <p:sp>
        <p:nvSpPr>
          <p:cNvPr id="22" name="Text 15"/>
          <p:cNvSpPr txBox="1"/>
          <p:nvPr/>
        </p:nvSpPr>
        <p:spPr>
          <a:xfrm>
            <a:off x="1417320" y="4764024"/>
            <a:ext cx="5669280" cy="411480"/>
          </a:xfrm>
          <a:prstGeom prst="rect">
            <a:avLst/>
          </a:prstGeom>
          <a:noFill/>
          <a:ln/>
        </p:spPr>
        <p:txBody>
          <a:bodyPr wrap="square" lIns="0" tIns="0" rIns="0" bIns="0" rtlCol="0" anchor="t"/>
          <a:lstStyle/>
          <a:p>
            <a:pPr indent="0" marL="0">
              <a:buNone/>
            </a:pPr>
            <a:r>
              <a:rPr lang="en-US" sz="1500" dirty="0">
                <a:solidFill>
                  <a:schemeClr val="tx1"/>
                </a:solidFill>
              </a:rPr>
              <a:t>Flashback rewinds the city; VPD and locks keep it safe</a:t>
            </a:r>
            <a:endParaRPr lang="en-US" sz="1500" dirty="0"/>
          </a:p>
        </p:txBody>
      </p:sp>
      <p:sp>
        <p:nvSpPr>
          <p:cNvPr id="23" name="A smart warehouse circle"/>
          <p:cNvSpPr/>
          <p:nvPr/>
        </p:nvSpPr>
        <p:spPr>
          <a:xfrm>
            <a:off x="548640" y="5166360"/>
            <a:ext cx="658368" cy="658368"/>
          </a:xfrm>
          <a:prstGeom prst="ellipse">
            <a:avLst/>
          </a:prstGeom>
          <a:solidFill>
            <a:schemeClr val="accent3"/>
          </a:solidFill>
          <a:ln w="12700">
            <a:solidFill>
              <a:schemeClr val="accent3"/>
            </a:solidFill>
            <a:prstDash val="solid"/>
          </a:ln>
        </p:spPr>
      </p:sp>
      <p:pic>
        <p:nvPicPr>
          <p:cNvPr id="24" name="A smart warehouse icon" descr="preencoded.png">    </p:cNvPr>
          <p:cNvPicPr>
            <a:picLocks noChangeAspect="1"/>
          </p:cNvPicPr>
          <p:nvPr/>
        </p:nvPicPr>
        <p:blipFill>
          <a:blip r:embed="rId6"/>
          <a:stretch>
            <a:fillRect/>
          </a:stretch>
        </p:blipFill>
        <p:spPr>
          <a:xfrm>
            <a:off x="713232" y="5330952"/>
            <a:ext cx="329184" cy="329184"/>
          </a:xfrm>
          <a:prstGeom prst="rect">
            <a:avLst/>
          </a:prstGeom>
        </p:spPr>
      </p:pic>
      <p:sp>
        <p:nvSpPr>
          <p:cNvPr id="25" name="Text 17"/>
          <p:cNvSpPr txBox="1"/>
          <p:nvPr/>
        </p:nvSpPr>
        <p:spPr>
          <a:xfrm>
            <a:off x="1417320" y="5148072"/>
            <a:ext cx="5669280" cy="384048"/>
          </a:xfrm>
          <a:prstGeom prst="rect">
            <a:avLst/>
          </a:prstGeom>
          <a:noFill/>
          <a:ln/>
        </p:spPr>
        <p:txBody>
          <a:bodyPr wrap="square" lIns="0" tIns="0" rIns="0" bIns="0" rtlCol="0" anchor="t"/>
          <a:lstStyle/>
          <a:p>
            <a:pPr indent="0" marL="0">
              <a:buNone/>
            </a:pPr>
            <a:r>
              <a:rPr lang="en-US" sz="1800" b="1" dirty="0">
                <a:solidFill>
                  <a:schemeClr val="tx2"/>
                </a:solidFill>
              </a:rPr>
              <a:t>A smart warehouse</a:t>
            </a:r>
            <a:endParaRPr lang="en-US" sz="1800" dirty="0"/>
          </a:p>
        </p:txBody>
      </p:sp>
      <p:sp>
        <p:nvSpPr>
          <p:cNvPr id="26" name="Text 18"/>
          <p:cNvSpPr txBox="1"/>
          <p:nvPr/>
        </p:nvSpPr>
        <p:spPr>
          <a:xfrm>
            <a:off x="1417320" y="5532120"/>
            <a:ext cx="5669280" cy="411480"/>
          </a:xfrm>
          <a:prstGeom prst="rect">
            <a:avLst/>
          </a:prstGeom>
          <a:noFill/>
          <a:ln/>
        </p:spPr>
        <p:txBody>
          <a:bodyPr wrap="square" lIns="0" tIns="0" rIns="0" bIns="0" rtlCol="0" anchor="t"/>
          <a:lstStyle/>
          <a:p>
            <a:pPr indent="0" marL="0">
              <a:buNone/>
            </a:pPr>
            <a:r>
              <a:rPr lang="en-US" sz="1500" dirty="0">
                <a:solidFill>
                  <a:schemeClr val="tx1"/>
                </a:solidFill>
              </a:rPr>
              <a:t>Lots, FEFO, cold chain, recalls and routes decided in SQL</a:t>
            </a:r>
            <a:endParaRPr lang="en-US" sz="1500" dirty="0"/>
          </a:p>
        </p:txBody>
      </p:sp>
      <p:sp>
        <p:nvSpPr>
          <p:cNvPr id="27" name="Size stat card"/>
          <p:cNvSpPr/>
          <p:nvPr/>
        </p:nvSpPr>
        <p:spPr>
          <a:xfrm>
            <a:off x="7452360" y="1417320"/>
            <a:ext cx="4187952" cy="4160520"/>
          </a:xfrm>
          <a:prstGeom prst="roundRect">
            <a:avLst>
              <a:gd name="adj" fmla="val 2637"/>
            </a:avLst>
          </a:prstGeom>
          <a:solidFill>
            <a:srgbClr val="0B1F3A"/>
          </a:solidFill>
          <a:ln w="12700">
            <a:solidFill>
              <a:srgbClr val="0B1F3A"/>
            </a:solidFill>
            <a:prstDash val="solid"/>
          </a:ln>
        </p:spPr>
      </p:sp>
      <p:sp>
        <p:nvSpPr>
          <p:cNvPr id="28" name="Text 20"/>
          <p:cNvSpPr txBox="1"/>
          <p:nvPr/>
        </p:nvSpPr>
        <p:spPr>
          <a:xfrm>
            <a:off x="7772400" y="1874520"/>
            <a:ext cx="3657600" cy="10972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~30,700</a:t>
            </a:r>
            <a:endParaRPr lang="en-US" sz="6000" dirty="0"/>
          </a:p>
        </p:txBody>
      </p:sp>
      <p:sp>
        <p:nvSpPr>
          <p:cNvPr id="29" name="Text 21"/>
          <p:cNvSpPr txBox="1"/>
          <p:nvPr/>
        </p:nvSpPr>
        <p:spPr>
          <a:xfrm>
            <a:off x="7772400" y="2971800"/>
            <a:ext cx="3566160" cy="731520"/>
          </a:xfrm>
          <a:prstGeom prst="rect">
            <a:avLst/>
          </a:prstGeom>
          <a:noFill/>
          <a:ln/>
        </p:spPr>
        <p:txBody>
          <a:bodyPr wrap="square" lIns="0" tIns="0" rIns="0" bIns="0" rtlCol="0" anchor="t"/>
          <a:lstStyle/>
          <a:p>
            <a:pPr indent="0" marL="0">
              <a:buNone/>
            </a:pPr>
            <a:r>
              <a:rPr lang="en-US" sz="1800" dirty="0">
                <a:solidFill>
                  <a:schemeClr val="bg1"/>
                </a:solidFill>
              </a:rPr>
              <a:t>lines of SQL, PL/SQL and TypeScript</a:t>
            </a:r>
            <a:endParaRPr lang="en-US" sz="1800" dirty="0"/>
          </a:p>
        </p:txBody>
      </p:sp>
      <p:sp>
        <p:nvSpPr>
          <p:cNvPr id="30" name="Text 22"/>
          <p:cNvSpPr txBox="1"/>
          <p:nvPr/>
        </p:nvSpPr>
        <p:spPr>
          <a:xfrm>
            <a:off x="7772400" y="4023360"/>
            <a:ext cx="3566160" cy="1097280"/>
          </a:xfrm>
          <a:prstGeom prst="rect">
            <a:avLst/>
          </a:prstGeom>
          <a:noFill/>
          <a:ln/>
        </p:spPr>
        <p:txBody>
          <a:bodyPr wrap="square" lIns="0" tIns="0" rIns="0" bIns="0" rtlCol="0" anchor="t"/>
          <a:lstStyle/>
          <a:p>
            <a:pPr indent="0" marL="0">
              <a:buNone/>
            </a:pPr>
            <a:r>
              <a:rPr lang="en-US" sz="1500" dirty="0">
                <a:solidFill>
                  <a:schemeClr val="bg2"/>
                </a:solidFill>
              </a:rPr>
              <a:t>64 tables · 27 views · 10 packages · 26 triggers · 26 reports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Future scope</a:t>
            </a:r>
            <a:endParaRPr lang="en-US" sz="3400" dirty="0"/>
          </a:p>
        </p:txBody>
      </p:sp>
      <p:sp>
        <p:nvSpPr>
          <p:cNvPr id="3" name="Real devices card"/>
          <p:cNvSpPr/>
          <p:nvPr/>
        </p:nvSpPr>
        <p:spPr>
          <a:xfrm>
            <a:off x="548640" y="1417320"/>
            <a:ext cx="3520440" cy="2011680"/>
          </a:xfrm>
          <a:prstGeom prst="roundRect">
            <a:avLst>
              <a:gd name="adj" fmla="val 5455"/>
            </a:avLst>
          </a:prstGeom>
          <a:solidFill>
            <a:schemeClr val="bg2"/>
          </a:solidFill>
          <a:ln w="12700">
            <a:solidFill>
              <a:schemeClr val="bg2"/>
            </a:solidFill>
            <a:prstDash val="solid"/>
          </a:ln>
        </p:spPr>
      </p:sp>
      <p:sp>
        <p:nvSpPr>
          <p:cNvPr id="4" name="Real devices 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Real devices icon"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00200" y="173736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Real devices</a:t>
            </a:r>
            <a:endParaRPr lang="en-US" sz="1800" dirty="0"/>
          </a:p>
        </p:txBody>
      </p:sp>
      <p:sp>
        <p:nvSpPr>
          <p:cNvPr id="7" name="Text 4"/>
          <p:cNvSpPr txBox="1"/>
          <p:nvPr/>
        </p:nvSpPr>
        <p:spPr>
          <a:xfrm>
            <a:off x="822960" y="2514600"/>
            <a:ext cx="2971800" cy="777240"/>
          </a:xfrm>
          <a:prstGeom prst="rect">
            <a:avLst/>
          </a:prstGeom>
          <a:noFill/>
          <a:ln/>
        </p:spPr>
        <p:txBody>
          <a:bodyPr wrap="square" lIns="0" tIns="0" rIns="0" bIns="0" rtlCol="0" anchor="t"/>
          <a:lstStyle/>
          <a:p>
            <a:pPr indent="0" marL="0">
              <a:buNone/>
            </a:pPr>
            <a:r>
              <a:rPr lang="en-US" sz="1500" dirty="0">
                <a:solidFill>
                  <a:schemeClr val="tx1"/>
                </a:solidFill>
              </a:rPr>
              <a:t>RFID gates, IoT sensors and GPS trackers instead of the simulation</a:t>
            </a:r>
            <a:endParaRPr lang="en-US" sz="1500" dirty="0"/>
          </a:p>
        </p:txBody>
      </p:sp>
      <p:sp>
        <p:nvSpPr>
          <p:cNvPr id="8" name="Billing and customs card"/>
          <p:cNvSpPr/>
          <p:nvPr/>
        </p:nvSpPr>
        <p:spPr>
          <a:xfrm>
            <a:off x="4425696" y="1417320"/>
            <a:ext cx="3520440" cy="2011680"/>
          </a:xfrm>
          <a:prstGeom prst="roundRect">
            <a:avLst>
              <a:gd name="adj" fmla="val 5455"/>
            </a:avLst>
          </a:prstGeom>
          <a:solidFill>
            <a:schemeClr val="bg2"/>
          </a:solidFill>
          <a:ln w="12700">
            <a:solidFill>
              <a:schemeClr val="bg2"/>
            </a:solidFill>
            <a:prstDash val="solid"/>
          </a:ln>
        </p:spPr>
      </p:sp>
      <p:sp>
        <p:nvSpPr>
          <p:cNvPr id="9" name="Billing and customs circle"/>
          <p:cNvSpPr/>
          <p:nvPr/>
        </p:nvSpPr>
        <p:spPr>
          <a:xfrm>
            <a:off x="4700016" y="1691640"/>
            <a:ext cx="640080" cy="640080"/>
          </a:xfrm>
          <a:prstGeom prst="ellipse">
            <a:avLst/>
          </a:prstGeom>
          <a:solidFill>
            <a:schemeClr val="accent2"/>
          </a:solidFill>
          <a:ln w="12700">
            <a:solidFill>
              <a:schemeClr val="accent2"/>
            </a:solidFill>
            <a:prstDash val="solid"/>
          </a:ln>
        </p:spPr>
      </p:sp>
      <p:pic>
        <p:nvPicPr>
          <p:cNvPr id="10" name="Billing and customs icon" descr="preencoded.png">    </p:cNvPr>
          <p:cNvPicPr>
            <a:picLocks noChangeAspect="1"/>
          </p:cNvPicPr>
          <p:nvPr/>
        </p:nvPicPr>
        <p:blipFill>
          <a:blip r:embed="rId2"/>
          <a:stretch>
            <a:fillRect/>
          </a:stretch>
        </p:blipFill>
        <p:spPr>
          <a:xfrm>
            <a:off x="4860036" y="1851660"/>
            <a:ext cx="320040" cy="320040"/>
          </a:xfrm>
          <a:prstGeom prst="rect">
            <a:avLst/>
          </a:prstGeom>
        </p:spPr>
      </p:pic>
      <p:sp>
        <p:nvSpPr>
          <p:cNvPr id="11" name="Text 7"/>
          <p:cNvSpPr txBox="1"/>
          <p:nvPr/>
        </p:nvSpPr>
        <p:spPr>
          <a:xfrm>
            <a:off x="5477256" y="173736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Billing and customs</a:t>
            </a:r>
            <a:endParaRPr lang="en-US" sz="1800" dirty="0"/>
          </a:p>
        </p:txBody>
      </p:sp>
      <p:sp>
        <p:nvSpPr>
          <p:cNvPr id="12" name="Text 8"/>
          <p:cNvSpPr txBox="1"/>
          <p:nvPr/>
        </p:nvSpPr>
        <p:spPr>
          <a:xfrm>
            <a:off x="4700016" y="2514600"/>
            <a:ext cx="2971800" cy="777240"/>
          </a:xfrm>
          <a:prstGeom prst="rect">
            <a:avLst/>
          </a:prstGeom>
          <a:noFill/>
          <a:ln/>
        </p:spPr>
        <p:txBody>
          <a:bodyPr wrap="square" lIns="0" tIns="0" rIns="0" bIns="0" rtlCol="0" anchor="t"/>
          <a:lstStyle/>
          <a:p>
            <a:pPr indent="0" marL="0">
              <a:buNone/>
            </a:pPr>
            <a:r>
              <a:rPr lang="en-US" sz="1500" dirty="0">
                <a:solidFill>
                  <a:schemeClr val="tx1"/>
                </a:solidFill>
              </a:rPr>
              <a:t>Invoices, payments and customs documents</a:t>
            </a:r>
            <a:endParaRPr lang="en-US" sz="1500" dirty="0"/>
          </a:p>
        </p:txBody>
      </p:sp>
      <p:sp>
        <p:nvSpPr>
          <p:cNvPr id="13" name="Machine learning card"/>
          <p:cNvSpPr/>
          <p:nvPr/>
        </p:nvSpPr>
        <p:spPr>
          <a:xfrm>
            <a:off x="8302752" y="1417320"/>
            <a:ext cx="3520440" cy="2011680"/>
          </a:xfrm>
          <a:prstGeom prst="roundRect">
            <a:avLst>
              <a:gd name="adj" fmla="val 5455"/>
            </a:avLst>
          </a:prstGeom>
          <a:solidFill>
            <a:schemeClr val="bg2"/>
          </a:solidFill>
          <a:ln w="12700">
            <a:solidFill>
              <a:schemeClr val="bg2"/>
            </a:solidFill>
            <a:prstDash val="solid"/>
          </a:ln>
        </p:spPr>
      </p:sp>
      <p:sp>
        <p:nvSpPr>
          <p:cNvPr id="14" name="Machine learning circle"/>
          <p:cNvSpPr/>
          <p:nvPr/>
        </p:nvSpPr>
        <p:spPr>
          <a:xfrm>
            <a:off x="8577072" y="1691640"/>
            <a:ext cx="640080" cy="640080"/>
          </a:xfrm>
          <a:prstGeom prst="ellipse">
            <a:avLst/>
          </a:prstGeom>
          <a:solidFill>
            <a:schemeClr val="accent1"/>
          </a:solidFill>
          <a:ln w="12700">
            <a:solidFill>
              <a:schemeClr val="accent1"/>
            </a:solidFill>
            <a:prstDash val="solid"/>
          </a:ln>
        </p:spPr>
      </p:sp>
      <p:pic>
        <p:nvPicPr>
          <p:cNvPr id="15" name="Machine learning icon" descr="preencoded.png">    </p:cNvPr>
          <p:cNvPicPr>
            <a:picLocks noChangeAspect="1"/>
          </p:cNvPicPr>
          <p:nvPr/>
        </p:nvPicPr>
        <p:blipFill>
          <a:blip r:embed="rId3"/>
          <a:stretch>
            <a:fillRect/>
          </a:stretch>
        </p:blipFill>
        <p:spPr>
          <a:xfrm>
            <a:off x="8737092" y="1851660"/>
            <a:ext cx="320040" cy="320040"/>
          </a:xfrm>
          <a:prstGeom prst="rect">
            <a:avLst/>
          </a:prstGeom>
        </p:spPr>
      </p:pic>
      <p:sp>
        <p:nvSpPr>
          <p:cNvPr id="16" name="Text 11"/>
          <p:cNvSpPr txBox="1"/>
          <p:nvPr/>
        </p:nvSpPr>
        <p:spPr>
          <a:xfrm>
            <a:off x="9354312" y="173736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Machine learning</a:t>
            </a:r>
            <a:endParaRPr lang="en-US" sz="1800" dirty="0"/>
          </a:p>
        </p:txBody>
      </p:sp>
      <p:sp>
        <p:nvSpPr>
          <p:cNvPr id="17" name="Text 12"/>
          <p:cNvSpPr txBox="1"/>
          <p:nvPr/>
        </p:nvSpPr>
        <p:spPr>
          <a:xfrm>
            <a:off x="8577072" y="2514600"/>
            <a:ext cx="2971800" cy="777240"/>
          </a:xfrm>
          <a:prstGeom prst="rect">
            <a:avLst/>
          </a:prstGeom>
          <a:noFill/>
          <a:ln/>
        </p:spPr>
        <p:txBody>
          <a:bodyPr wrap="square" lIns="0" tIns="0" rIns="0" bIns="0" rtlCol="0" anchor="t"/>
          <a:lstStyle/>
          <a:p>
            <a:pPr indent="0" marL="0">
              <a:buNone/>
            </a:pPr>
            <a:r>
              <a:rPr lang="en-US" sz="1500" dirty="0">
                <a:solidFill>
                  <a:schemeClr val="tx1"/>
                </a:solidFill>
              </a:rPr>
              <a:t>Oracle Machine Learning models trained inside the database</a:t>
            </a:r>
            <a:endParaRPr lang="en-US" sz="1500" dirty="0"/>
          </a:p>
        </p:txBody>
      </p:sp>
      <p:sp>
        <p:nvSpPr>
          <p:cNvPr id="18" name="Mobile app card"/>
          <p:cNvSpPr/>
          <p:nvPr/>
        </p:nvSpPr>
        <p:spPr>
          <a:xfrm>
            <a:off x="548640" y="3749040"/>
            <a:ext cx="3520440" cy="2011680"/>
          </a:xfrm>
          <a:prstGeom prst="roundRect">
            <a:avLst>
              <a:gd name="adj" fmla="val 5455"/>
            </a:avLst>
          </a:prstGeom>
          <a:solidFill>
            <a:schemeClr val="bg2"/>
          </a:solidFill>
          <a:ln w="12700">
            <a:solidFill>
              <a:schemeClr val="bg2"/>
            </a:solidFill>
            <a:prstDash val="solid"/>
          </a:ln>
        </p:spPr>
      </p:sp>
      <p:sp>
        <p:nvSpPr>
          <p:cNvPr id="19" name="Mobile app circle"/>
          <p:cNvSpPr/>
          <p:nvPr/>
        </p:nvSpPr>
        <p:spPr>
          <a:xfrm>
            <a:off x="822960" y="4023360"/>
            <a:ext cx="640080" cy="640080"/>
          </a:xfrm>
          <a:prstGeom prst="ellipse">
            <a:avLst/>
          </a:prstGeom>
          <a:solidFill>
            <a:schemeClr val="accent2"/>
          </a:solidFill>
          <a:ln w="12700">
            <a:solidFill>
              <a:schemeClr val="accent2"/>
            </a:solidFill>
            <a:prstDash val="solid"/>
          </a:ln>
        </p:spPr>
      </p:sp>
      <p:pic>
        <p:nvPicPr>
          <p:cNvPr id="20" name="Mobile app icon" descr="preencoded.png">    </p:cNvPr>
          <p:cNvPicPr>
            <a:picLocks noChangeAspect="1"/>
          </p:cNvPicPr>
          <p:nvPr/>
        </p:nvPicPr>
        <p:blipFill>
          <a:blip r:embed="rId4"/>
          <a:stretch>
            <a:fillRect/>
          </a:stretch>
        </p:blipFill>
        <p:spPr>
          <a:xfrm>
            <a:off x="982980" y="4183380"/>
            <a:ext cx="320040" cy="320040"/>
          </a:xfrm>
          <a:prstGeom prst="rect">
            <a:avLst/>
          </a:prstGeom>
        </p:spPr>
      </p:pic>
      <p:sp>
        <p:nvSpPr>
          <p:cNvPr id="21" name="Text 15"/>
          <p:cNvSpPr txBox="1"/>
          <p:nvPr/>
        </p:nvSpPr>
        <p:spPr>
          <a:xfrm>
            <a:off x="1600200" y="406908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Mobile app</a:t>
            </a:r>
            <a:endParaRPr lang="en-US" sz="1800" dirty="0"/>
          </a:p>
        </p:txBody>
      </p:sp>
      <p:sp>
        <p:nvSpPr>
          <p:cNvPr id="22" name="Text 16"/>
          <p:cNvSpPr txBox="1"/>
          <p:nvPr/>
        </p:nvSpPr>
        <p:spPr>
          <a:xfrm>
            <a:off x="822960" y="4846320"/>
            <a:ext cx="2971800" cy="777240"/>
          </a:xfrm>
          <a:prstGeom prst="rect">
            <a:avLst/>
          </a:prstGeom>
          <a:noFill/>
          <a:ln/>
        </p:spPr>
        <p:txBody>
          <a:bodyPr wrap="square" lIns="0" tIns="0" rIns="0" bIns="0" rtlCol="0" anchor="t"/>
          <a:lstStyle/>
          <a:p>
            <a:pPr indent="0" marL="0">
              <a:buNone/>
            </a:pPr>
            <a:r>
              <a:rPr lang="en-US" sz="1500" dirty="0">
                <a:solidFill>
                  <a:schemeClr val="tx1"/>
                </a:solidFill>
              </a:rPr>
              <a:t>Operators update tasks on the warehouse floor</a:t>
            </a:r>
            <a:endParaRPr lang="en-US" sz="1500" dirty="0"/>
          </a:p>
        </p:txBody>
      </p:sp>
      <p:sp>
        <p:nvSpPr>
          <p:cNvPr id="23" name="Cloud database card"/>
          <p:cNvSpPr/>
          <p:nvPr/>
        </p:nvSpPr>
        <p:spPr>
          <a:xfrm>
            <a:off x="4425696" y="3749040"/>
            <a:ext cx="3520440" cy="2011680"/>
          </a:xfrm>
          <a:prstGeom prst="roundRect">
            <a:avLst>
              <a:gd name="adj" fmla="val 5455"/>
            </a:avLst>
          </a:prstGeom>
          <a:solidFill>
            <a:schemeClr val="bg2"/>
          </a:solidFill>
          <a:ln w="12700">
            <a:solidFill>
              <a:schemeClr val="bg2"/>
            </a:solidFill>
            <a:prstDash val="solid"/>
          </a:ln>
        </p:spPr>
      </p:sp>
      <p:sp>
        <p:nvSpPr>
          <p:cNvPr id="24" name="Cloud database circle"/>
          <p:cNvSpPr/>
          <p:nvPr/>
        </p:nvSpPr>
        <p:spPr>
          <a:xfrm>
            <a:off x="4700016" y="4023360"/>
            <a:ext cx="640080" cy="640080"/>
          </a:xfrm>
          <a:prstGeom prst="ellipse">
            <a:avLst/>
          </a:prstGeom>
          <a:solidFill>
            <a:schemeClr val="accent1"/>
          </a:solidFill>
          <a:ln w="12700">
            <a:solidFill>
              <a:schemeClr val="accent1"/>
            </a:solidFill>
            <a:prstDash val="solid"/>
          </a:ln>
        </p:spPr>
      </p:sp>
      <p:pic>
        <p:nvPicPr>
          <p:cNvPr id="25" name="Cloud database icon" descr="preencoded.png">    </p:cNvPr>
          <p:cNvPicPr>
            <a:picLocks noChangeAspect="1"/>
          </p:cNvPicPr>
          <p:nvPr/>
        </p:nvPicPr>
        <p:blipFill>
          <a:blip r:embed="rId5"/>
          <a:stretch>
            <a:fillRect/>
          </a:stretch>
        </p:blipFill>
        <p:spPr>
          <a:xfrm>
            <a:off x="4860036" y="4183380"/>
            <a:ext cx="320040" cy="320040"/>
          </a:xfrm>
          <a:prstGeom prst="rect">
            <a:avLst/>
          </a:prstGeom>
        </p:spPr>
      </p:pic>
      <p:sp>
        <p:nvSpPr>
          <p:cNvPr id="26" name="Text 19"/>
          <p:cNvSpPr txBox="1"/>
          <p:nvPr/>
        </p:nvSpPr>
        <p:spPr>
          <a:xfrm>
            <a:off x="5477256" y="406908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Cloud database</a:t>
            </a:r>
            <a:endParaRPr lang="en-US" sz="1800" dirty="0"/>
          </a:p>
        </p:txBody>
      </p:sp>
      <p:sp>
        <p:nvSpPr>
          <p:cNvPr id="27" name="Text 20"/>
          <p:cNvSpPr txBox="1"/>
          <p:nvPr/>
        </p:nvSpPr>
        <p:spPr>
          <a:xfrm>
            <a:off x="4700016" y="4846320"/>
            <a:ext cx="2971800" cy="777240"/>
          </a:xfrm>
          <a:prstGeom prst="rect">
            <a:avLst/>
          </a:prstGeom>
          <a:noFill/>
          <a:ln/>
        </p:spPr>
        <p:txBody>
          <a:bodyPr wrap="square" lIns="0" tIns="0" rIns="0" bIns="0" rtlCol="0" anchor="t"/>
          <a:lstStyle/>
          <a:p>
            <a:pPr indent="0" marL="0">
              <a:buNone/>
            </a:pPr>
            <a:r>
              <a:rPr lang="en-US" sz="1500" dirty="0">
                <a:solidFill>
                  <a:schemeClr val="tx1"/>
                </a:solidFill>
              </a:rPr>
              <a:t>Oracle Autonomous Database for many sites</a:t>
            </a:r>
            <a:endParaRPr lang="en-US" sz="1500" dirty="0"/>
          </a:p>
        </p:txBody>
      </p:sp>
      <p:sp>
        <p:nvSpPr>
          <p:cNvPr id="28" name="High availability card"/>
          <p:cNvSpPr/>
          <p:nvPr/>
        </p:nvSpPr>
        <p:spPr>
          <a:xfrm>
            <a:off x="8302752" y="3749040"/>
            <a:ext cx="3520440" cy="2011680"/>
          </a:xfrm>
          <a:prstGeom prst="roundRect">
            <a:avLst>
              <a:gd name="adj" fmla="val 5455"/>
            </a:avLst>
          </a:prstGeom>
          <a:solidFill>
            <a:schemeClr val="bg2"/>
          </a:solidFill>
          <a:ln w="12700">
            <a:solidFill>
              <a:schemeClr val="bg2"/>
            </a:solidFill>
            <a:prstDash val="solid"/>
          </a:ln>
        </p:spPr>
      </p:sp>
      <p:sp>
        <p:nvSpPr>
          <p:cNvPr id="29" name="High availability circle"/>
          <p:cNvSpPr/>
          <p:nvPr/>
        </p:nvSpPr>
        <p:spPr>
          <a:xfrm>
            <a:off x="8577072" y="4023360"/>
            <a:ext cx="640080" cy="640080"/>
          </a:xfrm>
          <a:prstGeom prst="ellipse">
            <a:avLst/>
          </a:prstGeom>
          <a:solidFill>
            <a:schemeClr val="accent2"/>
          </a:solidFill>
          <a:ln w="12700">
            <a:solidFill>
              <a:schemeClr val="accent2"/>
            </a:solidFill>
            <a:prstDash val="solid"/>
          </a:ln>
        </p:spPr>
      </p:sp>
      <p:pic>
        <p:nvPicPr>
          <p:cNvPr id="30" name="High availability icon" descr="preencoded.png">    </p:cNvPr>
          <p:cNvPicPr>
            <a:picLocks noChangeAspect="1"/>
          </p:cNvPicPr>
          <p:nvPr/>
        </p:nvPicPr>
        <p:blipFill>
          <a:blip r:embed="rId6"/>
          <a:stretch>
            <a:fillRect/>
          </a:stretch>
        </p:blipFill>
        <p:spPr>
          <a:xfrm>
            <a:off x="8737092" y="4183380"/>
            <a:ext cx="320040" cy="320040"/>
          </a:xfrm>
          <a:prstGeom prst="rect">
            <a:avLst/>
          </a:prstGeom>
        </p:spPr>
      </p:pic>
      <p:sp>
        <p:nvSpPr>
          <p:cNvPr id="31" name="Text 23"/>
          <p:cNvSpPr txBox="1"/>
          <p:nvPr/>
        </p:nvSpPr>
        <p:spPr>
          <a:xfrm>
            <a:off x="9354312" y="406908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High availability</a:t>
            </a:r>
            <a:endParaRPr lang="en-US" sz="1800" dirty="0"/>
          </a:p>
        </p:txBody>
      </p:sp>
      <p:sp>
        <p:nvSpPr>
          <p:cNvPr id="32" name="Text 24"/>
          <p:cNvSpPr txBox="1"/>
          <p:nvPr/>
        </p:nvSpPr>
        <p:spPr>
          <a:xfrm>
            <a:off x="8577072" y="4846320"/>
            <a:ext cx="2971800" cy="777240"/>
          </a:xfrm>
          <a:prstGeom prst="rect">
            <a:avLst/>
          </a:prstGeom>
          <a:noFill/>
          <a:ln/>
        </p:spPr>
        <p:txBody>
          <a:bodyPr wrap="square" lIns="0" tIns="0" rIns="0" bIns="0" rtlCol="0" anchor="t"/>
          <a:lstStyle/>
          <a:p>
            <a:pPr indent="0" marL="0">
              <a:buNone/>
            </a:pPr>
            <a:r>
              <a:rPr lang="en-US" sz="1500" dirty="0">
                <a:solidFill>
                  <a:schemeClr val="tx1"/>
                </a:solidFill>
              </a:rPr>
              <a:t>Data Guard and scheduled RMAN backups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4415" cy="914400"/>
          </a:xfrm>
          <a:prstGeom prst="rect">
            <a:avLst/>
          </a:prstGeom>
          <a:noFill/>
          <a:ln/>
        </p:spPr>
        <p:txBody>
          <a:bodyPr wrap="square" lIns="0" tIns="0" rIns="0" bIns="0" rtlCol="0"/>
          <a:lstStyle/>
          <a:p>
            <a:pPr algn="l" indent="0" marL="0">
              <a:buNone/>
            </a:pPr>
            <a:r>
              <a:rPr lang="en-US" sz="4000" b="1" dirty="0">
                <a:solidFill>
                  <a:schemeClr val="bg1"/>
                </a:solidFill>
                <a:latin typeface="Cambria" pitchFamily="34" charset="0"/>
                <a:ea typeface="Cambria" pitchFamily="34" charset="-122"/>
                <a:cs typeface="Cambria" pitchFamily="34" charset="-120"/>
              </a:rPr>
              <a:t>Conclusion</a:t>
            </a:r>
            <a:endParaRPr lang="en-US" sz="4000" dirty="0"/>
          </a:p>
        </p:txBody>
      </p:sp>
      <p:sp>
        <p:nvSpPr>
          <p:cNvPr id="3" name="Text 1"/>
          <p:cNvSpPr txBox="1"/>
          <p:nvPr/>
        </p:nvSpPr>
        <p:spPr>
          <a:xfrm>
            <a:off x="548640" y="1828800"/>
            <a:ext cx="17373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Correct</a:t>
            </a:r>
            <a:endParaRPr lang="en-US" sz="2400" dirty="0"/>
          </a:p>
        </p:txBody>
      </p:sp>
      <p:sp>
        <p:nvSpPr>
          <p:cNvPr id="4" name="Text 2"/>
          <p:cNvSpPr txBox="1"/>
          <p:nvPr/>
        </p:nvSpPr>
        <p:spPr>
          <a:xfrm>
            <a:off x="2377440" y="1828800"/>
            <a:ext cx="5120640" cy="548640"/>
          </a:xfrm>
          <a:prstGeom prst="rect">
            <a:avLst/>
          </a:prstGeom>
          <a:noFill/>
          <a:ln/>
        </p:spPr>
        <p:txBody>
          <a:bodyPr wrap="square" lIns="0" tIns="0" rIns="0" bIns="0" rtlCol="0" anchor="ctr"/>
          <a:lstStyle/>
          <a:p>
            <a:pPr indent="0" marL="0">
              <a:buNone/>
            </a:pPr>
            <a:r>
              <a:rPr lang="en-US" sz="1800" dirty="0">
                <a:solidFill>
                  <a:schemeClr val="bg1"/>
                </a:solidFill>
              </a:rPr>
              <a:t>keys, constraints, PL/SQL and triggers keep the data valid</a:t>
            </a:r>
            <a:endParaRPr lang="en-US" sz="1800" dirty="0"/>
          </a:p>
        </p:txBody>
      </p:sp>
      <p:sp>
        <p:nvSpPr>
          <p:cNvPr id="5" name="Text 3"/>
          <p:cNvSpPr txBox="1"/>
          <p:nvPr/>
        </p:nvSpPr>
        <p:spPr>
          <a:xfrm>
            <a:off x="548640" y="2606040"/>
            <a:ext cx="17373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Secure</a:t>
            </a:r>
            <a:endParaRPr lang="en-US" sz="2400" dirty="0"/>
          </a:p>
        </p:txBody>
      </p:sp>
      <p:sp>
        <p:nvSpPr>
          <p:cNvPr id="6" name="Text 4"/>
          <p:cNvSpPr txBox="1"/>
          <p:nvPr/>
        </p:nvSpPr>
        <p:spPr>
          <a:xfrm>
            <a:off x="2377440" y="2606040"/>
            <a:ext cx="5120640" cy="548640"/>
          </a:xfrm>
          <a:prstGeom prst="rect">
            <a:avLst/>
          </a:prstGeom>
          <a:noFill/>
          <a:ln/>
        </p:spPr>
        <p:txBody>
          <a:bodyPr wrap="square" lIns="0" tIns="0" rIns="0" bIns="0" rtlCol="0" anchor="ctr"/>
          <a:lstStyle/>
          <a:p>
            <a:pPr indent="0" marL="0">
              <a:buNone/>
            </a:pPr>
            <a:r>
              <a:rPr lang="en-US" sz="1800" dirty="0">
                <a:solidFill>
                  <a:schemeClr val="bg1"/>
                </a:solidFill>
              </a:rPr>
              <a:t>roles and the audit trail make every change accountable</a:t>
            </a:r>
            <a:endParaRPr lang="en-US" sz="1800" dirty="0"/>
          </a:p>
        </p:txBody>
      </p:sp>
      <p:sp>
        <p:nvSpPr>
          <p:cNvPr id="7" name="Text 5"/>
          <p:cNvSpPr txBox="1"/>
          <p:nvPr/>
        </p:nvSpPr>
        <p:spPr>
          <a:xfrm>
            <a:off x="548640" y="3383280"/>
            <a:ext cx="17373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Useful</a:t>
            </a:r>
            <a:endParaRPr lang="en-US" sz="2400" dirty="0"/>
          </a:p>
        </p:txBody>
      </p:sp>
      <p:sp>
        <p:nvSpPr>
          <p:cNvPr id="8" name="Text 6"/>
          <p:cNvSpPr txBox="1"/>
          <p:nvPr/>
        </p:nvSpPr>
        <p:spPr>
          <a:xfrm>
            <a:off x="2377440" y="3383280"/>
            <a:ext cx="5120640" cy="548640"/>
          </a:xfrm>
          <a:prstGeom prst="rect">
            <a:avLst/>
          </a:prstGeom>
          <a:noFill/>
          <a:ln/>
        </p:spPr>
        <p:txBody>
          <a:bodyPr wrap="square" lIns="0" tIns="0" rIns="0" bIns="0" rtlCol="0" anchor="ctr"/>
          <a:lstStyle/>
          <a:p>
            <a:pPr indent="0" marL="0">
              <a:buNone/>
            </a:pPr>
            <a:r>
              <a:rPr lang="en-US" sz="1800" dirty="0">
                <a:solidFill>
                  <a:schemeClr val="bg1"/>
                </a:solidFill>
              </a:rPr>
              <a:t>views and reports turn the data into decisions</a:t>
            </a:r>
            <a:endParaRPr lang="en-US" sz="1800" dirty="0"/>
          </a:p>
        </p:txBody>
      </p:sp>
      <p:sp>
        <p:nvSpPr>
          <p:cNvPr id="9" name="Text 7"/>
          <p:cNvSpPr txBox="1"/>
          <p:nvPr/>
        </p:nvSpPr>
        <p:spPr>
          <a:xfrm>
            <a:off x="548640" y="4160520"/>
            <a:ext cx="17373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Visible</a:t>
            </a:r>
            <a:endParaRPr lang="en-US" sz="2400" dirty="0"/>
          </a:p>
        </p:txBody>
      </p:sp>
      <p:sp>
        <p:nvSpPr>
          <p:cNvPr id="10" name="Text 8"/>
          <p:cNvSpPr txBox="1"/>
          <p:nvPr/>
        </p:nvSpPr>
        <p:spPr>
          <a:xfrm>
            <a:off x="2377440" y="4160520"/>
            <a:ext cx="5120640" cy="548640"/>
          </a:xfrm>
          <a:prstGeom prst="rect">
            <a:avLst/>
          </a:prstGeom>
          <a:noFill/>
          <a:ln/>
        </p:spPr>
        <p:txBody>
          <a:bodyPr wrap="square" lIns="0" tIns="0" rIns="0" bIns="0" rtlCol="0" anchor="ctr"/>
          <a:lstStyle/>
          <a:p>
            <a:pPr indent="0" marL="0">
              <a:buNone/>
            </a:pPr>
            <a:r>
              <a:rPr lang="en-US" sz="1800" dirty="0">
                <a:solidFill>
                  <a:schemeClr val="bg1"/>
                </a:solidFill>
              </a:rPr>
              <a:t>the 3D city shows the database as it changes</a:t>
            </a:r>
            <a:endParaRPr lang="en-US" sz="1800" dirty="0"/>
          </a:p>
        </p:txBody>
      </p:sp>
      <p:sp>
        <p:nvSpPr>
          <p:cNvPr id="11" name="Text 9"/>
          <p:cNvSpPr txBox="1"/>
          <p:nvPr/>
        </p:nvSpPr>
        <p:spPr>
          <a:xfrm>
            <a:off x="548640" y="5120640"/>
            <a:ext cx="6858000" cy="548640"/>
          </a:xfrm>
          <a:prstGeom prst="rect">
            <a:avLst/>
          </a:prstGeom>
          <a:noFill/>
          <a:ln/>
        </p:spPr>
        <p:txBody>
          <a:bodyPr wrap="square" lIns="0" tIns="0" rIns="0" bIns="0" rtlCol="0" anchor="t"/>
          <a:lstStyle/>
          <a:p>
            <a:pPr indent="0" marL="0">
              <a:buNone/>
            </a:pPr>
            <a:r>
              <a:rPr lang="en-US" sz="2200" i="1" dirty="0">
                <a:solidFill>
                  <a:schemeClr val="bg2"/>
                </a:solidFill>
              </a:rPr>
              <a:t>Everything on the screen is a row in Oracle.</a:t>
            </a:r>
            <a:endParaRPr lang="en-US" sz="2200" dirty="0"/>
          </a:p>
        </p:txBody>
      </p:sp>
      <p:pic>
        <p:nvPicPr>
          <p:cNvPr id="12" name="Port closing image" descr="preencoded.png">    </p:cNvPr>
          <p:cNvPicPr>
            <a:picLocks noChangeAspect="1"/>
          </p:cNvPicPr>
          <p:nvPr/>
        </p:nvPicPr>
        <p:blipFill>
          <a:blip r:embed="rId1"/>
          <a:stretch>
            <a:fillRect/>
          </a:stretch>
        </p:blipFill>
        <p:spPr>
          <a:xfrm>
            <a:off x="7635240" y="1828800"/>
            <a:ext cx="4023360" cy="2322576"/>
          </a:xfrm>
          <a:prstGeom prst="rect">
            <a:avLst/>
          </a:prstGeom>
          <a:effectLst>
            <a:outerShdw sx="100000" sy="100000" kx="0" ky="0" algn="bl" rotWithShape="0" blurRad="152400" dist="50800" dir="5400000">
              <a:srgbClr val="000000">
                <a:alpha val="35000"/>
              </a:srgbClr>
            </a:outerShdw>
          </a:effectLst>
        </p:spPr>
      </p:pic>
      <p:sp>
        <p:nvSpPr>
          <p:cNvPr id="13" name="Text 10"/>
          <p:cNvSpPr txBox="1"/>
          <p:nvPr/>
        </p:nvSpPr>
        <p:spPr>
          <a:xfrm>
            <a:off x="7635240" y="4572000"/>
            <a:ext cx="4023360" cy="731520"/>
          </a:xfrm>
          <a:prstGeom prst="rect">
            <a:avLst/>
          </a:prstGeom>
          <a:noFill/>
          <a:ln/>
        </p:spPr>
        <p:txBody>
          <a:bodyPr wrap="square" lIns="0" tIns="0" rIns="0" bIns="0" rtlCol="0" anchor="t"/>
          <a:lstStyle/>
          <a:p>
            <a:pPr algn="r" indent="0" marL="0">
              <a:buNone/>
            </a:pPr>
            <a:r>
              <a:rPr lang="en-US" sz="3600" b="1" dirty="0">
                <a:solidFill>
                  <a:schemeClr val="bg1"/>
                </a:solidFill>
                <a:latin typeface="Cambria" pitchFamily="34" charset="0"/>
                <a:ea typeface="Cambria" pitchFamily="34" charset="-122"/>
                <a:cs typeface="Cambria" pitchFamily="34" charset="-120"/>
              </a:rPr>
              <a:t>Thank you</a:t>
            </a:r>
            <a:endParaRPr lang="en-US" sz="3600" dirty="0"/>
          </a:p>
        </p:txBody>
      </p:sp>
      <p:sp>
        <p:nvSpPr>
          <p:cNvPr id="14" name="Text 11"/>
          <p:cNvSpPr txBox="1"/>
          <p:nvPr/>
        </p:nvSpPr>
        <p:spPr>
          <a:xfrm>
            <a:off x="7635240" y="5257800"/>
            <a:ext cx="4023360" cy="411480"/>
          </a:xfrm>
          <a:prstGeom prst="rect">
            <a:avLst/>
          </a:prstGeom>
          <a:noFill/>
          <a:ln/>
        </p:spPr>
        <p:txBody>
          <a:bodyPr wrap="square" lIns="0" tIns="0" rIns="0" bIns="0" rtlCol="0" anchor="t"/>
          <a:lstStyle/>
          <a:p>
            <a:pPr algn="r" indent="0" marL="0">
              <a:buNone/>
            </a:pPr>
            <a:r>
              <a:rPr lang="en-US" sz="1600" dirty="0">
                <a:solidFill>
                  <a:schemeClr val="bg2"/>
                </a:solidFill>
              </a:rPr>
              <a:t>Questions welcome</a:t>
            </a:r>
            <a:endParaRPr lang="en-US" sz="1600" dirty="0"/>
          </a:p>
        </p:txBody>
      </p:sp>
    </p:spTree>
  </p:cSld>
  <p:clrMapOvr>
    <a:masterClrMapping/>
  </p:clrMapOvr>
</p:sld>
</file>

<file path=ppt/theme/theme1.xml><?xml version="1.0" encoding="utf-8"?>
<a:theme xmlns:a="http://schemas.openxmlformats.org/drawingml/2006/main" name="CargoVerse Harbor">
  <a:themeElements>
    <a:clrScheme name="CargoVerse Harbor">
      <a:dk1>
        <a:srgbClr val="16202E"/>
      </a:dk1>
      <a:lt1>
        <a:srgbClr val="FFFFFF"/>
      </a:lt1>
      <a:dk2>
        <a:srgbClr val="0B1F3A"/>
      </a:dk2>
      <a:lt2>
        <a:srgbClr val="EEF3F8"/>
      </a:lt2>
      <a:accent1>
        <a:srgbClr val="E8792B"/>
      </a:accent1>
      <a:accent2>
        <a:srgbClr val="1F5FA8"/>
      </a:accent2>
      <a:accent3>
        <a:srgbClr val="0E7C7B"/>
      </a:accent3>
      <a:accent4>
        <a:srgbClr val="C23B3B"/>
      </a:accent4>
      <a:accent5>
        <a:srgbClr val="6B7A8F"/>
      </a:accent5>
      <a:accent6>
        <a:srgbClr val="F2B33D"/>
      </a:accent6>
      <a:hlink>
        <a:srgbClr val="1F5FA8"/>
      </a:hlink>
      <a:folHlink>
        <a:srgbClr val="6B7A8F"/>
      </a:folHlink>
    </a:clrScheme>
    <a:fontScheme name="CargoVerse Harb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CargoVerse — Project Presentation</dc:title>
  <dc:subject>DBMS project: 3D logistics operations on Oracle Database</dc:subject>
  <dc:creator>PptxGenJS</dc:creator>
  <cp:lastModifiedBy>PptxGenJS</cp:lastModifiedBy>
  <cp:revision>1</cp:revision>
  <dcterms:created xsi:type="dcterms:W3CDTF">2026-10-14T10:09:01Z</dcterms:created>
  <dcterms:modified xsi:type="dcterms:W3CDTF">2026-10-14T10:09:01Z</dcterms:modified>
</cp:coreProperties>
</file>